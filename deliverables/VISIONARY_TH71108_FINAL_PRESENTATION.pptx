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(QUÁCH KHOA ĐỨC - 35s):</a:t>
            </a:r>
          </a:p>
          <a:p>
            <a:r>
              <a:t>Kính chào Thầy và các bạn trong hội đồng! Em tên là Quách Khoa Đức, đại diện nhóm VISIONARY API bảo vệ đồ án tốt nghiệp môn Web API. Hệ thống của nhóm gồm một Web API trung tâm trên ASP.NET Core 8 và ba ứng dụng khách: Web Next.js, Desktop Windows Forms và Mobile Android. Bốn thành viên tham gia trình bày theo đúng thứ tự: Em Quách Khoa Đức phụ trách mở đầu, kiến trúc và Web Client; bạn Đào Trí Khang phụ trách Android; bạn Hồ Đoàng Nguyên Khang phụ trách Web API, Swagger và Database; và bạn Võ Ngọc Minh Đạt phụ trách Windows Forms cùng phân tích sự cố và kết luận.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(QUÁCH KHOA ĐỨC - 40s):</a:t>
            </a:r>
          </a:p>
          <a:p>
            <a:r>
              <a:t>Thưa Thầy, lý do nhóm em chọn đề tài xuất phát từ bài toán thực tế của CLB Tiếng Anh và sinh viên DNTU. Trước đây, việc quản lý thành viên và điểm danh sự kiện làm bằng file tính thủ công. Sinh viên cũng thiếu cổng thông tin học thuật tiếng Anh chuyên ngành IT và các cuộc thi quốc tế. Hệ thống VISIONARY giải quyết trọn vẹn bài toán bằng một Web API trung tâm duy nhất trên ASP.NET Core 8, kết nối cơ sở dữ liệu PostgreSQL. Cả ba ứng dụng Web, Android và Windows Forms đều dùng chung dữ liệu nên không bao giờ bị lệch số liệu.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(QUÁCH KHOA ĐỨC - 45s):</a:t>
            </a:r>
          </a:p>
          <a:p>
            <a:r>
              <a:t>Trên màn hình là sơ đồ kiến trúc tổng quan. Ở trung tâm là Web API viết bằng ASP.NET Core 8, kết nối cơ sở dữ liệu PostgreSQL lưu trên Supabase qua cổng 5432. Ba ứng dụng gồm: Web Next.js chạy trên Vercel, Windows Forms C# chạy trên máy tính BCN, và Android Java chạy trên điện thoại sinh viên. Cả ba ứng dụng đều gửi request qua giao thức HTTPS bằng định dạng JSON chuẩn. Nhờ dùng chung một API trung tâm, khi BCN điểm danh trên WinForms thì sinh viên trên Android sẽ thấy kết quả ngay.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(QUÁCH KHOA ĐỨC - 45s):</a:t>
            </a:r>
          </a:p>
          <a:p>
            <a:r>
              <a:t>Về ứng dụng Web, nhóm xây dựng bằng Next.js 14 với thiết kế hiện đại. Bên trái là ảnh chụp thật trang Sự kiện. Các điều khiển chính gồm ô tìm kiếm txtSearchEvents, danh mục cboEventCategory và lưới thẻ sự kiện grdEventCards. Đoạn mã bên phải lấy trực tiếp từ file eventService.ts, sử dụng hàm getEvents để gọi GET /api/events. Khó khăn lớn nhất của Web là cơ chế CORS của trình duyệt, nhóm đã giải quyết bằng cách bật CORS trên API và cấu hình tuyến Proxy BFF. Sau đây, em xin chuyển lời cho bạn Đào Trí Khang trình bày về ứng dụng Android. Xin mời Khang!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(ĐÀO TRÍ KHANG - 1p00s):</a:t>
            </a:r>
          </a:p>
          <a:p>
            <a:r>
              <a:t>Kính chào Thầy và các bạn! Em tên là Đào Trí Khang, phụ trách ứng dụng di động Android Native bằng Java. Ứng dụng Android được thiết kế cho sinh viên DNTU để theo dõi hoạt động CLB và đăng ký sự kiện ngay trên điện thoại. Bên trái là ảnh chụp thật từ ứng dụng Android. Các điều khiển tuân thủ đúng quy ước đặt tên: danh sách cuộn là lstEvents (RecyclerView), nút đăng ký là btnRegister, vuốt làm mới là swpRefresh. Đoạn mã bên phải thể hiện hàm loadEvents gọi tới Web API thông qua thư viện Retrofit 2. Hàm getEvents(1, 20) được đẩy vào phương thức enqueue để thực thi trên luồng nền của OkHttp, khi có kết quả onResponse sẽ tự động đưa về luồng chính để cập nhật adapter cho RecyclerView.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(ĐÀO TRÍ KHANG - 1p00s):</a:t>
            </a:r>
          </a:p>
          <a:p>
            <a:r>
              <a:t>Thưa Thầy, sơ đồ phía trên mô tả chi tiết đường đi của yêu cầu mạng trên Android qua 5 bước: Bắt đầu từ nút bấm trên Main UI Thread, hàm enqueue() đẩy việc tải dữ liệu sang luồng nền của OkHttp. Khi server trả về JSON, thư viện Gson sẽ giải mã thành đối tượng Java và chuyển kết quả an toàn về Luồng Chính để cập nhật danh sách. Nếu gọi mạng trên Luồng Chính, ứng dụng sẽ bị ném ngoại lệ NetworkOnMainThreadException ngay lập tức. Còn nếu sửa giao diện từ luồng nền thì gặp lỗi CalledFromWrongThreadException. Ngoài ra, trên máy ảo Android, địa chỉ IP kết nối phải là 10.0.2.2 chứ không thể là localhost.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(ĐÀO TRÍ KHANG - 1'15"):</a:t>
            </a:r>
          </a:p>
          <a:p>
            <a:r>
              <a:t>Sau đây, em xin phép demo trực tiếp ứng dụng Android đang chạy trên máy ảo. [KHANG THAO TÁC]: Em mở app, danh sách sự kiện được tải về mượt mà qua API GET /api/events. Em chọn sự kiện 'Hội thảo Kỹ năng Hội nhập Quốc tế' và bấm nút Đăng ký tham gia. Ứng dụng gửi request POST lên Web API kèm mã Bearer token của sinh viên. Server xác nhận thành công và hiển thị thông báo đã đăng ký. Dữ liệu này đã lập tức được lưu vào cơ sở dữ liệu chung và sẽ được anh Đạt kiểm tra ngay trên WinForms ở phần sau. Sau đây, em xin chuyển lời sang bạn Hồ Đoàng Nguyên Khang để phân tích về Web API và Swagger.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(HỒ ĐOÀNG NGUYÊN KHANG - 1'00"):</a:t>
            </a:r>
          </a:p>
          <a:p>
            <a:r>
              <a:t>Kính chào Thầy và các bạn! Em tên là Hồ Đoàng Nguyên Khang, phụ trách ASP.NET Core Web API, tài liệu Swagger và Cơ sở dữ liệu. Bên trái là ảnh chụp Swagger UI thực tế của hệ thống tại địa chỉ visionary-api-gb51.onrender.com/swagger. Bảng bên phải là hợp đồng API thực tế mà nhóm đã triển khai và tiêu thụ. Các endpoint được phân định quyền rõ ràng: GET /api/events mở công khai; POST /api/events/{id}/register cần đăng nhập; và POST /api/events tạo sự kiện bắt buộc quyền Admin hoặc Ban Chủ Nhiệm. Toàn bộ tên trường JSON đều dùng camelCase, đảm bảo tính nhất quán trên cả ba nền tảng.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(HỒ ĐOÀNG NGUYÊN KHANG - 1p00s):</a:t>
            </a:r>
          </a:p>
          <a:p>
            <a:r>
              <a:t>Thưa Thầy, để minh họa một chu trình request hoàn chỉnh, nhóm em chọn endpoint GET /api/events đi qua đủ 6 chặng kỹ thuật: Chặng 1: Bắt đầu từ thao tác của người dùng trên giao diện. Chặng 2: Client gọi hàm mạng bất đồng bộ tương ứng ở từng ngôn ngữ. Chặng 3: Gói tin HTTP mang tham số phân trang gửi tới cổng 443 của máy chủ Kestrel. Chặng 4: Server tiếp nhận tại EventsController, gọi EventService truy vấn PostgreSQL bằng EF Core. Chặng 5: Server đóng gói kết quả dạng JSON UTF-8 PagedResponse trả về cho client. Chặng 6: Client giải mã JSON, đưa về Luồng Chính và đổ dữ liệu lên màn hình. Cả ba nền tảng đều đi qua đúng 6 chặng này một cách nhất quán.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(HỒ ĐOÀNG NGUYÊN KHANG - 1p05s):</a:t>
            </a:r>
          </a:p>
          <a:p>
            <a:r>
              <a:t>Về cơ chế xác thực và phân quyền, hệ thống sử dụng chuẩn JWT HMAC-SHA256. Lưu ý quan trọng: JWT là token được ký số chứ không phải chuỗi mã hóa; bất kỳ ai cũng có thể giải mã Base64 phần payload nhưng không thể làm giả chữ ký nếu không có Secret Key trên server. Hai hình bên dưới là bằng chứng kiểm thử thực tế từ curl và backend log: Hình bên trái: Khi gọi endpoint quản trị mà không truyền token, Kestrel Middleware chặn ngay lập tức và trả về HTTP 401 Unauthorized. Hình bên phải: Khi đăng nhập bằng tài khoản Sinh viên (đã có token hợp lệ) nhưng cố gọi API đổi vai trò người dùng, thuộc tính [Authorize(Roles = "Admin")] phát hiện vai trò không thỏa mãn và trả về HTTP 403 Forbidden. Server tự đọc UserId từ Claims, không bao giờ tin tham số id do client gửi lên.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(HỒ ĐOÀNG NGUYÊN KHANG - 1p00s):</a:t>
            </a:r>
          </a:p>
          <a:p>
            <a:r>
              <a:t>Về thiết kế dữ liệu, nhóm sử dụng DTO thay vì trả thẳng thực thể Entity ra ngoài. DTO giúp che giấu mật khẩu đã băm, tránh lỗi vòng lặp đệ quy trong Entity Framework và giảm tải đường truyền. Mọi danh sách đều được bọc trong PagedResponse có phân trang rõ ràng. Cơ sở dữ liệu PostgreSQL lưu trên Supabase với các truy vấn đọc đều dùng AsNoTracking để tối ưu hiệu năng. Tiếp theo, em xin chuyển lời cho anh Võ Ngọc Minh Đạt trình bày về ứng dụng Windows Forms, phân tích sự cố CI và tổng kết bài báo cáo. Xin mời anh Đạt!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(VÕ NGỌC MINH ĐẠT - 55s):</a:t>
            </a:r>
          </a:p>
          <a:p>
            <a:r>
              <a:t>Kính chào Thầy và các bạn! Em tên là Võ Ngọc Minh Đạt, phụ trách ứng dụng Windows Forms, phân tích sự cố và kết luận đồ án. Ứng dụng Windows Forms được xây dựng bằng C# .NET 8 dành cho Ban Chủ Nhiệm quản trị sự kiện và điểm danh. Bên trái là ảnh chụp thật giao diện quản trị. Các điều khiển gồm bảng grdDangKy, nút btnDiemDanh và cboSuKien. Đoạn mã bên phải thể hiện lớp ApiService: nhóm dùng chung một đối tượng HttpClient duy nhất theo mẫu Singleton để tránh cạn kiệt cổng socket (Socket Exhaustion). Đồng thời, nhóm luôn dùng từ khóa await để giải phóng giao diện trong lúc chờ server, tuyệt đối không gọi .Result hay .Wait() vì sẽ gây Deadlock khóa cứng cửa sổ phần mềm.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(VÕ NGỌC MINH ĐẠT - 1'05"):</a:t>
            </a:r>
          </a:p>
          <a:p>
            <a:r>
              <a:t>Sau đây em xin demo trực tiếp ứng dụng WinForms đã biên dịch sẵn. [ĐẠT THAO TÁC]: Em mở file Visionary.Desktop.exe và đăng nhập tài khoản Ban Chủ Nhiệm. Tại màn hình Quản lý Sự kiện, em chọn 'Hội thảo Kỹ năng Hội nhập Quốc tế'. Trên DataGridView, Thầy có thể thấy ngay dòng đăng ký của bạn Trí Khang vừa thực hiện trên Android ở phần trước. Em bấm nút 'Điểm danh', phần mềm gửi request POST /attendance lên Web API. Hệ thống lập tức cập nhật trạng thái 'Đã tham gia' với tick xanh. Điều này chứng minh ba ứng dụng hoạt động hoàn toàn đồng bộ trên cùng một nguồn dữ liệu duy nhất.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(VÕ NGỌC MINH ĐẠT - 55s):</a:t>
            </a:r>
          </a:p>
          <a:p>
            <a:r>
              <a:t>Thưa Thầy, dù cùng kết nối vào một Web API, ba nền tảng có 3 điểm khác biệt kỹ thuật:</a:t>
            </a:r>
          </a:p>
          <a:p>
            <a:r>
              <a:t>Thứ nhất là thư viện mạng: Web dùng Fetch; WinForms dùng HttpClient với async/await; còn Android dùng Retrofit enqueue.</a:t>
            </a:r>
          </a:p>
          <a:p>
            <a:r>
              <a:t>Thứ hai là điều phối luồng: C# tự động quay về UI Thread sau lệnh await; còn Android bắt buộc chuyển qua Handler Looper. Thứ ba là lưu token: Web lưu LocalStorage, WinForms lưu trong bộ nhớ RAM, còn Android lưu vào SharedPreferences.</a:t>
            </a:r>
          </a:p>
          <a:p>
            <a:r>
              <a:t>Ngược lại, những điều bắt buộc phải giống hệt nhau là: URL endpoint, phương thức HTTP, cấu trúc JSON và quy tắc phân quyền trên server.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(VÕ NGỌC MINH ĐẠT - 1p00s):</a:t>
            </a:r>
          </a:p>
          <a:p>
            <a:r>
              <a:t>Trong quá trình kiểm thử tự động, nhóm em đã đối mặt với một sự cố kỹ thuật có thật. Bên trái là log lỗi nguyên văn từ GitHub Actions Run #12: pipeline bị gãy với 13 bài đạt và 2 bài thất bại. Nguyên nhân gốc rễ do xUnit chạy hai class test song song, cùng tranh chấp file SQLite khiến lệnh Seed bị dừng đột ngột ở ràng buộc Unique Role. Nhóm đã tự phân tích và khắc phục triệt để bằng khóa SemaphoreSlim và kiến trúc CustomWebApplicationFactory cô lập cơ sở dữ liệu. Như hình bên phải, toàn bộ 15 bài test đã vượt qua 100% và GitHub Actions Run #40231783994 đã báo xanh hoàn toàn.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(VÕ NGỌC MINH ĐẠT - 50s):</a:t>
            </a:r>
          </a:p>
          <a:p>
            <a:r>
              <a:t>Kính thưa Thầy, biết mình chưa làm được gì là một dạng hiểu biết chứ không phải lời thú tội. Dù hệ thống đã chạy tốt các chức năng chính, nhóm em thẳng thắn nhìn nhận ba hạn chế thực tế: chưa có kiểm thử E2E tự động đa nền tảng, chưa có thông báo đẩy thời gian thực qua SignalR, và cơ chế refresh token cần được tối ưu tốt hơn. Nếu có thêm hai tuần, nhóm em sẽ ưu tiên tích hợp SignalR và Room DB để nâng cao độ ổn định của ứng dụng. Đến đây, nhóm VISIONARY API xin kết thúc bài thuyết trình. Chúng em xin chân thành cảm ơn Thầy và các bạn đã chú ý lắng nghe. Nhóm chúng em sẵn sàng bước vào phần trả lời câu hỏi phản biện ạ! [KẾT THÚC TẠI ĐÂY - KHÔNG CHUYỂN LẠI CHO ĐỨC].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2264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ntu_logo.png"/>
          <p:cNvPicPr>
            <a:picLocks noChangeAspect="1"/>
          </p:cNvPicPr>
          <p:nvPr/>
        </p:nvPicPr>
        <p:blipFill>
          <a:blip r:embed="rId2"/>
          <a:stretch>
            <a:fillRect/>
          </a:stretch>
        </p:blipFill>
        <p:spPr>
          <a:xfrm>
            <a:off x="731520" y="411480"/>
            <a:ext cx="710178" cy="1005840"/>
          </a:xfrm>
          <a:prstGeom prst="rect">
            <a:avLst/>
          </a:prstGeom>
        </p:spPr>
      </p:pic>
      <p:pic>
        <p:nvPicPr>
          <p:cNvPr id="5" name="Picture 4" descr="cntt_dntu_logo.png"/>
          <p:cNvPicPr>
            <a:picLocks noChangeAspect="1"/>
          </p:cNvPicPr>
          <p:nvPr/>
        </p:nvPicPr>
        <p:blipFill>
          <a:blip r:embed="rId3"/>
          <a:stretch>
            <a:fillRect/>
          </a:stretch>
        </p:blipFill>
        <p:spPr>
          <a:xfrm>
            <a:off x="10332720" y="411480"/>
            <a:ext cx="1270013" cy="1005840"/>
          </a:xfrm>
          <a:prstGeom prst="rect">
            <a:avLst/>
          </a:prstGeom>
        </p:spPr>
      </p:pic>
      <p:sp>
        <p:nvSpPr>
          <p:cNvPr id="6" name="TextBox 5"/>
          <p:cNvSpPr txBox="1"/>
          <p:nvPr/>
        </p:nvSpPr>
        <p:spPr>
          <a:xfrm>
            <a:off x="2011680" y="457200"/>
            <a:ext cx="8046720" cy="1005840"/>
          </a:xfrm>
          <a:prstGeom prst="rect">
            <a:avLst/>
          </a:prstGeom>
          <a:noFill/>
        </p:spPr>
        <p:txBody>
          <a:bodyPr wrap="square">
            <a:spAutoFit/>
          </a:bodyPr>
          <a:lstStyle/>
          <a:p>
            <a:pPr algn="ctr">
              <a:defRPr sz="1150" b="1">
                <a:solidFill>
                  <a:srgbClr val="2264AC"/>
                </a:solidFill>
                <a:latin typeface="Segoe UI"/>
              </a:defRPr>
            </a:pPr>
            <a:r>
              <a:t>TRƯỜNG ĐẠI HỌC CÔNG NGHỆ ĐỒNG NAI (DNTU)</a:t>
            </a:r>
            <a:br/>
            <a:r>
              <a:t>KHOA CÔNG NGHỆ THÔNG TIN – HỌC PHẦN WEB API (TH71108)</a:t>
            </a:r>
          </a:p>
        </p:txBody>
      </p:sp>
      <p:sp>
        <p:nvSpPr>
          <p:cNvPr id="7" name="TextBox 6"/>
          <p:cNvSpPr txBox="1"/>
          <p:nvPr/>
        </p:nvSpPr>
        <p:spPr>
          <a:xfrm>
            <a:off x="731520" y="1508760"/>
            <a:ext cx="10728655" cy="1280160"/>
          </a:xfrm>
          <a:prstGeom prst="rect">
            <a:avLst/>
          </a:prstGeom>
          <a:noFill/>
        </p:spPr>
        <p:txBody>
          <a:bodyPr wrap="square">
            <a:spAutoFit/>
          </a:bodyPr>
          <a:lstStyle/>
          <a:p>
            <a:pPr algn="ctr">
              <a:defRPr sz="3000" b="1">
                <a:solidFill>
                  <a:srgbClr val="0F172A"/>
                </a:solidFill>
                <a:latin typeface="Segoe UI"/>
              </a:defRPr>
            </a:pPr>
            <a:r>
              <a:t>VISIONARY</a:t>
            </a:r>
          </a:p>
          <a:p>
            <a:pPr algn="ctr">
              <a:defRPr sz="1500" b="1">
                <a:solidFill>
                  <a:srgbClr val="22A6A1"/>
                </a:solidFill>
                <a:latin typeface="Segoe UI"/>
              </a:defRPr>
            </a:pPr>
            <a:r>
              <a:t>HỆ THỐNG QUẢN LÝ HOẠT ĐỘNG HỘI NHẬP &amp; KẾT NỐI SINH VIÊN</a:t>
            </a:r>
          </a:p>
          <a:p>
            <a:pPr algn="ctr">
              <a:defRPr sz="1100">
                <a:solidFill>
                  <a:srgbClr val="64748B"/>
                </a:solidFill>
                <a:latin typeface="Segoe UI"/>
              </a:defRPr>
            </a:pPr>
            <a:r>
              <a:t>Mô hình Một Web API (ASP.NET Core 8) – Ba Ứng dụng Khách (Web Next.js, Desktop WinForms, Mobile Android)</a:t>
            </a:r>
          </a:p>
        </p:txBody>
      </p:sp>
      <p:sp>
        <p:nvSpPr>
          <p:cNvPr id="8" name="Rounded Rectangle 7"/>
          <p:cNvSpPr/>
          <p:nvPr/>
        </p:nvSpPr>
        <p:spPr>
          <a:xfrm>
            <a:off x="731520" y="2926080"/>
            <a:ext cx="2514600" cy="210312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017520"/>
            <a:ext cx="2331720" cy="1920240"/>
          </a:xfrm>
          <a:prstGeom prst="rect">
            <a:avLst/>
          </a:prstGeom>
          <a:noFill/>
        </p:spPr>
        <p:txBody>
          <a:bodyPr wrap="square">
            <a:spAutoFit/>
          </a:bodyPr>
          <a:lstStyle/>
          <a:p>
            <a:pPr>
              <a:defRPr sz="1100" b="1">
                <a:solidFill>
                  <a:srgbClr val="2264AC"/>
                </a:solidFill>
                <a:latin typeface="Segoe UI"/>
              </a:defRPr>
            </a:pPr>
            <a:r>
              <a:t>1. Quách Khoa Đức</a:t>
            </a:r>
          </a:p>
          <a:p>
            <a:pPr>
              <a:defRPr sz="950">
                <a:solidFill>
                  <a:srgbClr val="64748B"/>
                </a:solidFill>
                <a:latin typeface="Segoe UI"/>
              </a:defRPr>
            </a:pPr>
            <a:r>
              <a:t>MSSV: 1923040025</a:t>
            </a:r>
          </a:p>
          <a:p>
            <a:pPr>
              <a:defRPr sz="900">
                <a:solidFill>
                  <a:srgbClr val="1E293B"/>
                </a:solidFill>
                <a:latin typeface="Segoe UI"/>
              </a:defRPr>
            </a:pPr>
            <a:r>
              <a:t>Lead, Kiến trúc hệ thống</a:t>
            </a:r>
            <a:br/>
            <a:r>
              <a:t>&amp; Web Client (Next.js)</a:t>
            </a:r>
          </a:p>
          <a:p>
            <a:pPr>
              <a:defRPr sz="850" b="1">
                <a:solidFill>
                  <a:srgbClr val="2264AC"/>
                </a:solidFill>
                <a:latin typeface="Segoe UI"/>
              </a:defRPr>
            </a:pPr>
            <a:r>
              <a:t>🎯 Phần 1: Dễ nhất, mở đầu</a:t>
            </a:r>
            <a:br/>
            <a:r>
              <a:t>&amp; Web Client Demo</a:t>
            </a:r>
          </a:p>
        </p:txBody>
      </p:sp>
      <p:sp>
        <p:nvSpPr>
          <p:cNvPr id="10" name="Rounded Rectangle 9"/>
          <p:cNvSpPr/>
          <p:nvPr/>
        </p:nvSpPr>
        <p:spPr>
          <a:xfrm>
            <a:off x="3465576" y="2926080"/>
            <a:ext cx="2514600" cy="210312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7016" y="3017520"/>
            <a:ext cx="2331720" cy="1920240"/>
          </a:xfrm>
          <a:prstGeom prst="rect">
            <a:avLst/>
          </a:prstGeom>
          <a:noFill/>
        </p:spPr>
        <p:txBody>
          <a:bodyPr wrap="square">
            <a:spAutoFit/>
          </a:bodyPr>
          <a:lstStyle/>
          <a:p>
            <a:pPr>
              <a:defRPr sz="1100" b="1">
                <a:solidFill>
                  <a:srgbClr val="22A6A1"/>
                </a:solidFill>
                <a:latin typeface="Segoe UI"/>
              </a:defRPr>
            </a:pPr>
            <a:r>
              <a:t>2. Đào Trí Khang</a:t>
            </a:r>
          </a:p>
          <a:p>
            <a:pPr>
              <a:defRPr sz="950">
                <a:solidFill>
                  <a:srgbClr val="64748B"/>
                </a:solidFill>
                <a:latin typeface="Segoe UI"/>
              </a:defRPr>
            </a:pPr>
            <a:r>
              <a:t>MSSV: 1923040156</a:t>
            </a:r>
          </a:p>
          <a:p>
            <a:pPr>
              <a:defRPr sz="900">
                <a:solidFill>
                  <a:srgbClr val="1E293B"/>
                </a:solidFill>
                <a:latin typeface="Segoe UI"/>
              </a:defRPr>
            </a:pPr>
            <a:r>
              <a:t>Mobile Software Engineer</a:t>
            </a:r>
            <a:br/>
            <a:r>
              <a:t>(Android Native Java)</a:t>
            </a:r>
          </a:p>
          <a:p>
            <a:pPr>
              <a:defRPr sz="850" b="1">
                <a:solidFill>
                  <a:srgbClr val="22A6A1"/>
                </a:solidFill>
                <a:latin typeface="Segoe UI"/>
              </a:defRPr>
            </a:pPr>
            <a:r>
              <a:t>🎯 Phần 2: Ứng dụng Android,</a:t>
            </a:r>
            <a:br/>
            <a:r>
              <a:t>Threading &amp; Demo App</a:t>
            </a:r>
          </a:p>
        </p:txBody>
      </p:sp>
      <p:sp>
        <p:nvSpPr>
          <p:cNvPr id="12" name="Rounded Rectangle 11"/>
          <p:cNvSpPr/>
          <p:nvPr/>
        </p:nvSpPr>
        <p:spPr>
          <a:xfrm>
            <a:off x="6199632" y="2926080"/>
            <a:ext cx="2514600" cy="210312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91072" y="3017520"/>
            <a:ext cx="2331720" cy="1920240"/>
          </a:xfrm>
          <a:prstGeom prst="rect">
            <a:avLst/>
          </a:prstGeom>
          <a:noFill/>
        </p:spPr>
        <p:txBody>
          <a:bodyPr wrap="square">
            <a:spAutoFit/>
          </a:bodyPr>
          <a:lstStyle/>
          <a:p>
            <a:pPr>
              <a:defRPr sz="1100" b="1">
                <a:solidFill>
                  <a:srgbClr val="0F172A"/>
                </a:solidFill>
                <a:latin typeface="Segoe UI"/>
              </a:defRPr>
            </a:pPr>
            <a:r>
              <a:t>3. Hồ Đoàng Nguyên Khang</a:t>
            </a:r>
          </a:p>
          <a:p>
            <a:pPr>
              <a:defRPr sz="950">
                <a:solidFill>
                  <a:srgbClr val="64748B"/>
                </a:solidFill>
                <a:latin typeface="Segoe UI"/>
              </a:defRPr>
            </a:pPr>
            <a:r>
              <a:t>MSSV: 1923040112</a:t>
            </a:r>
          </a:p>
          <a:p>
            <a:pPr>
              <a:defRPr sz="900">
                <a:solidFill>
                  <a:srgbClr val="1E293B"/>
                </a:solidFill>
                <a:latin typeface="Segoe UI"/>
              </a:defRPr>
            </a:pPr>
            <a:r>
              <a:t>API Engineer &amp; Database</a:t>
            </a:r>
            <a:br/>
            <a:r>
              <a:t>(ASP.NET Core &amp; Swagger)</a:t>
            </a:r>
          </a:p>
          <a:p>
            <a:pPr>
              <a:defRPr sz="850" b="1">
                <a:solidFill>
                  <a:srgbClr val="0F172A"/>
                </a:solidFill>
                <a:latin typeface="Segoe UI"/>
              </a:defRPr>
            </a:pPr>
            <a:r>
              <a:t>🎯 Phần 3: Swagger, 6 chặng,</a:t>
            </a:r>
            <a:br/>
            <a:r>
              <a:t>JWT 401/403 &amp; DB DTO</a:t>
            </a:r>
          </a:p>
        </p:txBody>
      </p:sp>
      <p:sp>
        <p:nvSpPr>
          <p:cNvPr id="14" name="Rounded Rectangle 13"/>
          <p:cNvSpPr/>
          <p:nvPr/>
        </p:nvSpPr>
        <p:spPr>
          <a:xfrm>
            <a:off x="8933688" y="2926080"/>
            <a:ext cx="2514600" cy="210312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5128" y="3017520"/>
            <a:ext cx="2331720" cy="1920240"/>
          </a:xfrm>
          <a:prstGeom prst="rect">
            <a:avLst/>
          </a:prstGeom>
          <a:noFill/>
        </p:spPr>
        <p:txBody>
          <a:bodyPr wrap="square">
            <a:spAutoFit/>
          </a:bodyPr>
          <a:lstStyle/>
          <a:p>
            <a:pPr>
              <a:defRPr sz="1100" b="1">
                <a:solidFill>
                  <a:srgbClr val="2264AC"/>
                </a:solidFill>
                <a:latin typeface="Segoe UI"/>
              </a:defRPr>
            </a:pPr>
            <a:r>
              <a:t>4. Võ Ngọc Minh Đạt</a:t>
            </a:r>
          </a:p>
          <a:p>
            <a:pPr>
              <a:defRPr sz="950">
                <a:solidFill>
                  <a:srgbClr val="64748B"/>
                </a:solidFill>
                <a:latin typeface="Segoe UI"/>
              </a:defRPr>
            </a:pPr>
            <a:r>
              <a:t>MSSV: 1923040088</a:t>
            </a:r>
          </a:p>
          <a:p>
            <a:pPr>
              <a:defRPr sz="900">
                <a:solidFill>
                  <a:srgbClr val="1E293B"/>
                </a:solidFill>
                <a:latin typeface="Segoe UI"/>
              </a:defRPr>
            </a:pPr>
            <a:r>
              <a:t>Desktop Software Engineer</a:t>
            </a:r>
            <a:br/>
            <a:r>
              <a:t>(WinForms C#) &amp; BCN CLB</a:t>
            </a:r>
          </a:p>
          <a:p>
            <a:pPr>
              <a:defRPr sz="850" b="1">
                <a:solidFill>
                  <a:srgbClr val="2264AC"/>
                </a:solidFill>
                <a:latin typeface="Segoe UI"/>
              </a:defRPr>
            </a:pPr>
            <a:r>
              <a:t>🎯 Phần 4: WinForms, Sự cố CI,</a:t>
            </a:r>
            <a:br/>
            <a:r>
              <a:t>So sánh &amp; KẾT THÚC</a:t>
            </a:r>
          </a:p>
        </p:txBody>
      </p:sp>
      <p:sp>
        <p:nvSpPr>
          <p:cNvPr id="16" name="Rectangle 15"/>
          <p:cNvSpPr/>
          <p:nvPr/>
        </p:nvSpPr>
        <p:spPr>
          <a:xfrm>
            <a:off x="731520" y="5166360"/>
            <a:ext cx="10728655" cy="118872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212080"/>
            <a:ext cx="10332720" cy="1097280"/>
          </a:xfrm>
          <a:prstGeom prst="rect">
            <a:avLst/>
          </a:prstGeom>
          <a:noFill/>
        </p:spPr>
        <p:txBody>
          <a:bodyPr wrap="square">
            <a:spAutoFit/>
          </a:bodyPr>
          <a:lstStyle/>
          <a:p>
            <a:pPr>
              <a:defRPr sz="1000" b="1">
                <a:solidFill>
                  <a:srgbClr val="0F172A"/>
                </a:solidFill>
                <a:latin typeface="Segoe UI"/>
              </a:defRPr>
            </a:pPr>
            <a:r>
              <a:t>🌐 THÔNG TIN TRUY CẬP VÀ XÁC THỰC HỆ THỐNG:</a:t>
            </a:r>
          </a:p>
          <a:p>
            <a:pPr>
              <a:defRPr sz="900">
                <a:solidFill>
                  <a:srgbClr val="1E293B"/>
                </a:solidFill>
                <a:latin typeface="Segoe UI"/>
              </a:defRPr>
            </a:pPr>
            <a:r>
              <a:t>• Swagger UI (Kiểm thử API trực tiếp): https://visionary-api-gb51.onrender.com/swagger</a:t>
            </a:r>
          </a:p>
          <a:p>
            <a:pPr>
              <a:defRPr sz="900">
                <a:solidFill>
                  <a:srgbClr val="1E293B"/>
                </a:solidFill>
                <a:latin typeface="Segoe UI"/>
              </a:defRPr>
            </a:pPr>
            <a:r>
              <a:t>• Website Production (Vercel): https://visionary-platform.vercel.app | Mã nguồn: https://github.com/lovemvaf/visionary-api</a:t>
            </a:r>
          </a:p>
          <a:p>
            <a:pPr>
              <a:defRPr sz="900">
                <a:solidFill>
                  <a:srgbClr val="1E293B"/>
                </a:solidFill>
                <a:latin typeface="Segoe UI"/>
              </a:defRPr>
            </a:pPr>
            <a:r>
              <a:t>• Khai báo sử dụng AI: Google Antigravity hỗ trợ kiểm chứng mã nguồn &amp; kiểm thử hồi quy; toàn bộ logic nghiệp vụ do nhóm trực tiếp làm chủ.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01. ĐẶT VẤN ĐỀ</a:t>
            </a:r>
          </a:p>
          <a:p>
            <a:pPr>
              <a:defRPr sz="1900" b="1">
                <a:solidFill>
                  <a:srgbClr val="0F172A"/>
                </a:solidFill>
                <a:latin typeface="Segoe UI"/>
              </a:defRPr>
            </a:pPr>
            <a:r>
              <a:t>BÀI TOÁN THỰC TẾ &amp; MỤC TIÊU CỦA ĐỀ TÀI VISIONARY</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Quách Khoa Đức | Slide 2/16</a:t>
            </a:r>
          </a:p>
        </p:txBody>
      </p:sp>
      <p:sp>
        <p:nvSpPr>
          <p:cNvPr id="10" name="Rounded Rectangle 9"/>
          <p:cNvSpPr/>
          <p:nvPr/>
        </p:nvSpPr>
        <p:spPr>
          <a:xfrm>
            <a:off x="731520" y="1371600"/>
            <a:ext cx="5120640" cy="47548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45920"/>
            <a:ext cx="4754880" cy="4206240"/>
          </a:xfrm>
          <a:prstGeom prst="rect">
            <a:avLst/>
          </a:prstGeom>
          <a:noFill/>
        </p:spPr>
        <p:txBody>
          <a:bodyPr wrap="square">
            <a:spAutoFit/>
          </a:bodyPr>
          <a:lstStyle/>
          <a:p>
            <a:pPr>
              <a:defRPr sz="1300" b="1">
                <a:solidFill>
                  <a:srgbClr val="DC2626"/>
                </a:solidFill>
              </a:defRPr>
            </a:pPr>
            <a:r>
              <a:t>VẤN ĐỀ THỰC TẾ CỦA CLB &amp; SINH VIÊN</a:t>
            </a:r>
          </a:p>
          <a:p>
            <a:pPr>
              <a:defRPr sz="1050">
                <a:solidFill>
                  <a:srgbClr val="1E293B"/>
                </a:solidFill>
              </a:defRPr>
            </a:pPr>
            <a:r>
              <a:t>1. Quản lý thủ công, rời rạc:</a:t>
            </a:r>
          </a:p>
          <a:p>
            <a:pPr>
              <a:defRPr sz="1050">
                <a:solidFill>
                  <a:srgbClr val="1E293B"/>
                </a:solidFill>
              </a:defRPr>
            </a:pPr>
            <a:r>
              <a:t>   CLB Tiếng Anh DNTU trước đây quản lý qua Google Form và file tính, dễ nhầm lẫn dữ liệu và thất lạc thông tin người tham gia.</a:t>
            </a:r>
          </a:p>
          <a:p>
            <a:pPr>
              <a:defRPr sz="1050">
                <a:solidFill>
                  <a:srgbClr val="1E293B"/>
                </a:solidFill>
              </a:defRPr>
            </a:pPr>
            <a:r>
              <a:t>2. Thiếu cổng thông tin hội nhập &amp; cơ hội:</a:t>
            </a:r>
          </a:p>
          <a:p>
            <a:pPr>
              <a:defRPr sz="1050">
                <a:solidFill>
                  <a:srgbClr val="1E293B"/>
                </a:solidFill>
              </a:defRPr>
            </a:pPr>
            <a:r>
              <a:t>   Sinh viên CNTT thiếu kênh tiếp cận học thuật English for IT, Radar công nghệ mở (GitHub/Hugging Face) và các cuộc thi Hackathon.</a:t>
            </a:r>
          </a:p>
          <a:p>
            <a:pPr>
              <a:defRPr sz="1050">
                <a:solidFill>
                  <a:srgbClr val="1E293B"/>
                </a:solidFill>
              </a:defRPr>
            </a:pPr>
            <a:r>
              <a:t>3. Trải nghiệm không đồng bộ trên các thiết bị:</a:t>
            </a:r>
          </a:p>
          <a:p>
            <a:pPr>
              <a:defRPr sz="1050">
                <a:solidFill>
                  <a:srgbClr val="1E293B"/>
                </a:solidFill>
              </a:defRPr>
            </a:pPr>
            <a:r>
              <a:t>   Sinh viên dùng điện thoại di động, Ban Chủ Nhiệm quản trị trên máy tính Windows, độc giả truy cập trên trình duyệt Web.</a:t>
            </a:r>
          </a:p>
        </p:txBody>
      </p:sp>
      <p:sp>
        <p:nvSpPr>
          <p:cNvPr id="12" name="Rounded Rectangle 11"/>
          <p:cNvSpPr/>
          <p:nvPr/>
        </p:nvSpPr>
        <p:spPr>
          <a:xfrm>
            <a:off x="6217920" y="1371600"/>
            <a:ext cx="5212080" cy="47548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645920"/>
            <a:ext cx="4846320" cy="4206240"/>
          </a:xfrm>
          <a:prstGeom prst="rect">
            <a:avLst/>
          </a:prstGeom>
          <a:noFill/>
        </p:spPr>
        <p:txBody>
          <a:bodyPr wrap="square">
            <a:spAutoFit/>
          </a:bodyPr>
          <a:lstStyle/>
          <a:p>
            <a:pPr>
              <a:defRPr sz="1300" b="1">
                <a:solidFill>
                  <a:srgbClr val="22A6A1"/>
                </a:solidFill>
              </a:defRPr>
            </a:pPr>
            <a:r>
              <a:t>MỤC TIÊU GIẢI PHÁP VISIONARY</a:t>
            </a:r>
          </a:p>
          <a:p>
            <a:pPr>
              <a:defRPr sz="1050">
                <a:solidFill>
                  <a:srgbClr val="1E293B"/>
                </a:solidFill>
              </a:defRPr>
            </a:pPr>
            <a:r>
              <a:t>1. Xây dựng một Web API trung tâm duy nhất:</a:t>
            </a:r>
          </a:p>
          <a:p>
            <a:pPr>
              <a:defRPr sz="1050">
                <a:solidFill>
                  <a:srgbClr val="1E293B"/>
                </a:solidFill>
              </a:defRPr>
            </a:pPr>
            <a:r>
              <a:t>   ASP.NET Core 8 Web API làm hạt nhân xử lý toàn bộ logic nghiệp vụ, xác thực JWT và kết nối cơ sở dữ liệu PostgreSQL.</a:t>
            </a:r>
          </a:p>
          <a:p>
            <a:pPr>
              <a:defRPr sz="1050">
                <a:solidFill>
                  <a:srgbClr val="1E293B"/>
                </a:solidFill>
              </a:defRPr>
            </a:pPr>
            <a:r>
              <a:t>2. Phục vụ ba ứng dụng khách chuyên biệt:</a:t>
            </a:r>
          </a:p>
          <a:p>
            <a:pPr>
              <a:defRPr sz="1050">
                <a:solidFill>
                  <a:srgbClr val="1E293B"/>
                </a:solidFill>
              </a:defRPr>
            </a:pPr>
            <a:r>
              <a:t>   - Web Next.js: Cổng thông tin công khai, tin tức hội nhập, tra cứu sự kiện, English for IT.</a:t>
            </a:r>
          </a:p>
          <a:p>
            <a:pPr>
              <a:defRPr sz="1050">
                <a:solidFill>
                  <a:srgbClr val="1E293B"/>
                </a:solidFill>
              </a:defRPr>
            </a:pPr>
            <a:r>
              <a:t>   - Windows Forms C#: Phần mềm quản trị cho BCN CLB: quản lý thành viên, duyệt đơn, điểm danh sự kiện.</a:t>
            </a:r>
          </a:p>
          <a:p>
            <a:pPr>
              <a:defRPr sz="1050">
                <a:solidFill>
                  <a:srgbClr val="1E293B"/>
                </a:solidFill>
              </a:defRPr>
            </a:pPr>
            <a:r>
              <a:t>   - Android Native Java: Ứng dụng di động cho sinh viên: xem sự kiện, đăng ký tham gia, nhận mã QR check-in.</a:t>
            </a:r>
          </a:p>
          <a:p>
            <a:pPr>
              <a:defRPr sz="1050">
                <a:solidFill>
                  <a:srgbClr val="1E293B"/>
                </a:solidFill>
              </a:defRPr>
            </a:pPr>
            <a:r>
              <a:t>3. Đảm bảo toàn vẹn dữ liệu (Data Integrity):</a:t>
            </a:r>
          </a:p>
          <a:p>
            <a:pPr>
              <a:defRPr sz="1050">
                <a:solidFill>
                  <a:srgbClr val="1E293B"/>
                </a:solidFill>
              </a:defRPr>
            </a:pPr>
            <a:r>
              <a:t>   Không dùng dữ liệu mẫu (mock/fallback), bảo vệ bài nháp, phân quyền chặt chẽ theo vai trò (RBAC).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02. KIẾN TRÚC HỆ SINH THÁI</a:t>
            </a:r>
          </a:p>
          <a:p>
            <a:pPr>
              <a:defRPr sz="1900" b="1">
                <a:solidFill>
                  <a:srgbClr val="0F172A"/>
                </a:solidFill>
                <a:latin typeface="Segoe UI"/>
              </a:defRPr>
            </a:pPr>
            <a:r>
              <a:t>SƠ ĐỒ KIẾN TRÚC HỆ THỐNG: MỘT WEB API, BA NỀN TẢNG</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Quách Khoa Đức | Slide 3/16</a:t>
            </a:r>
          </a:p>
        </p:txBody>
      </p:sp>
      <p:sp>
        <p:nvSpPr>
          <p:cNvPr id="10" name="Rounded Rectangle 9"/>
          <p:cNvSpPr/>
          <p:nvPr/>
        </p:nvSpPr>
        <p:spPr>
          <a:xfrm>
            <a:off x="731520" y="1371600"/>
            <a:ext cx="2926080" cy="1280160"/>
          </a:xfrm>
          <a:prstGeom prst="roundRect">
            <a:avLst/>
          </a:prstGeom>
          <a:solidFill>
            <a:srgbClr val="FFFFFF"/>
          </a:solidFill>
          <a:ln w="2540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17320"/>
            <a:ext cx="2743200" cy="1188720"/>
          </a:xfrm>
          <a:prstGeom prst="rect">
            <a:avLst/>
          </a:prstGeom>
          <a:noFill/>
        </p:spPr>
        <p:txBody>
          <a:bodyPr wrap="square">
            <a:spAutoFit/>
          </a:bodyPr>
          <a:lstStyle/>
          <a:p>
            <a:pPr>
              <a:defRPr sz="950">
                <a:solidFill>
                  <a:srgbClr val="1E293B"/>
                </a:solidFill>
              </a:defRPr>
            </a:pPr>
            <a:r>
              <a:t>ỨNG DỤNG WEB (Next.js 14)</a:t>
            </a:r>
            <a:br/>
            <a:r>
              <a:t>• Môi trường: Trình duyệt (Vercel Cloud)</a:t>
            </a:r>
            <a:br/>
            <a:r>
              <a:t>• Địa chỉ: https://visionary-platform.vercel.app</a:t>
            </a:r>
            <a:br/>
            <a:r>
              <a:t>• Cổng: HTTPS 443 (Local: 3000)</a:t>
            </a:r>
          </a:p>
        </p:txBody>
      </p:sp>
      <p:sp>
        <p:nvSpPr>
          <p:cNvPr id="12" name="Rounded Rectangle 11"/>
          <p:cNvSpPr/>
          <p:nvPr/>
        </p:nvSpPr>
        <p:spPr>
          <a:xfrm>
            <a:off x="731520" y="2926080"/>
            <a:ext cx="2926080" cy="1280160"/>
          </a:xfrm>
          <a:prstGeom prst="roundRect">
            <a:avLst/>
          </a:prstGeom>
          <a:solidFill>
            <a:srgbClr val="FFFFFF"/>
          </a:solidFill>
          <a:ln w="2540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971800"/>
            <a:ext cx="2743200" cy="1188720"/>
          </a:xfrm>
          <a:prstGeom prst="rect">
            <a:avLst/>
          </a:prstGeom>
          <a:noFill/>
        </p:spPr>
        <p:txBody>
          <a:bodyPr wrap="square">
            <a:spAutoFit/>
          </a:bodyPr>
          <a:lstStyle/>
          <a:p>
            <a:pPr>
              <a:defRPr sz="950">
                <a:solidFill>
                  <a:srgbClr val="1E293B"/>
                </a:solidFill>
              </a:defRPr>
            </a:pPr>
            <a:r>
              <a:t>ỨNG DỤNG WINDOWS FORMS (C#)</a:t>
            </a:r>
            <a:br/>
            <a:r>
              <a:t>• Môi trường: Máy tính Windows Desktop</a:t>
            </a:r>
            <a:br/>
            <a:r>
              <a:t>• Thực thi: Visionary.Desktop.exe (.NET 8)</a:t>
            </a:r>
            <a:br/>
            <a:r>
              <a:t>• Cổng gọi ra: HTTPS 443</a:t>
            </a:r>
          </a:p>
        </p:txBody>
      </p:sp>
      <p:sp>
        <p:nvSpPr>
          <p:cNvPr id="14" name="Rounded Rectangle 13"/>
          <p:cNvSpPr/>
          <p:nvPr/>
        </p:nvSpPr>
        <p:spPr>
          <a:xfrm>
            <a:off x="731520" y="4480560"/>
            <a:ext cx="2926080" cy="1280160"/>
          </a:xfrm>
          <a:prstGeom prst="roundRect">
            <a:avLst/>
          </a:prstGeom>
          <a:solidFill>
            <a:srgbClr val="FFFFFF"/>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26280"/>
            <a:ext cx="2743200" cy="1188720"/>
          </a:xfrm>
          <a:prstGeom prst="rect">
            <a:avLst/>
          </a:prstGeom>
          <a:noFill/>
        </p:spPr>
        <p:txBody>
          <a:bodyPr wrap="square">
            <a:spAutoFit/>
          </a:bodyPr>
          <a:lstStyle/>
          <a:p>
            <a:pPr>
              <a:defRPr sz="950">
                <a:solidFill>
                  <a:srgbClr val="1E293B"/>
                </a:solidFill>
              </a:defRPr>
            </a:pPr>
            <a:r>
              <a:t>ỨNG DỤNG ANDROID (Java Native)</a:t>
            </a:r>
            <a:br/>
            <a:r>
              <a:t>• Môi trường: Máy ảo Android / Điện thoại thật</a:t>
            </a:r>
            <a:br/>
            <a:r>
              <a:t>• Thực thi: app-debug.apk (Min SDK 28)</a:t>
            </a:r>
            <a:br/>
            <a:r>
              <a:t>• Gateway máy ảo: 10.0.2.2 / HTTPS Cloud</a:t>
            </a:r>
          </a:p>
        </p:txBody>
      </p:sp>
      <p:sp>
        <p:nvSpPr>
          <p:cNvPr id="16" name="Right Arrow 15"/>
          <p:cNvSpPr/>
          <p:nvPr/>
        </p:nvSpPr>
        <p:spPr>
          <a:xfrm>
            <a:off x="3749039" y="1828800"/>
            <a:ext cx="1371600" cy="365760"/>
          </a:xfrm>
          <a:prstGeom prst="rightArrow">
            <a:avLst/>
          </a:prstGeom>
          <a:solidFill>
            <a:srgbClr val="2264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9039" y="1508760"/>
            <a:ext cx="1371600" cy="320040"/>
          </a:xfrm>
          <a:prstGeom prst="rect">
            <a:avLst/>
          </a:prstGeom>
          <a:noFill/>
        </p:spPr>
        <p:txBody>
          <a:bodyPr wrap="none">
            <a:spAutoFit/>
          </a:bodyPr>
          <a:lstStyle/>
          <a:p>
            <a:r>
              <a:t>HTTPS (443)</a:t>
            </a:r>
            <a:br/>
            <a:r>
              <a:t>JSON</a:t>
            </a:r>
          </a:p>
        </p:txBody>
      </p:sp>
      <p:sp>
        <p:nvSpPr>
          <p:cNvPr id="18" name="TextBox 17"/>
          <p:cNvSpPr txBox="1"/>
          <p:nvPr/>
        </p:nvSpPr>
        <p:spPr>
          <a:xfrm>
            <a:off x="3749039" y="1508760"/>
            <a:ext cx="1371600" cy="320040"/>
          </a:xfrm>
          <a:prstGeom prst="rect">
            <a:avLst/>
          </a:prstGeom>
          <a:noFill/>
        </p:spPr>
        <p:txBody>
          <a:bodyPr wrap="none">
            <a:spAutoFit/>
          </a:bodyPr>
          <a:lstStyle/>
          <a:p>
            <a:pPr>
              <a:defRPr sz="850"/>
            </a:pPr>
          </a:p>
        </p:txBody>
      </p:sp>
      <p:sp>
        <p:nvSpPr>
          <p:cNvPr id="19" name="Right Arrow 18"/>
          <p:cNvSpPr/>
          <p:nvPr/>
        </p:nvSpPr>
        <p:spPr>
          <a:xfrm>
            <a:off x="3749039" y="3383280"/>
            <a:ext cx="1371600" cy="365760"/>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49039" y="3063240"/>
            <a:ext cx="1371600" cy="320040"/>
          </a:xfrm>
          <a:prstGeom prst="rect">
            <a:avLst/>
          </a:prstGeom>
          <a:noFill/>
        </p:spPr>
        <p:txBody>
          <a:bodyPr wrap="none">
            <a:spAutoFit/>
          </a:bodyPr>
          <a:lstStyle/>
          <a:p>
            <a:r>
              <a:t>HTTPS (443)</a:t>
            </a:r>
            <a:br/>
            <a:r>
              <a:t>JSON</a:t>
            </a:r>
          </a:p>
        </p:txBody>
      </p:sp>
      <p:sp>
        <p:nvSpPr>
          <p:cNvPr id="21" name="TextBox 20"/>
          <p:cNvSpPr txBox="1"/>
          <p:nvPr/>
        </p:nvSpPr>
        <p:spPr>
          <a:xfrm>
            <a:off x="3749039" y="3063240"/>
            <a:ext cx="1371600" cy="320040"/>
          </a:xfrm>
          <a:prstGeom prst="rect">
            <a:avLst/>
          </a:prstGeom>
          <a:noFill/>
        </p:spPr>
        <p:txBody>
          <a:bodyPr wrap="none">
            <a:spAutoFit/>
          </a:bodyPr>
          <a:lstStyle/>
          <a:p>
            <a:pPr>
              <a:defRPr sz="850"/>
            </a:pPr>
          </a:p>
        </p:txBody>
      </p:sp>
      <p:sp>
        <p:nvSpPr>
          <p:cNvPr id="22" name="Right Arrow 21"/>
          <p:cNvSpPr/>
          <p:nvPr/>
        </p:nvSpPr>
        <p:spPr>
          <a:xfrm>
            <a:off x="3749039" y="4937760"/>
            <a:ext cx="1371600" cy="365760"/>
          </a:xfrm>
          <a:prstGeom prst="rightArrow">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49039" y="4617720"/>
            <a:ext cx="1371600" cy="320040"/>
          </a:xfrm>
          <a:prstGeom prst="rect">
            <a:avLst/>
          </a:prstGeom>
          <a:noFill/>
        </p:spPr>
        <p:txBody>
          <a:bodyPr wrap="none">
            <a:spAutoFit/>
          </a:bodyPr>
          <a:lstStyle/>
          <a:p>
            <a:r>
              <a:t>HTTP (10.0.2.2)</a:t>
            </a:r>
            <a:br/>
            <a:r>
              <a:t>JSON</a:t>
            </a:r>
          </a:p>
        </p:txBody>
      </p:sp>
      <p:sp>
        <p:nvSpPr>
          <p:cNvPr id="24" name="TextBox 23"/>
          <p:cNvSpPr txBox="1"/>
          <p:nvPr/>
        </p:nvSpPr>
        <p:spPr>
          <a:xfrm>
            <a:off x="3749039" y="4617720"/>
            <a:ext cx="1371600" cy="320040"/>
          </a:xfrm>
          <a:prstGeom prst="rect">
            <a:avLst/>
          </a:prstGeom>
          <a:noFill/>
        </p:spPr>
        <p:txBody>
          <a:bodyPr wrap="none">
            <a:spAutoFit/>
          </a:bodyPr>
          <a:lstStyle/>
          <a:p>
            <a:pPr>
              <a:defRPr sz="850"/>
            </a:pPr>
          </a:p>
        </p:txBody>
      </p:sp>
      <p:sp>
        <p:nvSpPr>
          <p:cNvPr id="25" name="Rounded Rectangle 24"/>
          <p:cNvSpPr/>
          <p:nvPr/>
        </p:nvSpPr>
        <p:spPr>
          <a:xfrm>
            <a:off x="5303520" y="1828800"/>
            <a:ext cx="3474720" cy="3657600"/>
          </a:xfrm>
          <a:prstGeom prst="roundRect">
            <a:avLst/>
          </a:prstGeom>
          <a:solidFill>
            <a:srgbClr val="0F172A"/>
          </a:solidFill>
          <a:ln w="2540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0" y="1920240"/>
            <a:ext cx="3291840" cy="3474720"/>
          </a:xfrm>
          <a:prstGeom prst="rect">
            <a:avLst/>
          </a:prstGeom>
          <a:noFill/>
        </p:spPr>
        <p:txBody>
          <a:bodyPr wrap="square">
            <a:spAutoFit/>
          </a:bodyPr>
          <a:lstStyle/>
          <a:p>
            <a:pPr>
              <a:defRPr sz="1400" b="1">
                <a:solidFill>
                  <a:srgbClr val="22A6A1"/>
                </a:solidFill>
              </a:defRPr>
            </a:pPr>
            <a:r>
              <a:t>ASP.NET CORE 8 WEB API</a:t>
            </a:r>
          </a:p>
          <a:p>
            <a:pPr>
              <a:defRPr sz="950">
                <a:solidFill>
                  <a:srgbClr val="FFFFFF"/>
                </a:solidFill>
              </a:defRPr>
            </a:pPr>
            <a:r>
              <a:t>• Kestrel Web Server (.NET 8)</a:t>
            </a:r>
          </a:p>
          <a:p>
            <a:pPr>
              <a:defRPr sz="950">
                <a:solidFill>
                  <a:srgbClr val="FFFFFF"/>
                </a:solidFill>
              </a:defRPr>
            </a:pPr>
            <a:r>
              <a:t>• Swagger OpenAPI: /swagger</a:t>
            </a:r>
          </a:p>
          <a:p>
            <a:pPr>
              <a:defRPr sz="950">
                <a:solidFill>
                  <a:srgbClr val="FFFFFF"/>
                </a:solidFill>
              </a:defRPr>
            </a:pPr>
            <a:r>
              <a:t>• Pipeline: UseCors -&gt; UseAuthentication -&gt; UseAuthorization -&gt; MapControllers</a:t>
            </a:r>
          </a:p>
          <a:p>
            <a:pPr>
              <a:defRPr sz="950">
                <a:solidFill>
                  <a:srgbClr val="FFFFFF"/>
                </a:solidFill>
              </a:defRPr>
            </a:pPr>
            <a:r>
              <a:t>• Clean Architecture: Core, Infra, Api</a:t>
            </a:r>
          </a:p>
          <a:p>
            <a:pPr>
              <a:defRPr sz="950">
                <a:solidFill>
                  <a:srgbClr val="FFFFFF"/>
                </a:solidFill>
              </a:defRPr>
            </a:pPr>
            <a:r>
              <a:t>• Bảo mật: JWT Bearer (HMAC-SHA256)</a:t>
            </a:r>
          </a:p>
          <a:p>
            <a:pPr>
              <a:defRPr sz="950">
                <a:solidFill>
                  <a:srgbClr val="FFFFFF"/>
                </a:solidFill>
              </a:defRPr>
            </a:pPr>
            <a:r>
              <a:t>• Host Cloud: Render (Port 443)</a:t>
            </a:r>
          </a:p>
          <a:p>
            <a:pPr>
              <a:defRPr sz="950">
                <a:solidFill>
                  <a:srgbClr val="FFFFFF"/>
                </a:solidFill>
              </a:defRPr>
            </a:pPr>
            <a:r>
              <a:t>• Host Local: http://localhost:5000</a:t>
            </a:r>
          </a:p>
        </p:txBody>
      </p:sp>
      <p:sp>
        <p:nvSpPr>
          <p:cNvPr id="27" name="Right Arrow 26"/>
          <p:cNvSpPr/>
          <p:nvPr/>
        </p:nvSpPr>
        <p:spPr>
          <a:xfrm>
            <a:off x="8961120" y="3474720"/>
            <a:ext cx="1005840" cy="411480"/>
          </a:xfrm>
          <a:prstGeom prst="rightArrow">
            <a:avLst/>
          </a:prstGeom>
          <a:solidFill>
            <a:srgbClr val="2264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0" y="3063240"/>
            <a:ext cx="1097280" cy="365760"/>
          </a:xfrm>
          <a:prstGeom prst="rect">
            <a:avLst/>
          </a:prstGeom>
          <a:noFill/>
        </p:spPr>
        <p:txBody>
          <a:bodyPr wrap="none">
            <a:spAutoFit/>
          </a:bodyPr>
          <a:lstStyle/>
          <a:p>
            <a:r>
              <a:t>TCP / SSL</a:t>
            </a:r>
            <a:br/>
            <a:r>
              <a:t>Port 5432</a:t>
            </a:r>
          </a:p>
        </p:txBody>
      </p:sp>
      <p:sp>
        <p:nvSpPr>
          <p:cNvPr id="29" name="TextBox 28"/>
          <p:cNvSpPr txBox="1"/>
          <p:nvPr/>
        </p:nvSpPr>
        <p:spPr>
          <a:xfrm>
            <a:off x="8961120" y="3063240"/>
            <a:ext cx="1097280" cy="365760"/>
          </a:xfrm>
          <a:prstGeom prst="rect">
            <a:avLst/>
          </a:prstGeom>
          <a:noFill/>
        </p:spPr>
        <p:txBody>
          <a:bodyPr wrap="none">
            <a:spAutoFit/>
          </a:bodyPr>
          <a:lstStyle/>
          <a:p>
            <a:pPr>
              <a:defRPr sz="850"/>
            </a:pPr>
          </a:p>
        </p:txBody>
      </p:sp>
      <p:sp>
        <p:nvSpPr>
          <p:cNvPr id="30" name="Rounded Rectangle 29"/>
          <p:cNvSpPr/>
          <p:nvPr/>
        </p:nvSpPr>
        <p:spPr>
          <a:xfrm>
            <a:off x="10058400" y="2377440"/>
            <a:ext cx="1463040" cy="2560320"/>
          </a:xfrm>
          <a:prstGeom prst="roundRect">
            <a:avLst/>
          </a:prstGeom>
          <a:solidFill>
            <a:srgbClr val="FFFFFF"/>
          </a:solidFill>
          <a:ln w="2540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04120" y="2468880"/>
            <a:ext cx="1371600" cy="2377440"/>
          </a:xfrm>
          <a:prstGeom prst="rect">
            <a:avLst/>
          </a:prstGeom>
          <a:noFill/>
        </p:spPr>
        <p:txBody>
          <a:bodyPr wrap="square">
            <a:spAutoFit/>
          </a:bodyPr>
          <a:lstStyle/>
          <a:p>
            <a:pPr>
              <a:defRPr sz="1100" b="1">
                <a:solidFill>
                  <a:srgbClr val="2264AC"/>
                </a:solidFill>
              </a:defRPr>
            </a:pPr>
            <a:r>
              <a:t>DATABASE</a:t>
            </a:r>
          </a:p>
          <a:p>
            <a:pPr>
              <a:defRPr sz="850">
                <a:solidFill>
                  <a:srgbClr val="1E293B"/>
                </a:solidFill>
              </a:defRPr>
            </a:pPr>
            <a:r>
              <a:t>• PostgreSQL 16</a:t>
            </a:r>
          </a:p>
          <a:p>
            <a:pPr>
              <a:defRPr sz="850">
                <a:solidFill>
                  <a:srgbClr val="1E293B"/>
                </a:solidFill>
              </a:defRPr>
            </a:pPr>
            <a:r>
              <a:t>• Cloud: Supabase</a:t>
            </a:r>
          </a:p>
          <a:p>
            <a:pPr>
              <a:defRPr sz="850">
                <a:solidFill>
                  <a:srgbClr val="1E293B"/>
                </a:solidFill>
              </a:defRPr>
            </a:pPr>
            <a:r>
              <a:t>• Region: Singapore</a:t>
            </a:r>
          </a:p>
          <a:p>
            <a:pPr>
              <a:defRPr sz="850">
                <a:solidFill>
                  <a:srgbClr val="1E293B"/>
                </a:solidFill>
              </a:defRPr>
            </a:pPr>
            <a:r>
              <a:t>• EF Core 8 Npgsql</a:t>
            </a:r>
          </a:p>
          <a:p>
            <a:pPr>
              <a:defRPr sz="850">
                <a:solidFill>
                  <a:srgbClr val="1E293B"/>
                </a:solidFill>
              </a:defRPr>
            </a:pPr>
            <a:r>
              <a:t>• Pooler Port: 5432</a:t>
            </a:r>
          </a:p>
          <a:p>
            <a:pPr>
              <a:defRPr sz="850">
                <a:solidFill>
                  <a:srgbClr val="1E293B"/>
                </a:solidFill>
              </a:defRPr>
            </a:pPr>
            <a:r>
              <a:t>• 1 nguồn dữ liệu duy nhất</a:t>
            </a:r>
          </a:p>
        </p:txBody>
      </p:sp>
      <p:sp>
        <p:nvSpPr>
          <p:cNvPr id="32" name="Rectangle 31"/>
          <p:cNvSpPr/>
          <p:nvPr/>
        </p:nvSpPr>
        <p:spPr>
          <a:xfrm>
            <a:off x="731520" y="5897880"/>
            <a:ext cx="10728655" cy="502920"/>
          </a:xfrm>
          <a:prstGeom prst="rect">
            <a:avLst/>
          </a:prstGeom>
          <a:solidFill>
            <a:srgbClr val="F0FDF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925312"/>
            <a:ext cx="10515600" cy="457200"/>
          </a:xfrm>
          <a:prstGeom prst="rect">
            <a:avLst/>
          </a:prstGeom>
          <a:noFill/>
        </p:spPr>
        <p:txBody>
          <a:bodyPr wrap="none">
            <a:spAutoFit/>
          </a:bodyPr>
          <a:lstStyle/>
          <a:p>
            <a:pPr>
              <a:defRPr sz="950" b="1">
                <a:solidFill>
                  <a:srgbClr val="0F172A"/>
                </a:solidFill>
              </a:defRPr>
            </a:pPr>
            <a:r>
              <a:t>💡 TẠI SAO DÙNG CHUNG MỘT API? Đảm bảo tính nhất quán dữ liệu 100%, tập trung logic kiểm tra quyền trên server, không phân mảnh dữ liệu giữa các client.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03. ỨNG DỤNG WEB</a:t>
            </a:r>
          </a:p>
          <a:p>
            <a:pPr>
              <a:defRPr sz="1900" b="1">
                <a:solidFill>
                  <a:srgbClr val="0F172A"/>
                </a:solidFill>
                <a:latin typeface="Segoe UI"/>
              </a:defRPr>
            </a:pPr>
            <a:r>
              <a:t>ỨNG DỤNG WEB CLIENT: GIAO DIỆN &amp; KẾT NỐI API</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Quách Khoa Đức | Slide 4/16</a:t>
            </a:r>
          </a:p>
        </p:txBody>
      </p:sp>
      <p:pic>
        <p:nvPicPr>
          <p:cNvPr id="10" name="Picture 9" descr="02_web_events.png"/>
          <p:cNvPicPr>
            <a:picLocks noChangeAspect="1"/>
          </p:cNvPicPr>
          <p:nvPr/>
        </p:nvPicPr>
        <p:blipFill>
          <a:blip r:embed="rId4"/>
          <a:stretch>
            <a:fillRect/>
          </a:stretch>
        </p:blipFill>
        <p:spPr>
          <a:xfrm>
            <a:off x="731520" y="1371600"/>
            <a:ext cx="4206240" cy="2628900"/>
          </a:xfrm>
          <a:prstGeom prst="rect">
            <a:avLst/>
          </a:prstGeom>
        </p:spPr>
      </p:pic>
      <p:graphicFrame>
        <p:nvGraphicFramePr>
          <p:cNvPr id="11" name="Table 10"/>
          <p:cNvGraphicFramePr>
            <a:graphicFrameLocks noGrp="1"/>
          </p:cNvGraphicFramePr>
          <p:nvPr/>
        </p:nvGraphicFramePr>
        <p:xfrm>
          <a:off x="5120640" y="1371600"/>
          <a:ext cx="6309360" cy="1828800"/>
        </p:xfrm>
        <a:graphic>
          <a:graphicData uri="http://schemas.openxmlformats.org/drawingml/2006/table">
            <a:tbl>
              <a:tblPr firstRow="1" bandRow="1">
                <a:tableStyleId>{5C22544A-7EE6-4342-B048-85BDC9FD1C3A}</a:tableStyleId>
              </a:tblPr>
              <a:tblGrid>
                <a:gridCol w="1828800"/>
                <a:gridCol w="1645920"/>
                <a:gridCol w="2834640"/>
              </a:tblGrid>
              <a:tr h="365760">
                <a:tc>
                  <a:txBody>
                    <a:bodyPr/>
                    <a:lstStyle/>
                    <a:p>
                      <a:pPr>
                        <a:defRPr sz="950" b="1">
                          <a:solidFill>
                            <a:srgbClr val="FFFFFF"/>
                          </a:solidFill>
                        </a:defRPr>
                      </a:pPr>
                      <a:r>
                        <a:t>Tên điều khiển</a:t>
                      </a:r>
                    </a:p>
                  </a:txBody>
                  <a:tcPr>
                    <a:solidFill>
                      <a:srgbClr val="2264AC"/>
                    </a:solidFill>
                  </a:tcPr>
                </a:tc>
                <a:tc>
                  <a:txBody>
                    <a:bodyPr/>
                    <a:lstStyle/>
                    <a:p>
                      <a:pPr>
                        <a:defRPr sz="950" b="1">
                          <a:solidFill>
                            <a:srgbClr val="FFFFFF"/>
                          </a:solidFill>
                        </a:defRPr>
                      </a:pPr>
                      <a:r>
                        <a:t>Loại điều khiển</a:t>
                      </a:r>
                    </a:p>
                  </a:txBody>
                  <a:tcPr>
                    <a:solidFill>
                      <a:srgbClr val="2264AC"/>
                    </a:solidFill>
                  </a:tcPr>
                </a:tc>
                <a:tc>
                  <a:txBody>
                    <a:bodyPr/>
                    <a:lstStyle/>
                    <a:p>
                      <a:pPr>
                        <a:defRPr sz="950" b="1">
                          <a:solidFill>
                            <a:srgbClr val="FFFFFF"/>
                          </a:solidFill>
                        </a:defRPr>
                      </a:pPr>
                      <a:r>
                        <a:t>Vai trò nghiệp vụ</a:t>
                      </a:r>
                    </a:p>
                  </a:txBody>
                  <a:tcPr>
                    <a:solidFill>
                      <a:srgbClr val="2264AC"/>
                    </a:solidFill>
                  </a:tcPr>
                </a:tc>
              </a:tr>
              <a:tr h="365760">
                <a:tc>
                  <a:txBody>
                    <a:bodyPr/>
                    <a:lstStyle/>
                    <a:p>
                      <a:pPr>
                        <a:defRPr sz="900">
                          <a:solidFill>
                            <a:srgbClr val="1E293B"/>
                          </a:solidFill>
                        </a:defRPr>
                      </a:pPr>
                      <a:r>
                        <a:t>txtSearchEvents</a:t>
                      </a:r>
                    </a:p>
                  </a:txBody>
                  <a:tcPr>
                    <a:solidFill>
                      <a:srgbClr val="FFFFFF"/>
                    </a:solidFill>
                  </a:tcPr>
                </a:tc>
                <a:tc>
                  <a:txBody>
                    <a:bodyPr/>
                    <a:lstStyle/>
                    <a:p>
                      <a:pPr>
                        <a:defRPr sz="900">
                          <a:solidFill>
                            <a:srgbClr val="1E293B"/>
                          </a:solidFill>
                        </a:defRPr>
                      </a:pPr>
                      <a:r>
                        <a:t>HTML &lt;input type='text'&gt;</a:t>
                      </a:r>
                    </a:p>
                  </a:txBody>
                  <a:tcPr>
                    <a:solidFill>
                      <a:srgbClr val="FFFFFF"/>
                    </a:solidFill>
                  </a:tcPr>
                </a:tc>
                <a:tc>
                  <a:txBody>
                    <a:bodyPr/>
                    <a:lstStyle/>
                    <a:p>
                      <a:pPr>
                        <a:defRPr sz="900">
                          <a:solidFill>
                            <a:srgbClr val="1E293B"/>
                          </a:solidFill>
                        </a:defRPr>
                      </a:pPr>
                      <a:r>
                        <a:t>Nhập từ khóa tìm kiếm sự kiện</a:t>
                      </a:r>
                    </a:p>
                  </a:txBody>
                  <a:tcPr>
                    <a:solidFill>
                      <a:srgbClr val="FFFFFF"/>
                    </a:solidFill>
                  </a:tcPr>
                </a:tc>
              </a:tr>
              <a:tr h="365760">
                <a:tc>
                  <a:txBody>
                    <a:bodyPr/>
                    <a:lstStyle/>
                    <a:p>
                      <a:pPr>
                        <a:defRPr sz="900">
                          <a:solidFill>
                            <a:srgbClr val="1E293B"/>
                          </a:solidFill>
                        </a:defRPr>
                      </a:pPr>
                      <a:r>
                        <a:t>cboEventCategory</a:t>
                      </a:r>
                    </a:p>
                  </a:txBody>
                  <a:tcPr>
                    <a:solidFill>
                      <a:srgbClr val="FFFFFF"/>
                    </a:solidFill>
                  </a:tcPr>
                </a:tc>
                <a:tc>
                  <a:txBody>
                    <a:bodyPr/>
                    <a:lstStyle/>
                    <a:p>
                      <a:pPr>
                        <a:defRPr sz="900">
                          <a:solidFill>
                            <a:srgbClr val="1E293B"/>
                          </a:solidFill>
                        </a:defRPr>
                      </a:pPr>
                      <a:r>
                        <a:t>HTML &lt;select&gt;</a:t>
                      </a:r>
                    </a:p>
                  </a:txBody>
                  <a:tcPr>
                    <a:solidFill>
                      <a:srgbClr val="FFFFFF"/>
                    </a:solidFill>
                  </a:tcPr>
                </a:tc>
                <a:tc>
                  <a:txBody>
                    <a:bodyPr/>
                    <a:lstStyle/>
                    <a:p>
                      <a:pPr>
                        <a:defRPr sz="900">
                          <a:solidFill>
                            <a:srgbClr val="1E293B"/>
                          </a:solidFill>
                        </a:defRPr>
                      </a:pPr>
                      <a:r>
                        <a:t>Lọc sự kiện theo danh mục học thuật</a:t>
                      </a:r>
                    </a:p>
                  </a:txBody>
                  <a:tcPr>
                    <a:solidFill>
                      <a:srgbClr val="FFFFFF"/>
                    </a:solidFill>
                  </a:tcPr>
                </a:tc>
              </a:tr>
              <a:tr h="365760">
                <a:tc>
                  <a:txBody>
                    <a:bodyPr/>
                    <a:lstStyle/>
                    <a:p>
                      <a:pPr>
                        <a:defRPr sz="900">
                          <a:solidFill>
                            <a:srgbClr val="1E293B"/>
                          </a:solidFill>
                        </a:defRPr>
                      </a:pPr>
                      <a:r>
                        <a:t>btnSearch</a:t>
                      </a:r>
                    </a:p>
                  </a:txBody>
                  <a:tcPr>
                    <a:solidFill>
                      <a:srgbClr val="FFFFFF"/>
                    </a:solidFill>
                  </a:tcPr>
                </a:tc>
                <a:tc>
                  <a:txBody>
                    <a:bodyPr/>
                    <a:lstStyle/>
                    <a:p>
                      <a:pPr>
                        <a:defRPr sz="900">
                          <a:solidFill>
                            <a:srgbClr val="1E293B"/>
                          </a:solidFill>
                        </a:defRPr>
                      </a:pPr>
                      <a:r>
                        <a:t>HTML &lt;button&gt;</a:t>
                      </a:r>
                    </a:p>
                  </a:txBody>
                  <a:tcPr>
                    <a:solidFill>
                      <a:srgbClr val="FFFFFF"/>
                    </a:solidFill>
                  </a:tcPr>
                </a:tc>
                <a:tc>
                  <a:txBody>
                    <a:bodyPr/>
                    <a:lstStyle/>
                    <a:p>
                      <a:pPr>
                        <a:defRPr sz="900">
                          <a:solidFill>
                            <a:srgbClr val="1E293B"/>
                          </a:solidFill>
                        </a:defRPr>
                      </a:pPr>
                      <a:r>
                        <a:t>Kích hoạt gửi request GET /api/events</a:t>
                      </a:r>
                    </a:p>
                  </a:txBody>
                  <a:tcPr>
                    <a:solidFill>
                      <a:srgbClr val="FFFFFF"/>
                    </a:solidFill>
                  </a:tcPr>
                </a:tc>
              </a:tr>
              <a:tr h="365760">
                <a:tc>
                  <a:txBody>
                    <a:bodyPr/>
                    <a:lstStyle/>
                    <a:p>
                      <a:pPr>
                        <a:defRPr sz="900">
                          <a:solidFill>
                            <a:srgbClr val="1E293B"/>
                          </a:solidFill>
                        </a:defRPr>
                      </a:pPr>
                      <a:r>
                        <a:t>grdEventCards</a:t>
                      </a:r>
                    </a:p>
                  </a:txBody>
                  <a:tcPr>
                    <a:solidFill>
                      <a:srgbClr val="FFFFFF"/>
                    </a:solidFill>
                  </a:tcPr>
                </a:tc>
                <a:tc>
                  <a:txBody>
                    <a:bodyPr/>
                    <a:lstStyle/>
                    <a:p>
                      <a:pPr>
                        <a:defRPr sz="900">
                          <a:solidFill>
                            <a:srgbClr val="1E293B"/>
                          </a:solidFill>
                        </a:defRPr>
                      </a:pPr>
                      <a:r>
                        <a:t>HTML &lt;div&gt; (Grid layout)</a:t>
                      </a:r>
                    </a:p>
                  </a:txBody>
                  <a:tcPr>
                    <a:solidFill>
                      <a:srgbClr val="FFFFFF"/>
                    </a:solidFill>
                  </a:tcPr>
                </a:tc>
                <a:tc>
                  <a:txBody>
                    <a:bodyPr/>
                    <a:lstStyle/>
                    <a:p>
                      <a:pPr>
                        <a:defRPr sz="900">
                          <a:solidFill>
                            <a:srgbClr val="1E293B"/>
                          </a:solidFill>
                        </a:defRPr>
                      </a:pPr>
                      <a:r>
                        <a:t>Hiển thị danh sách thẻ sự kiện do API trả về</a:t>
                      </a:r>
                    </a:p>
                  </a:txBody>
                  <a:tcPr>
                    <a:solidFill>
                      <a:srgbClr val="FFFFFF"/>
                    </a:solidFill>
                  </a:tcPr>
                </a:tc>
              </a:tr>
            </a:tbl>
          </a:graphicData>
        </a:graphic>
      </p:graphicFrame>
      <p:sp>
        <p:nvSpPr>
          <p:cNvPr id="12" name="Rectangle 11"/>
          <p:cNvSpPr/>
          <p:nvPr/>
        </p:nvSpPr>
        <p:spPr>
          <a:xfrm>
            <a:off x="5120640" y="3383280"/>
            <a:ext cx="6309360" cy="2468880"/>
          </a:xfrm>
          <a:prstGeom prst="rect">
            <a:avLst/>
          </a:prstGeom>
          <a:solidFill>
            <a:srgbClr val="0F172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3429000"/>
            <a:ext cx="6126480" cy="2377440"/>
          </a:xfrm>
          <a:prstGeom prst="rect">
            <a:avLst/>
          </a:prstGeom>
          <a:noFill/>
        </p:spPr>
        <p:txBody>
          <a:bodyPr wrap="square">
            <a:spAutoFit/>
          </a:bodyPr>
          <a:lstStyle/>
          <a:p>
            <a:pPr>
              <a:defRPr sz="950" b="1">
                <a:solidFill>
                  <a:srgbClr val="22A6A1"/>
                </a:solidFill>
              </a:defRPr>
            </a:pPr>
            <a:r>
              <a:t>// frontend/src/services/eventService.ts – Gọi GET /api/events (Mã nguồn thật):</a:t>
            </a:r>
          </a:p>
          <a:p>
            <a:pPr>
              <a:defRPr sz="900">
                <a:solidFill>
                  <a:srgbClr val="E2E8F0"/>
                </a:solidFill>
                <a:latin typeface="Consolas"/>
              </a:defRPr>
            </a:pPr>
            <a:r>
              <a:t>export const getEvents = async (page = 1, pageSize = 10, category?: string) =&gt; {</a:t>
            </a:r>
          </a:p>
          <a:p>
            <a:pPr>
              <a:defRPr sz="900">
                <a:solidFill>
                  <a:srgbClr val="E2E8F0"/>
                </a:solidFill>
                <a:latin typeface="Consolas"/>
              </a:defRPr>
            </a:pPr>
            <a:r>
              <a:t>  const params = new URLSearchParams({ page: page.toString(), pageSize: pageSize.toString() });</a:t>
            </a:r>
          </a:p>
          <a:p>
            <a:pPr>
              <a:defRPr sz="900">
                <a:solidFill>
                  <a:srgbClr val="E2E8F0"/>
                </a:solidFill>
                <a:latin typeface="Consolas"/>
              </a:defRPr>
            </a:pPr>
            <a:r>
              <a:t>  if (category) params.append('category', category);</a:t>
            </a:r>
          </a:p>
          <a:p>
            <a:pPr>
              <a:defRPr sz="900">
                <a:solidFill>
                  <a:srgbClr val="E2E8F0"/>
                </a:solidFill>
                <a:latin typeface="Consolas"/>
              </a:defRPr>
            </a:pPr>
            <a:r>
              <a:t>  </a:t>
            </a:r>
          </a:p>
          <a:p>
            <a:pPr>
              <a:defRPr sz="900">
                <a:solidFill>
                  <a:srgbClr val="E2E8F0"/>
                </a:solidFill>
                <a:latin typeface="Consolas"/>
              </a:defRPr>
            </a:pPr>
            <a:r>
              <a:t>  // Goi API qua ham fetch tap trung, tu dong truyen Bearer token neu co</a:t>
            </a:r>
          </a:p>
          <a:p>
            <a:pPr>
              <a:defRPr sz="900">
                <a:solidFill>
                  <a:srgbClr val="E2E8F0"/>
                </a:solidFill>
                <a:latin typeface="Consolas"/>
              </a:defRPr>
            </a:pPr>
            <a:r>
              <a:t>  const response = await fetchWithAuth(`/api/events?${params.toString()}`, {</a:t>
            </a:r>
          </a:p>
          <a:p>
            <a:pPr>
              <a:defRPr sz="900">
                <a:solidFill>
                  <a:srgbClr val="E2E8F0"/>
                </a:solidFill>
                <a:latin typeface="Consolas"/>
              </a:defRPr>
            </a:pPr>
            <a:r>
              <a:t>    method: 'GET'</a:t>
            </a:r>
          </a:p>
          <a:p>
            <a:pPr>
              <a:defRPr sz="900">
                <a:solidFill>
                  <a:srgbClr val="E2E8F0"/>
                </a:solidFill>
                <a:latin typeface="Consolas"/>
              </a:defRPr>
            </a:pPr>
            <a:r>
              <a:t>  });</a:t>
            </a:r>
          </a:p>
          <a:p>
            <a:pPr>
              <a:defRPr sz="900">
                <a:solidFill>
                  <a:srgbClr val="E2E8F0"/>
                </a:solidFill>
                <a:latin typeface="Consolas"/>
              </a:defRPr>
            </a:pPr>
            <a:r>
              <a:t>  return response; // Tra ve ApiResponse&lt;PagedResponse&lt;EventDto&gt;&gt;</a:t>
            </a:r>
          </a:p>
          <a:p>
            <a:pPr>
              <a:defRPr sz="900">
                <a:solidFill>
                  <a:srgbClr val="E2E8F0"/>
                </a:solidFill>
                <a:latin typeface="Consolas"/>
              </a:defRPr>
            </a:pPr>
            <a:r>
              <a:t>};</a:t>
            </a:r>
          </a:p>
        </p:txBody>
      </p:sp>
      <p:sp>
        <p:nvSpPr>
          <p:cNvPr id="14" name="Rectangle 13"/>
          <p:cNvSpPr/>
          <p:nvPr/>
        </p:nvSpPr>
        <p:spPr>
          <a:xfrm>
            <a:off x="731520" y="5897880"/>
            <a:ext cx="10728655" cy="50292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925312"/>
            <a:ext cx="10515600" cy="457200"/>
          </a:xfrm>
          <a:prstGeom prst="rect">
            <a:avLst/>
          </a:prstGeom>
          <a:noFill/>
        </p:spPr>
        <p:txBody>
          <a:bodyPr wrap="none">
            <a:spAutoFit/>
          </a:bodyPr>
          <a:lstStyle/>
          <a:p>
            <a:pPr>
              <a:defRPr sz="900">
                <a:solidFill>
                  <a:srgbClr val="1E293B"/>
                </a:solidFill>
              </a:defRPr>
            </a:pPr>
            <a:r>
              <a:t>⚡ Khó khăn đặc thù Web &amp; Giải pháp: Trình duyệt ép kiểm tra CORS. Giải pháp: Cấu hình app.UseCors() trên ASP.NET Core và triển khai BFF Proxy route tại /api/[...path].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04. ỨNG DỤNG ANDROID</a:t>
            </a:r>
          </a:p>
          <a:p>
            <a:pPr>
              <a:defRPr sz="1900" b="1">
                <a:solidFill>
                  <a:srgbClr val="0F172A"/>
                </a:solidFill>
                <a:latin typeface="Segoe UI"/>
              </a:defRPr>
            </a:pPr>
            <a:r>
              <a:t>ỨNG DỤNG DI ĐỘNG: ANDROID NATIVE JAVA</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Đào Trí Khang | Slide 5/16</a:t>
            </a:r>
          </a:p>
        </p:txBody>
      </p:sp>
      <p:pic>
        <p:nvPicPr>
          <p:cNvPr id="10" name="Picture 9" descr="11_android_events.png"/>
          <p:cNvPicPr>
            <a:picLocks noChangeAspect="1"/>
          </p:cNvPicPr>
          <p:nvPr/>
        </p:nvPicPr>
        <p:blipFill>
          <a:blip r:embed="rId4"/>
          <a:stretch>
            <a:fillRect/>
          </a:stretch>
        </p:blipFill>
        <p:spPr>
          <a:xfrm>
            <a:off x="731520" y="1234440"/>
            <a:ext cx="2263140" cy="4526280"/>
          </a:xfrm>
          <a:prstGeom prst="rect">
            <a:avLst/>
          </a:prstGeom>
        </p:spPr>
      </p:pic>
      <p:graphicFrame>
        <p:nvGraphicFramePr>
          <p:cNvPr id="11" name="Table 10"/>
          <p:cNvGraphicFramePr>
            <a:graphicFrameLocks noGrp="1"/>
          </p:cNvGraphicFramePr>
          <p:nvPr/>
        </p:nvGraphicFramePr>
        <p:xfrm>
          <a:off x="3566160" y="1234440"/>
          <a:ext cx="7863840" cy="1645920"/>
        </p:xfrm>
        <a:graphic>
          <a:graphicData uri="http://schemas.openxmlformats.org/drawingml/2006/table">
            <a:tbl>
              <a:tblPr firstRow="1" bandRow="1">
                <a:tableStyleId>{5C22544A-7EE6-4342-B048-85BDC9FD1C3A}</a:tableStyleId>
              </a:tblPr>
              <a:tblGrid>
                <a:gridCol w="2011680"/>
                <a:gridCol w="2011680"/>
                <a:gridCol w="3840480"/>
              </a:tblGrid>
              <a:tr h="329184">
                <a:tc>
                  <a:txBody>
                    <a:bodyPr/>
                    <a:lstStyle/>
                    <a:p>
                      <a:pPr>
                        <a:defRPr sz="950" b="1">
                          <a:solidFill>
                            <a:srgbClr val="FFFFFF"/>
                          </a:solidFill>
                        </a:defRPr>
                      </a:pPr>
                      <a:r>
                        <a:t>Tên điều khiển</a:t>
                      </a:r>
                    </a:p>
                  </a:txBody>
                  <a:tcPr>
                    <a:solidFill>
                      <a:srgbClr val="16A34A"/>
                    </a:solidFill>
                  </a:tcPr>
                </a:tc>
                <a:tc>
                  <a:txBody>
                    <a:bodyPr/>
                    <a:lstStyle/>
                    <a:p>
                      <a:pPr>
                        <a:defRPr sz="950" b="1">
                          <a:solidFill>
                            <a:srgbClr val="FFFFFF"/>
                          </a:solidFill>
                        </a:defRPr>
                      </a:pPr>
                      <a:r>
                        <a:t>Loại điều khiển</a:t>
                      </a:r>
                    </a:p>
                  </a:txBody>
                  <a:tcPr>
                    <a:solidFill>
                      <a:srgbClr val="16A34A"/>
                    </a:solidFill>
                  </a:tcPr>
                </a:tc>
                <a:tc>
                  <a:txBody>
                    <a:bodyPr/>
                    <a:lstStyle/>
                    <a:p>
                      <a:pPr>
                        <a:defRPr sz="950" b="1">
                          <a:solidFill>
                            <a:srgbClr val="FFFFFF"/>
                          </a:solidFill>
                        </a:defRPr>
                      </a:pPr>
                      <a:r>
                        <a:t>Vai trò nghiệp vụ</a:t>
                      </a:r>
                    </a:p>
                  </a:txBody>
                  <a:tcPr>
                    <a:solidFill>
                      <a:srgbClr val="16A34A"/>
                    </a:solidFill>
                  </a:tcPr>
                </a:tc>
              </a:tr>
              <a:tr h="329184">
                <a:tc>
                  <a:txBody>
                    <a:bodyPr/>
                    <a:lstStyle/>
                    <a:p>
                      <a:pPr>
                        <a:defRPr sz="900">
                          <a:solidFill>
                            <a:srgbClr val="1E293B"/>
                          </a:solidFill>
                        </a:defRPr>
                      </a:pPr>
                      <a:r>
                        <a:t>lstEvents</a:t>
                      </a:r>
                    </a:p>
                  </a:txBody>
                  <a:tcPr>
                    <a:solidFill>
                      <a:srgbClr val="FFFFFF"/>
                    </a:solidFill>
                  </a:tcPr>
                </a:tc>
                <a:tc>
                  <a:txBody>
                    <a:bodyPr/>
                    <a:lstStyle/>
                    <a:p>
                      <a:pPr>
                        <a:defRPr sz="900">
                          <a:solidFill>
                            <a:srgbClr val="1E293B"/>
                          </a:solidFill>
                        </a:defRPr>
                      </a:pPr>
                      <a:r>
                        <a:t>RecyclerView</a:t>
                      </a:r>
                    </a:p>
                  </a:txBody>
                  <a:tcPr>
                    <a:solidFill>
                      <a:srgbClr val="FFFFFF"/>
                    </a:solidFill>
                  </a:tcPr>
                </a:tc>
                <a:tc>
                  <a:txBody>
                    <a:bodyPr/>
                    <a:lstStyle/>
                    <a:p>
                      <a:pPr>
                        <a:defRPr sz="900">
                          <a:solidFill>
                            <a:srgbClr val="1E293B"/>
                          </a:solidFill>
                        </a:defRPr>
                      </a:pPr>
                      <a:r>
                        <a:t>Danh sách cuộn các sự kiện CLB</a:t>
                      </a:r>
                    </a:p>
                  </a:txBody>
                  <a:tcPr>
                    <a:solidFill>
                      <a:srgbClr val="FFFFFF"/>
                    </a:solidFill>
                  </a:tcPr>
                </a:tc>
              </a:tr>
              <a:tr h="329184">
                <a:tc>
                  <a:txBody>
                    <a:bodyPr/>
                    <a:lstStyle/>
                    <a:p>
                      <a:pPr>
                        <a:defRPr sz="900">
                          <a:solidFill>
                            <a:srgbClr val="1E293B"/>
                          </a:solidFill>
                        </a:defRPr>
                      </a:pPr>
                      <a:r>
                        <a:t>btnRegister</a:t>
                      </a:r>
                    </a:p>
                  </a:txBody>
                  <a:tcPr>
                    <a:solidFill>
                      <a:srgbClr val="FFFFFF"/>
                    </a:solidFill>
                  </a:tcPr>
                </a:tc>
                <a:tc>
                  <a:txBody>
                    <a:bodyPr/>
                    <a:lstStyle/>
                    <a:p>
                      <a:pPr>
                        <a:defRPr sz="900">
                          <a:solidFill>
                            <a:srgbClr val="1E293B"/>
                          </a:solidFill>
                        </a:defRPr>
                      </a:pPr>
                      <a:r>
                        <a:t>Button</a:t>
                      </a:r>
                    </a:p>
                  </a:txBody>
                  <a:tcPr>
                    <a:solidFill>
                      <a:srgbClr val="FFFFFF"/>
                    </a:solidFill>
                  </a:tcPr>
                </a:tc>
                <a:tc>
                  <a:txBody>
                    <a:bodyPr/>
                    <a:lstStyle/>
                    <a:p>
                      <a:pPr>
                        <a:defRPr sz="900">
                          <a:solidFill>
                            <a:srgbClr val="1E293B"/>
                          </a:solidFill>
                        </a:defRPr>
                      </a:pPr>
                      <a:r>
                        <a:t>Đăng ký tham gia sự kiện trực tiếp</a:t>
                      </a:r>
                    </a:p>
                  </a:txBody>
                  <a:tcPr>
                    <a:solidFill>
                      <a:srgbClr val="FFFFFF"/>
                    </a:solidFill>
                  </a:tcPr>
                </a:tc>
              </a:tr>
              <a:tr h="329184">
                <a:tc>
                  <a:txBody>
                    <a:bodyPr/>
                    <a:lstStyle/>
                    <a:p>
                      <a:pPr>
                        <a:defRPr sz="900">
                          <a:solidFill>
                            <a:srgbClr val="1E293B"/>
                          </a:solidFill>
                        </a:defRPr>
                      </a:pPr>
                      <a:r>
                        <a:t>swpRefresh</a:t>
                      </a:r>
                    </a:p>
                  </a:txBody>
                  <a:tcPr>
                    <a:solidFill>
                      <a:srgbClr val="FFFFFF"/>
                    </a:solidFill>
                  </a:tcPr>
                </a:tc>
                <a:tc>
                  <a:txBody>
                    <a:bodyPr/>
                    <a:lstStyle/>
                    <a:p>
                      <a:pPr>
                        <a:defRPr sz="900">
                          <a:solidFill>
                            <a:srgbClr val="1E293B"/>
                          </a:solidFill>
                        </a:defRPr>
                      </a:pPr>
                      <a:r>
                        <a:t>SwipeRefreshLayout</a:t>
                      </a:r>
                    </a:p>
                  </a:txBody>
                  <a:tcPr>
                    <a:solidFill>
                      <a:srgbClr val="FFFFFF"/>
                    </a:solidFill>
                  </a:tcPr>
                </a:tc>
                <a:tc>
                  <a:txBody>
                    <a:bodyPr/>
                    <a:lstStyle/>
                    <a:p>
                      <a:pPr>
                        <a:defRPr sz="900">
                          <a:solidFill>
                            <a:srgbClr val="1E293B"/>
                          </a:solidFill>
                        </a:defRPr>
                      </a:pPr>
                      <a:r>
                        <a:t>Vuốt xuống để tải lại dữ liệu mới nhất</a:t>
                      </a:r>
                    </a:p>
                  </a:txBody>
                  <a:tcPr>
                    <a:solidFill>
                      <a:srgbClr val="FFFFFF"/>
                    </a:solidFill>
                  </a:tcPr>
                </a:tc>
              </a:tr>
              <a:tr h="329184">
                <a:tc>
                  <a:txBody>
                    <a:bodyPr/>
                    <a:lstStyle/>
                    <a:p>
                      <a:pPr>
                        <a:defRPr sz="900">
                          <a:solidFill>
                            <a:srgbClr val="1E293B"/>
                          </a:solidFill>
                        </a:defRPr>
                      </a:pPr>
                      <a:r>
                        <a:t>txtSearch</a:t>
                      </a:r>
                    </a:p>
                  </a:txBody>
                  <a:tcPr>
                    <a:solidFill>
                      <a:srgbClr val="FFFFFF"/>
                    </a:solidFill>
                  </a:tcPr>
                </a:tc>
                <a:tc>
                  <a:txBody>
                    <a:bodyPr/>
                    <a:lstStyle/>
                    <a:p>
                      <a:pPr>
                        <a:defRPr sz="900">
                          <a:solidFill>
                            <a:srgbClr val="1E293B"/>
                          </a:solidFill>
                        </a:defRPr>
                      </a:pPr>
                      <a:r>
                        <a:t>EditText</a:t>
                      </a:r>
                    </a:p>
                  </a:txBody>
                  <a:tcPr>
                    <a:solidFill>
                      <a:srgbClr val="FFFFFF"/>
                    </a:solidFill>
                  </a:tcPr>
                </a:tc>
                <a:tc>
                  <a:txBody>
                    <a:bodyPr/>
                    <a:lstStyle/>
                    <a:p>
                      <a:pPr>
                        <a:defRPr sz="900">
                          <a:solidFill>
                            <a:srgbClr val="1E293B"/>
                          </a:solidFill>
                        </a:defRPr>
                      </a:pPr>
                      <a:r>
                        <a:t>Ô tìm kiếm sự kiện theo từ khóa</a:t>
                      </a:r>
                    </a:p>
                  </a:txBody>
                  <a:tcPr>
                    <a:solidFill>
                      <a:srgbClr val="FFFFFF"/>
                    </a:solidFill>
                  </a:tcPr>
                </a:tc>
              </a:tr>
            </a:tbl>
          </a:graphicData>
        </a:graphic>
      </p:graphicFrame>
      <p:sp>
        <p:nvSpPr>
          <p:cNvPr id="12" name="Rectangle 11"/>
          <p:cNvSpPr/>
          <p:nvPr/>
        </p:nvSpPr>
        <p:spPr>
          <a:xfrm>
            <a:off x="3566160" y="3017520"/>
            <a:ext cx="7863840" cy="2743200"/>
          </a:xfrm>
          <a:prstGeom prst="rect">
            <a:avLst/>
          </a:prstGeom>
          <a:solidFill>
            <a:srgbClr val="0F172A"/>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0" y="3063240"/>
            <a:ext cx="7680960" cy="2651760"/>
          </a:xfrm>
          <a:prstGeom prst="rect">
            <a:avLst/>
          </a:prstGeom>
          <a:noFill/>
        </p:spPr>
        <p:txBody>
          <a:bodyPr wrap="square">
            <a:spAutoFit/>
          </a:bodyPr>
          <a:lstStyle/>
          <a:p>
            <a:pPr>
              <a:defRPr sz="950" b="1">
                <a:solidFill>
                  <a:srgbClr val="16A34A"/>
                </a:solidFill>
              </a:defRPr>
            </a:pPr>
            <a:r>
              <a:t>// EventsFragment.java – Gọi API bất đồng bộ qua Retrofit (Mã nguồn thật):</a:t>
            </a:r>
          </a:p>
          <a:p>
            <a:pPr>
              <a:defRPr sz="850">
                <a:solidFill>
                  <a:srgbClr val="E2E8F0"/>
                </a:solidFill>
                <a:latin typeface="Consolas"/>
              </a:defRPr>
            </a:pPr>
            <a:r>
              <a:t>ApiClient.getService(getContext()).getEvents(1, 20)</a:t>
            </a:r>
          </a:p>
          <a:p>
            <a:pPr>
              <a:defRPr sz="850">
                <a:solidFill>
                  <a:srgbClr val="E2E8F0"/>
                </a:solidFill>
                <a:latin typeface="Consolas"/>
              </a:defRPr>
            </a:pPr>
            <a:r>
              <a:t>    .enqueue(new Callback&lt;ApiResponse&lt;PagedResponse&lt;EventItem&gt;&gt;&gt;() {</a:t>
            </a:r>
          </a:p>
          <a:p>
            <a:pPr>
              <a:defRPr sz="850">
                <a:solidFill>
                  <a:srgbClr val="E2E8F0"/>
                </a:solidFill>
                <a:latin typeface="Consolas"/>
              </a:defRPr>
            </a:pPr>
            <a:r>
              <a:t>        @Override</a:t>
            </a:r>
          </a:p>
          <a:p>
            <a:pPr>
              <a:defRPr sz="850">
                <a:solidFill>
                  <a:srgbClr val="E2E8F0"/>
                </a:solidFill>
                <a:latin typeface="Consolas"/>
              </a:defRPr>
            </a:pPr>
            <a:r>
              <a:t>        public void onResponse(@NonNull Call&lt;ApiResponse&lt;PagedResponse&lt;EventItem&gt;&gt;&gt; call,</a:t>
            </a:r>
          </a:p>
          <a:p>
            <a:pPr>
              <a:defRPr sz="850">
                <a:solidFill>
                  <a:srgbClr val="E2E8F0"/>
                </a:solidFill>
                <a:latin typeface="Consolas"/>
              </a:defRPr>
            </a:pPr>
            <a:r>
              <a:t>                               @NonNull Response&lt;ApiResponse&lt;PagedResponse&lt;EventItem&gt;&gt;&gt; res) {</a:t>
            </a:r>
          </a:p>
          <a:p>
            <a:pPr>
              <a:defRPr sz="850">
                <a:solidFill>
                  <a:srgbClr val="E2E8F0"/>
                </a:solidFill>
                <a:latin typeface="Consolas"/>
              </a:defRPr>
            </a:pPr>
            <a:r>
              <a:t>            swipeRefresh.setRefreshing(false);</a:t>
            </a:r>
          </a:p>
          <a:p>
            <a:pPr>
              <a:defRPr sz="850">
                <a:solidFill>
                  <a:srgbClr val="E2E8F0"/>
                </a:solidFill>
                <a:latin typeface="Consolas"/>
              </a:defRPr>
            </a:pPr>
            <a:r>
              <a:t>            if (res.isSuccessful() &amp;&amp; res.body() != null &amp;&amp; res.body().isSuccess()) {</a:t>
            </a:r>
          </a:p>
          <a:p>
            <a:pPr>
              <a:defRPr sz="850">
                <a:solidFill>
                  <a:srgbClr val="E2E8F0"/>
                </a:solidFill>
                <a:latin typeface="Consolas"/>
              </a:defRPr>
            </a:pPr>
            <a:r>
              <a:t>                adapter.setEvents(res.body().getData().getItems());</a:t>
            </a:r>
          </a:p>
          <a:p>
            <a:pPr>
              <a:defRPr sz="850">
                <a:solidFill>
                  <a:srgbClr val="E2E8F0"/>
                </a:solidFill>
                <a:latin typeface="Consolas"/>
              </a:defRPr>
            </a:pPr>
            <a:r>
              <a:t>            }</a:t>
            </a:r>
          </a:p>
          <a:p>
            <a:pPr>
              <a:defRPr sz="850">
                <a:solidFill>
                  <a:srgbClr val="E2E8F0"/>
                </a:solidFill>
                <a:latin typeface="Consolas"/>
              </a:defRPr>
            </a:pPr>
            <a:r>
              <a:t>        }</a:t>
            </a:r>
          </a:p>
          <a:p>
            <a:pPr>
              <a:defRPr sz="850">
                <a:solidFill>
                  <a:srgbClr val="E2E8F0"/>
                </a:solidFill>
                <a:latin typeface="Consolas"/>
              </a:defRPr>
            </a:pPr>
            <a:r>
              <a:t>    });</a:t>
            </a:r>
          </a:p>
        </p:txBody>
      </p:sp>
      <p:sp>
        <p:nvSpPr>
          <p:cNvPr id="14" name="Rectangle 13"/>
          <p:cNvSpPr/>
          <p:nvPr/>
        </p:nvSpPr>
        <p:spPr>
          <a:xfrm>
            <a:off x="731520" y="5897880"/>
            <a:ext cx="10728655" cy="475488"/>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925312"/>
            <a:ext cx="10515600" cy="438912"/>
          </a:xfrm>
          <a:prstGeom prst="rect">
            <a:avLst/>
          </a:prstGeom>
          <a:noFill/>
        </p:spPr>
        <p:txBody>
          <a:bodyPr wrap="none">
            <a:spAutoFit/>
          </a:bodyPr>
          <a:lstStyle/>
          <a:p>
            <a:pPr>
              <a:defRPr sz="900">
                <a:solidFill>
                  <a:srgbClr val="16A34A"/>
                </a:solidFill>
              </a:defRPr>
            </a:pPr>
            <a:r>
              <a:t>⚡ Khó khăn đặc thù Android &amp; Giải pháp: Android 9+ chặn kết nối HTTP không mã hóa và máy ảo không dùng localhost. Nhóm cấu hình network_security_config.xml cho phép cleartext traffic trong dev và dùng alias 10.0.2.2.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05. CƠ CHẾ MẠNG ANDROID</a:t>
            </a:r>
          </a:p>
          <a:p>
            <a:pPr>
              <a:defRPr sz="1900" b="1">
                <a:solidFill>
                  <a:srgbClr val="0F172A"/>
                </a:solidFill>
                <a:latin typeface="Segoe UI"/>
              </a:defRPr>
            </a:pPr>
            <a:r>
              <a:t>SƠ ĐỒ CƠ CHẾ MẠNG &amp; ĐIỀU PHỐI LUỒNG TRÊN ANDROID</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Đào Trí Khang | Slide 6/16</a:t>
            </a:r>
          </a:p>
        </p:txBody>
      </p:sp>
      <p:sp>
        <p:nvSpPr>
          <p:cNvPr id="10" name="Rounded Rectangle 9"/>
          <p:cNvSpPr/>
          <p:nvPr/>
        </p:nvSpPr>
        <p:spPr>
          <a:xfrm>
            <a:off x="731520" y="1234440"/>
            <a:ext cx="1783080" cy="128016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261872"/>
            <a:ext cx="1709928" cy="1225296"/>
          </a:xfrm>
          <a:prstGeom prst="rect">
            <a:avLst/>
          </a:prstGeom>
          <a:noFill/>
        </p:spPr>
        <p:txBody>
          <a:bodyPr wrap="square">
            <a:spAutoFit/>
          </a:bodyPr>
          <a:lstStyle/>
          <a:p>
            <a:pPr algn="ctr">
              <a:defRPr sz="1000" b="1">
                <a:solidFill>
                  <a:srgbClr val="2264AC"/>
                </a:solidFill>
              </a:defRPr>
            </a:pPr>
            <a:r>
              <a:t>1. Tương tác UI</a:t>
            </a:r>
          </a:p>
          <a:p>
            <a:pPr algn="ctr">
              <a:defRPr sz="850">
                <a:solidFill>
                  <a:srgbClr val="64748B"/>
                </a:solidFill>
              </a:defRPr>
            </a:pPr>
            <a:r>
              <a:t>[Main UI Thread]</a:t>
            </a:r>
          </a:p>
          <a:p>
            <a:pPr algn="ctr">
              <a:defRPr sz="800">
                <a:solidFill>
                  <a:srgbClr val="1E293B"/>
                </a:solidFill>
              </a:defRPr>
            </a:pPr>
            <a:r>
              <a:t>Người dùng nhấn btnRegister</a:t>
            </a:r>
            <a:br/>
            <a:r>
              <a:t>hoặc vuốt làm mới swpRefresh</a:t>
            </a:r>
          </a:p>
        </p:txBody>
      </p:sp>
      <p:sp>
        <p:nvSpPr>
          <p:cNvPr id="12" name="Right Arrow 11"/>
          <p:cNvSpPr/>
          <p:nvPr/>
        </p:nvSpPr>
        <p:spPr>
          <a:xfrm>
            <a:off x="254203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71800" y="1234440"/>
            <a:ext cx="1783080" cy="12801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08376" y="1261872"/>
            <a:ext cx="1709928" cy="1225296"/>
          </a:xfrm>
          <a:prstGeom prst="rect">
            <a:avLst/>
          </a:prstGeom>
          <a:noFill/>
        </p:spPr>
        <p:txBody>
          <a:bodyPr wrap="square">
            <a:spAutoFit/>
          </a:bodyPr>
          <a:lstStyle/>
          <a:p>
            <a:pPr algn="ctr">
              <a:defRPr sz="1000" b="1">
                <a:solidFill>
                  <a:srgbClr val="22A6A1"/>
                </a:solidFill>
              </a:defRPr>
            </a:pPr>
            <a:r>
              <a:t>2. Retrofit Enqueue</a:t>
            </a:r>
          </a:p>
          <a:p>
            <a:pPr algn="ctr">
              <a:defRPr sz="850">
                <a:solidFill>
                  <a:srgbClr val="64748B"/>
                </a:solidFill>
              </a:defRPr>
            </a:pPr>
            <a:r>
              <a:t>[OkHttp Dispatcher]</a:t>
            </a:r>
          </a:p>
          <a:p>
            <a:pPr algn="ctr">
              <a:defRPr sz="800">
                <a:solidFill>
                  <a:srgbClr val="1E293B"/>
                </a:solidFill>
              </a:defRPr>
            </a:pPr>
            <a:r>
              <a:t>apiService.getEvents().enqueue()</a:t>
            </a:r>
            <a:br/>
            <a:r>
              <a:t>Đẩy việc vào luồng nền Worker</a:t>
            </a:r>
          </a:p>
        </p:txBody>
      </p:sp>
      <p:sp>
        <p:nvSpPr>
          <p:cNvPr id="15" name="Right Arrow 14"/>
          <p:cNvSpPr/>
          <p:nvPr/>
        </p:nvSpPr>
        <p:spPr>
          <a:xfrm>
            <a:off x="478231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0" y="1234440"/>
            <a:ext cx="1783080" cy="128016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48656" y="1261872"/>
            <a:ext cx="1709928" cy="1225296"/>
          </a:xfrm>
          <a:prstGeom prst="rect">
            <a:avLst/>
          </a:prstGeom>
          <a:noFill/>
        </p:spPr>
        <p:txBody>
          <a:bodyPr wrap="square">
            <a:spAutoFit/>
          </a:bodyPr>
          <a:lstStyle/>
          <a:p>
            <a:pPr algn="ctr">
              <a:defRPr sz="1000" b="1">
                <a:solidFill>
                  <a:srgbClr val="0F172A"/>
                </a:solidFill>
              </a:defRPr>
            </a:pPr>
            <a:r>
              <a:t>3. Gói tin Mạng</a:t>
            </a:r>
          </a:p>
          <a:p>
            <a:pPr algn="ctr">
              <a:defRPr sz="850">
                <a:solidFill>
                  <a:srgbClr val="64748B"/>
                </a:solidFill>
              </a:defRPr>
            </a:pPr>
            <a:r>
              <a:t>[I/O Network TCP]</a:t>
            </a:r>
          </a:p>
          <a:p>
            <a:pPr algn="ctr">
              <a:defRPr sz="800">
                <a:solidFill>
                  <a:srgbClr val="1E293B"/>
                </a:solidFill>
              </a:defRPr>
            </a:pPr>
            <a:r>
              <a:t>Gửi request GET /api/events</a:t>
            </a:r>
            <a:br/>
            <a:r>
              <a:t>tới Kestrel Server cổng 443</a:t>
            </a:r>
          </a:p>
        </p:txBody>
      </p:sp>
      <p:sp>
        <p:nvSpPr>
          <p:cNvPr id="18" name="Right Arrow 17"/>
          <p:cNvSpPr/>
          <p:nvPr/>
        </p:nvSpPr>
        <p:spPr>
          <a:xfrm>
            <a:off x="702259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52360" y="1234440"/>
            <a:ext cx="1783080" cy="12801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88936" y="1261872"/>
            <a:ext cx="1709928" cy="1225296"/>
          </a:xfrm>
          <a:prstGeom prst="rect">
            <a:avLst/>
          </a:prstGeom>
          <a:noFill/>
        </p:spPr>
        <p:txBody>
          <a:bodyPr wrap="square">
            <a:spAutoFit/>
          </a:bodyPr>
          <a:lstStyle/>
          <a:p>
            <a:pPr algn="ctr">
              <a:defRPr sz="1000" b="1">
                <a:solidFill>
                  <a:srgbClr val="22A6A1"/>
                </a:solidFill>
              </a:defRPr>
            </a:pPr>
            <a:r>
              <a:t>4. Giải mã JSON</a:t>
            </a:r>
          </a:p>
          <a:p>
            <a:pPr algn="ctr">
              <a:defRPr sz="850">
                <a:solidFill>
                  <a:srgbClr val="64748B"/>
                </a:solidFill>
              </a:defRPr>
            </a:pPr>
            <a:r>
              <a:t>[Gson Deserializer]</a:t>
            </a:r>
          </a:p>
          <a:p>
            <a:pPr algn="ctr">
              <a:defRPr sz="800">
                <a:solidFill>
                  <a:srgbClr val="1E293B"/>
                </a:solidFill>
              </a:defRPr>
            </a:pPr>
            <a:r>
              <a:t>Tự động ánh xạ JSON string</a:t>
            </a:r>
            <a:br/>
            <a:r>
              <a:t>sang ApiResponse&lt;PagedResponse&gt;</a:t>
            </a:r>
          </a:p>
        </p:txBody>
      </p:sp>
      <p:sp>
        <p:nvSpPr>
          <p:cNvPr id="21" name="Right Arrow 20"/>
          <p:cNvSpPr/>
          <p:nvPr/>
        </p:nvSpPr>
        <p:spPr>
          <a:xfrm>
            <a:off x="926287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92640" y="1234440"/>
            <a:ext cx="1783080" cy="128016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29216" y="1261872"/>
            <a:ext cx="1709928" cy="1225296"/>
          </a:xfrm>
          <a:prstGeom prst="rect">
            <a:avLst/>
          </a:prstGeom>
          <a:noFill/>
        </p:spPr>
        <p:txBody>
          <a:bodyPr wrap="square">
            <a:spAutoFit/>
          </a:bodyPr>
          <a:lstStyle/>
          <a:p>
            <a:pPr algn="ctr">
              <a:defRPr sz="1000" b="1">
                <a:solidFill>
                  <a:srgbClr val="16A34A"/>
                </a:solidFill>
              </a:defRPr>
            </a:pPr>
            <a:r>
              <a:t>5. Cập nhật UI</a:t>
            </a:r>
          </a:p>
          <a:p>
            <a:pPr algn="ctr">
              <a:defRPr sz="850">
                <a:solidFill>
                  <a:srgbClr val="64748B"/>
                </a:solidFill>
              </a:defRPr>
            </a:pPr>
            <a:r>
              <a:t>[Main UI Thread]</a:t>
            </a:r>
          </a:p>
          <a:p>
            <a:pPr algn="ctr">
              <a:defRPr sz="800">
                <a:solidFill>
                  <a:srgbClr val="1E293B"/>
                </a:solidFill>
              </a:defRPr>
            </a:pPr>
            <a:r>
              <a:t>Handler.post / onResponse</a:t>
            </a:r>
            <a:br/>
            <a:r>
              <a:t>Cập nhật Adapter cho View</a:t>
            </a:r>
          </a:p>
        </p:txBody>
      </p:sp>
      <p:sp>
        <p:nvSpPr>
          <p:cNvPr id="24" name="Rectangle 23"/>
          <p:cNvSpPr/>
          <p:nvPr/>
        </p:nvSpPr>
        <p:spPr>
          <a:xfrm>
            <a:off x="731520" y="2651760"/>
            <a:ext cx="10728655" cy="1645920"/>
          </a:xfrm>
          <a:prstGeom prst="rect">
            <a:avLst/>
          </a:prstGeom>
          <a:solidFill>
            <a:srgbClr val="0F172A"/>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2697480"/>
            <a:ext cx="10515600" cy="1554480"/>
          </a:xfrm>
          <a:prstGeom prst="rect">
            <a:avLst/>
          </a:prstGeom>
          <a:noFill/>
        </p:spPr>
        <p:txBody>
          <a:bodyPr wrap="square">
            <a:spAutoFit/>
          </a:bodyPr>
          <a:lstStyle/>
          <a:p>
            <a:pPr>
              <a:defRPr sz="950" b="1">
                <a:solidFill>
                  <a:srgbClr val="16A34A"/>
                </a:solidFill>
              </a:defRPr>
            </a:pPr>
            <a:r>
              <a:t>// EventsFragment.java – Hai dòng mã cốt lõi: Tạo luồng nền &amp; Đẩy kết quả về Luồng Chính (Mã nguồn thật):</a:t>
            </a:r>
          </a:p>
          <a:p>
            <a:pPr>
              <a:defRPr sz="850">
                <a:solidFill>
                  <a:srgbClr val="E2E8F0"/>
                </a:solidFill>
                <a:latin typeface="Consolas"/>
              </a:defRPr>
            </a:pPr>
            <a:r>
              <a:t>// 1. TẠO LUỒNG NỀN: .enqueue() đẩy tác vụ mạng sang OkHttp ThreadPool, tránh chặn Main UI Thread</a:t>
            </a:r>
          </a:p>
          <a:p>
            <a:pPr>
              <a:defRPr sz="850">
                <a:solidFill>
                  <a:srgbClr val="E2E8F0"/>
                </a:solidFill>
                <a:latin typeface="Consolas"/>
              </a:defRPr>
            </a:pPr>
            <a:r>
              <a:t>apiService.getEvents(1, 10).enqueue(new Callback&lt;ApiResponse&lt;PagedResponse&lt;EventItem&gt;&gt;&gt;() {</a:t>
            </a:r>
          </a:p>
          <a:p>
            <a:pPr>
              <a:defRPr sz="850">
                <a:solidFill>
                  <a:srgbClr val="E2E8F0"/>
                </a:solidFill>
                <a:latin typeface="Consolas"/>
              </a:defRPr>
            </a:pPr>
            <a:r>
              <a:t>    @Override public void onResponse(Call&lt;...&gt; call, Response&lt;ApiResponse&lt;PagedResponse&lt;EventItem&gt;&gt;&gt; res) {</a:t>
            </a:r>
          </a:p>
          <a:p>
            <a:pPr>
              <a:defRPr sz="850">
                <a:solidFill>
                  <a:srgbClr val="E2E8F0"/>
                </a:solidFill>
                <a:latin typeface="Consolas"/>
              </a:defRPr>
            </a:pPr>
            <a:r>
              <a:t>        if (res.isSuccessful() &amp;&amp; res.body() != null) {</a:t>
            </a:r>
          </a:p>
          <a:p>
            <a:pPr>
              <a:defRPr sz="850">
                <a:solidFill>
                  <a:srgbClr val="E2E8F0"/>
                </a:solidFill>
                <a:latin typeface="Consolas"/>
              </a:defRPr>
            </a:pPr>
            <a:r>
              <a:t>            // 2. ĐẨY VỀ LUỒNG CHÍNH: Looper.getMainLooper() đưa dữ liệu về Main UI Thread để cập nhật Adapter an toàn</a:t>
            </a:r>
          </a:p>
          <a:p>
            <a:pPr>
              <a:defRPr sz="850">
                <a:solidFill>
                  <a:srgbClr val="E2E8F0"/>
                </a:solidFill>
                <a:latin typeface="Consolas"/>
              </a:defRPr>
            </a:pPr>
            <a:r>
              <a:t>            new Handler(Looper.getMainLooper()).post(() -&gt; eventAdapter.setEvents(res.body().getData().getItems()));</a:t>
            </a:r>
          </a:p>
          <a:p>
            <a:pPr>
              <a:defRPr sz="850">
                <a:solidFill>
                  <a:srgbClr val="E2E8F0"/>
                </a:solidFill>
                <a:latin typeface="Consolas"/>
              </a:defRPr>
            </a:pPr>
            <a:r>
              <a:t>        }</a:t>
            </a:r>
          </a:p>
          <a:p>
            <a:pPr>
              <a:defRPr sz="850">
                <a:solidFill>
                  <a:srgbClr val="E2E8F0"/>
                </a:solidFill>
                <a:latin typeface="Consolas"/>
              </a:defRPr>
            </a:pPr>
            <a:r>
              <a:t>    }</a:t>
            </a:r>
          </a:p>
          <a:p>
            <a:pPr>
              <a:defRPr sz="850">
                <a:solidFill>
                  <a:srgbClr val="E2E8F0"/>
                </a:solidFill>
                <a:latin typeface="Consolas"/>
              </a:defRPr>
            </a:pPr>
            <a:r>
              <a:t>});</a:t>
            </a:r>
          </a:p>
        </p:txBody>
      </p:sp>
      <p:sp>
        <p:nvSpPr>
          <p:cNvPr id="26" name="Rounded Rectangle 25"/>
          <p:cNvSpPr/>
          <p:nvPr/>
        </p:nvSpPr>
        <p:spPr>
          <a:xfrm>
            <a:off x="731520" y="4434840"/>
            <a:ext cx="5212080" cy="1874519"/>
          </a:xfrm>
          <a:prstGeom prst="roundRect">
            <a:avLst/>
          </a:prstGeom>
          <a:solidFill>
            <a:srgbClr val="FEF2F2"/>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480560"/>
            <a:ext cx="5029200" cy="1783080"/>
          </a:xfrm>
          <a:prstGeom prst="rect">
            <a:avLst/>
          </a:prstGeom>
          <a:noFill/>
        </p:spPr>
        <p:txBody>
          <a:bodyPr wrap="square">
            <a:spAutoFit/>
          </a:bodyPr>
          <a:lstStyle/>
          <a:p>
            <a:pPr>
              <a:defRPr sz="1050" b="1">
                <a:solidFill>
                  <a:srgbClr val="DC2626"/>
                </a:solidFill>
              </a:defRPr>
            </a:pPr>
            <a:r>
              <a:t>⚠️ HAI NGOẠI LỆ NGUY HIỂM BUỘC PHẢI TRÁNH:</a:t>
            </a:r>
          </a:p>
          <a:p>
            <a:pPr>
              <a:defRPr sz="850">
                <a:solidFill>
                  <a:srgbClr val="1E293B"/>
                </a:solidFill>
              </a:defRPr>
            </a:pPr>
            <a:r>
              <a:t>1. NetworkOnMainThreadException: Xảy ra khi gọi mạng trực tiếp (.execute()) trên Luồng Chính. Hệ thống Android tự động chặn và ném lỗi crash ngay.</a:t>
            </a:r>
          </a:p>
          <a:p>
            <a:pPr>
              <a:defRPr sz="850">
                <a:solidFill>
                  <a:srgbClr val="1E293B"/>
                </a:solidFill>
              </a:defRPr>
            </a:pPr>
            <a:r>
              <a:t>2. CalledFromWrongThreadException: Xảy ra khi cố tình sửa đổi View từ luồng nền. Bắt buộc phải đưa về Main Thread qua Handler(Looper.getMainLooper()).</a:t>
            </a:r>
          </a:p>
        </p:txBody>
      </p:sp>
      <p:sp>
        <p:nvSpPr>
          <p:cNvPr id="28" name="Rounded Rectangle 27"/>
          <p:cNvSpPr/>
          <p:nvPr/>
        </p:nvSpPr>
        <p:spPr>
          <a:xfrm>
            <a:off x="6217920" y="4434840"/>
            <a:ext cx="5242255" cy="1874519"/>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4480560"/>
            <a:ext cx="5059375" cy="1783080"/>
          </a:xfrm>
          <a:prstGeom prst="rect">
            <a:avLst/>
          </a:prstGeom>
          <a:noFill/>
        </p:spPr>
        <p:txBody>
          <a:bodyPr wrap="square">
            <a:spAutoFit/>
          </a:bodyPr>
          <a:lstStyle/>
          <a:p>
            <a:pPr>
              <a:defRPr sz="1050" b="1">
                <a:solidFill>
                  <a:srgbClr val="22A6A1"/>
                </a:solidFill>
              </a:defRPr>
            </a:pPr>
            <a:r>
              <a:t>🌐 CẤU HÌNH KẾT NỐI MẠNG ĐẶC THÙ TRÊN ANDROID:</a:t>
            </a:r>
          </a:p>
          <a:p>
            <a:pPr>
              <a:defRPr sz="850">
                <a:solidFill>
                  <a:srgbClr val="1E293B"/>
                </a:solidFill>
              </a:defRPr>
            </a:pPr>
            <a:r>
              <a:t>• Địa chỉ 10.0.2.2: Máy ảo Android không dùng 'localhost' vì localhost trỏ về chính nó. 10.0.2.2 là địa chỉ bí danh trỏ về máy tính chủ chạy Web API.</a:t>
            </a:r>
          </a:p>
          <a:p>
            <a:pPr>
              <a:defRPr sz="850">
                <a:solidFill>
                  <a:srgbClr val="1E293B"/>
                </a:solidFill>
              </a:defRPr>
            </a:pPr>
            <a:r>
              <a:t>• Khai báo usesCleartextTraffic: Từ Android 9, kết nối HTTP không mã hóa bị chặn. Nhóm cấu hình network_security_config.xml cho môi trường test.</a:t>
            </a:r>
          </a:p>
          <a:p>
            <a:pPr>
              <a:defRPr sz="850">
                <a:solidFill>
                  <a:srgbClr val="1E293B"/>
                </a:solidFill>
              </a:defRPr>
            </a:pPr>
            <a:r>
              <a:t>• Tự động gắn JWT qua AuthInterceptor: Token lưu trong SharedPreferences và được tự động chèn vào header Authorization.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06. DEMO DI ĐỘNG</a:t>
            </a:r>
          </a:p>
          <a:p>
            <a:pPr>
              <a:defRPr sz="1900" b="1">
                <a:solidFill>
                  <a:srgbClr val="0F172A"/>
                </a:solidFill>
                <a:latin typeface="Segoe UI"/>
              </a:defRPr>
            </a:pPr>
            <a:r>
              <a:t>DEMO TRỰC TIẾP: ĐĂNG KÝ SỰ KIỆN TRÊN ANDROID APP</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Đào Trí Khang | Slide 7/16</a:t>
            </a:r>
          </a:p>
        </p:txBody>
      </p:sp>
      <p:pic>
        <p:nvPicPr>
          <p:cNvPr id="10" name="Picture 9" descr="12_android_registration.png"/>
          <p:cNvPicPr>
            <a:picLocks noChangeAspect="1"/>
          </p:cNvPicPr>
          <p:nvPr/>
        </p:nvPicPr>
        <p:blipFill>
          <a:blip r:embed="rId4"/>
          <a:stretch>
            <a:fillRect/>
          </a:stretch>
        </p:blipFill>
        <p:spPr>
          <a:xfrm>
            <a:off x="731520" y="1371600"/>
            <a:ext cx="3474720" cy="6949440"/>
          </a:xfrm>
          <a:prstGeom prst="rect">
            <a:avLst/>
          </a:prstGeom>
        </p:spPr>
      </p:pic>
      <p:sp>
        <p:nvSpPr>
          <p:cNvPr id="11" name="Rounded Rectangle 10"/>
          <p:cNvSpPr/>
          <p:nvPr/>
        </p:nvSpPr>
        <p:spPr>
          <a:xfrm>
            <a:off x="4572000" y="1371600"/>
            <a:ext cx="6858000" cy="47548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554480"/>
            <a:ext cx="6492240" cy="4389120"/>
          </a:xfrm>
          <a:prstGeom prst="rect">
            <a:avLst/>
          </a:prstGeom>
          <a:noFill/>
        </p:spPr>
        <p:txBody>
          <a:bodyPr wrap="square">
            <a:spAutoFit/>
          </a:bodyPr>
          <a:lstStyle/>
          <a:p>
            <a:pPr>
              <a:defRPr sz="1300" b="1">
                <a:solidFill>
                  <a:srgbClr val="16A34A"/>
                </a:solidFill>
              </a:defRPr>
            </a:pPr>
            <a:r>
              <a:t>KỊCH BẢN THAO TÁC DEMO TRỰC TIẾP TRÊN MÁY ẢO:</a:t>
            </a:r>
          </a:p>
          <a:p>
            <a:pPr>
              <a:defRPr sz="1050" b="1">
                <a:solidFill>
                  <a:srgbClr val="0F172A"/>
                </a:solidFill>
              </a:defRPr>
            </a:pPr>
            <a:r>
              <a:t>👉 Bước 1: Mở ứng dụng Android (app-debug.apk đã nạp sẵn)</a:t>
            </a:r>
          </a:p>
          <a:p>
            <a:pPr>
              <a:defRPr sz="950">
                <a:solidFill>
                  <a:srgbClr val="1E293B"/>
                </a:solidFill>
              </a:defRPr>
            </a:pPr>
            <a:r>
              <a:t>     Ứng dụng tự động gửi request GET /api/events nạp danh sách sự kiện lên RecyclerView.</a:t>
            </a:r>
          </a:p>
          <a:p>
            <a:pPr>
              <a:defRPr sz="1050" b="1">
                <a:solidFill>
                  <a:srgbClr val="0F172A"/>
                </a:solidFill>
              </a:defRPr>
            </a:pPr>
            <a:r>
              <a:t>👉 Bước 2: Chọn sự kiện 'Hội thảo Kỹ năng Hội nhập Quốc tế'</a:t>
            </a:r>
          </a:p>
          <a:p>
            <a:pPr>
              <a:defRPr sz="950">
                <a:solidFill>
                  <a:srgbClr val="1E293B"/>
                </a:solidFill>
              </a:defRPr>
            </a:pPr>
            <a:r>
              <a:t>     Màn hình chuyển sang EventDetailActivity hiển thị chi tiết thời gian, địa điểm, diễn giả.</a:t>
            </a:r>
          </a:p>
          <a:p>
            <a:pPr>
              <a:defRPr sz="1050" b="1">
                <a:solidFill>
                  <a:srgbClr val="0F172A"/>
                </a:solidFill>
              </a:defRPr>
            </a:pPr>
            <a:r>
              <a:t>👉 Bước 3: Nhấn nút 'Đăng ký tham gia' (btnRegister)</a:t>
            </a:r>
          </a:p>
          <a:p>
            <a:pPr>
              <a:defRPr sz="950">
                <a:solidFill>
                  <a:srgbClr val="1E293B"/>
                </a:solidFill>
              </a:defRPr>
            </a:pPr>
            <a:r>
              <a:t>     Ứng dụng gửi yêu cầu POST /api/events/{id}/register kèm Bearer Token của tài khoản sinh viên.</a:t>
            </a:r>
          </a:p>
          <a:p>
            <a:pPr>
              <a:defRPr sz="1050" b="1">
                <a:solidFill>
                  <a:srgbClr val="0F172A"/>
                </a:solidFill>
              </a:defRPr>
            </a:pPr>
            <a:r>
              <a:t>👉 Bước 4: Quan sát phản hồi HTTP 200 từ Web API</a:t>
            </a:r>
          </a:p>
          <a:p>
            <a:pPr>
              <a:defRPr sz="950">
                <a:solidFill>
                  <a:srgbClr val="1E293B"/>
                </a:solidFill>
              </a:defRPr>
            </a:pPr>
            <a:r>
              <a:t>     Server tiếp nhận, ghi bản ghi vào PostgreSQL và trả về JSON thành công kèm mã check-in.</a:t>
            </a:r>
          </a:p>
          <a:p>
            <a:pPr>
              <a:defRPr sz="1050" b="1">
                <a:solidFill>
                  <a:srgbClr val="0F172A"/>
                </a:solidFill>
              </a:defRPr>
            </a:pPr>
            <a:r>
              <a:t>👉 Bước 5: Bàn giao dữ liệu cho WinForms</a:t>
            </a:r>
          </a:p>
          <a:p>
            <a:pPr>
              <a:defRPr sz="950">
                <a:solidFill>
                  <a:srgbClr val="1E293B"/>
                </a:solidFill>
              </a:defRPr>
            </a:pPr>
            <a:r>
              <a:t>     Bản ghi vừa đăng ký sẽ được bạn Võ Ngọc Minh Đạt tải và điểm danh ngay trên ứng dụng Windows Forms.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07. HỢP ĐỒNG API</a:t>
            </a:r>
          </a:p>
          <a:p>
            <a:pPr>
              <a:defRPr sz="1900" b="1">
                <a:solidFill>
                  <a:srgbClr val="0F172A"/>
                </a:solidFill>
                <a:latin typeface="Segoe UI"/>
              </a:defRPr>
            </a:pPr>
            <a:r>
              <a:t>SWAGGER UI &amp; BẢNG HỢP ĐỒNG API THỰC TẾ TIÊU THỤ</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Hồ Đoàng Nguyên Khang | Slide 8/16</a:t>
            </a:r>
          </a:p>
        </p:txBody>
      </p:sp>
      <p:pic>
        <p:nvPicPr>
          <p:cNvPr id="10" name="Picture 9" descr="04_swagger_overview.png"/>
          <p:cNvPicPr>
            <a:picLocks noChangeAspect="1"/>
          </p:cNvPicPr>
          <p:nvPr/>
        </p:nvPicPr>
        <p:blipFill>
          <a:blip r:embed="rId4"/>
          <a:stretch>
            <a:fillRect/>
          </a:stretch>
        </p:blipFill>
        <p:spPr>
          <a:xfrm>
            <a:off x="731520" y="1371600"/>
            <a:ext cx="4206240" cy="2628900"/>
          </a:xfrm>
          <a:prstGeom prst="rect">
            <a:avLst/>
          </a:prstGeom>
        </p:spPr>
      </p:pic>
      <p:graphicFrame>
        <p:nvGraphicFramePr>
          <p:cNvPr id="11" name="Table 10"/>
          <p:cNvGraphicFramePr>
            <a:graphicFrameLocks noGrp="1"/>
          </p:cNvGraphicFramePr>
          <p:nvPr/>
        </p:nvGraphicFramePr>
        <p:xfrm>
          <a:off x="5120640" y="1371600"/>
          <a:ext cx="6309360" cy="4389120"/>
        </p:xfrm>
        <a:graphic>
          <a:graphicData uri="http://schemas.openxmlformats.org/drawingml/2006/table">
            <a:tbl>
              <a:tblPr firstRow="1" bandRow="1">
                <a:tableStyleId>{5C22544A-7EE6-4342-B048-85BDC9FD1C3A}</a:tableStyleId>
              </a:tblPr>
              <a:tblGrid>
                <a:gridCol w="914400"/>
                <a:gridCol w="1920240"/>
                <a:gridCol w="1097280"/>
                <a:gridCol w="1371600"/>
                <a:gridCol w="1005840"/>
              </a:tblGrid>
              <a:tr h="731520">
                <a:tc>
                  <a:txBody>
                    <a:bodyPr/>
                    <a:lstStyle/>
                    <a:p>
                      <a:pPr>
                        <a:defRPr sz="950" b="1">
                          <a:solidFill>
                            <a:srgbClr val="FFFFFF"/>
                          </a:solidFill>
                        </a:defRPr>
                      </a:pPr>
                      <a:r>
                        <a:t>Method</a:t>
                      </a:r>
                    </a:p>
                  </a:txBody>
                  <a:tcPr>
                    <a:solidFill>
                      <a:srgbClr val="0F172A"/>
                    </a:solidFill>
                  </a:tcPr>
                </a:tc>
                <a:tc>
                  <a:txBody>
                    <a:bodyPr/>
                    <a:lstStyle/>
                    <a:p>
                      <a:pPr>
                        <a:defRPr sz="950" b="1">
                          <a:solidFill>
                            <a:srgbClr val="FFFFFF"/>
                          </a:solidFill>
                        </a:defRPr>
                      </a:pPr>
                      <a:r>
                        <a:t>Đường dẫn (Endpoint)</a:t>
                      </a:r>
                    </a:p>
                  </a:txBody>
                  <a:tcPr>
                    <a:solidFill>
                      <a:srgbClr val="0F172A"/>
                    </a:solidFill>
                  </a:tcPr>
                </a:tc>
                <a:tc>
                  <a:txBody>
                    <a:bodyPr/>
                    <a:lstStyle/>
                    <a:p>
                      <a:pPr>
                        <a:defRPr sz="950" b="1">
                          <a:solidFill>
                            <a:srgbClr val="FFFFFF"/>
                          </a:solidFill>
                        </a:defRPr>
                      </a:pPr>
                      <a:r>
                        <a:t>Quyền</a:t>
                      </a:r>
                    </a:p>
                  </a:txBody>
                  <a:tcPr>
                    <a:solidFill>
                      <a:srgbClr val="0F172A"/>
                    </a:solidFill>
                  </a:tcPr>
                </a:tc>
                <a:tc>
                  <a:txBody>
                    <a:bodyPr/>
                    <a:lstStyle/>
                    <a:p>
                      <a:pPr>
                        <a:defRPr sz="950" b="1">
                          <a:solidFill>
                            <a:srgbClr val="FFFFFF"/>
                          </a:solidFill>
                        </a:defRPr>
                      </a:pPr>
                      <a:r>
                        <a:t>Thân yêu cầu</a:t>
                      </a:r>
                    </a:p>
                  </a:txBody>
                  <a:tcPr>
                    <a:solidFill>
                      <a:srgbClr val="0F172A"/>
                    </a:solidFill>
                  </a:tcPr>
                </a:tc>
                <a:tc>
                  <a:txBody>
                    <a:bodyPr/>
                    <a:lstStyle/>
                    <a:p>
                      <a:pPr>
                        <a:defRPr sz="950" b="1">
                          <a:solidFill>
                            <a:srgbClr val="FFFFFF"/>
                          </a:solidFill>
                        </a:defRPr>
                      </a:pPr>
                      <a:r>
                        <a:t>Mã trả về</a:t>
                      </a:r>
                    </a:p>
                  </a:txBody>
                  <a:tcPr>
                    <a:solidFill>
                      <a:srgbClr val="0F172A"/>
                    </a:solidFill>
                  </a:tcPr>
                </a:tc>
              </a:tr>
              <a:tr h="731520">
                <a:tc>
                  <a:txBody>
                    <a:bodyPr/>
                    <a:lstStyle/>
                    <a:p>
                      <a:pPr>
                        <a:defRPr sz="850" b="1">
                          <a:solidFill>
                            <a:srgbClr val="16A34A"/>
                          </a:solidFill>
                        </a:defRPr>
                      </a:pPr>
                      <a:r>
                        <a:t>POST</a:t>
                      </a:r>
                    </a:p>
                  </a:txBody>
                  <a:tcPr>
                    <a:solidFill>
                      <a:srgbClr val="FFFFFF"/>
                    </a:solidFill>
                  </a:tcPr>
                </a:tc>
                <a:tc>
                  <a:txBody>
                    <a:bodyPr/>
                    <a:lstStyle/>
                    <a:p>
                      <a:pPr>
                        <a:defRPr sz="850">
                          <a:solidFill>
                            <a:srgbClr val="1E293B"/>
                          </a:solidFill>
                        </a:defRPr>
                      </a:pPr>
                      <a:r>
                        <a:t>/api/auth/login</a:t>
                      </a:r>
                    </a:p>
                  </a:txBody>
                  <a:tcPr>
                    <a:solidFill>
                      <a:srgbClr val="FFFFFF"/>
                    </a:solidFill>
                  </a:tcPr>
                </a:tc>
                <a:tc>
                  <a:txBody>
                    <a:bodyPr/>
                    <a:lstStyle/>
                    <a:p>
                      <a:pPr>
                        <a:defRPr sz="850">
                          <a:solidFill>
                            <a:srgbClr val="1E293B"/>
                          </a:solidFill>
                        </a:defRPr>
                      </a:pPr>
                      <a:r>
                        <a:t>Mở</a:t>
                      </a:r>
                    </a:p>
                  </a:txBody>
                  <a:tcPr>
                    <a:solidFill>
                      <a:srgbClr val="FFFFFF"/>
                    </a:solidFill>
                  </a:tcPr>
                </a:tc>
                <a:tc>
                  <a:txBody>
                    <a:bodyPr/>
                    <a:lstStyle/>
                    <a:p>
                      <a:pPr>
                        <a:defRPr sz="850">
                          <a:solidFill>
                            <a:srgbClr val="1E293B"/>
                          </a:solidFill>
                        </a:defRPr>
                      </a:pPr>
                      <a:r>
                        <a:t>username, password</a:t>
                      </a:r>
                    </a:p>
                  </a:txBody>
                  <a:tcPr>
                    <a:solidFill>
                      <a:srgbClr val="FFFFFF"/>
                    </a:solidFill>
                  </a:tcPr>
                </a:tc>
                <a:tc>
                  <a:txBody>
                    <a:bodyPr/>
                    <a:lstStyle/>
                    <a:p>
                      <a:pPr>
                        <a:defRPr sz="850">
                          <a:solidFill>
                            <a:srgbClr val="1E293B"/>
                          </a:solidFill>
                        </a:defRPr>
                      </a:pPr>
                      <a:r>
                        <a:t>200 + Token</a:t>
                      </a:r>
                    </a:p>
                  </a:txBody>
                  <a:tcPr>
                    <a:solidFill>
                      <a:srgbClr val="FFFFFF"/>
                    </a:solidFill>
                  </a:tcPr>
                </a:tc>
              </a:tr>
              <a:tr h="731520">
                <a:tc>
                  <a:txBody>
                    <a:bodyPr/>
                    <a:lstStyle/>
                    <a:p>
                      <a:pPr>
                        <a:defRPr sz="850" b="1">
                          <a:solidFill>
                            <a:srgbClr val="2264AC"/>
                          </a:solidFill>
                        </a:defRPr>
                      </a:pPr>
                      <a:r>
                        <a:t>GET</a:t>
                      </a:r>
                    </a:p>
                  </a:txBody>
                  <a:tcPr>
                    <a:solidFill>
                      <a:srgbClr val="FFFFFF"/>
                    </a:solidFill>
                  </a:tcPr>
                </a:tc>
                <a:tc>
                  <a:txBody>
                    <a:bodyPr/>
                    <a:lstStyle/>
                    <a:p>
                      <a:pPr>
                        <a:defRPr sz="850">
                          <a:solidFill>
                            <a:srgbClr val="1E293B"/>
                          </a:solidFill>
                        </a:defRPr>
                      </a:pPr>
                      <a:r>
                        <a:t>/api/events</a:t>
                      </a:r>
                    </a:p>
                  </a:txBody>
                  <a:tcPr>
                    <a:solidFill>
                      <a:srgbClr val="FFFFFF"/>
                    </a:solidFill>
                  </a:tcPr>
                </a:tc>
                <a:tc>
                  <a:txBody>
                    <a:bodyPr/>
                    <a:lstStyle/>
                    <a:p>
                      <a:pPr>
                        <a:defRPr sz="850">
                          <a:solidFill>
                            <a:srgbClr val="1E293B"/>
                          </a:solidFill>
                        </a:defRPr>
                      </a:pPr>
                      <a:r>
                        <a:t>Mở</a:t>
                      </a:r>
                    </a:p>
                  </a:txBody>
                  <a:tcPr>
                    <a:solidFill>
                      <a:srgbClr val="FFFFFF"/>
                    </a:solidFill>
                  </a:tcPr>
                </a:tc>
                <a:tc>
                  <a:txBody>
                    <a:bodyPr/>
                    <a:lstStyle/>
                    <a:p>
                      <a:pPr>
                        <a:defRPr sz="850">
                          <a:solidFill>
                            <a:srgbClr val="1E293B"/>
                          </a:solidFill>
                        </a:defRPr>
                      </a:pPr>
                      <a:r>
                        <a:t>(query phân trang)</a:t>
                      </a:r>
                    </a:p>
                  </a:txBody>
                  <a:tcPr>
                    <a:solidFill>
                      <a:srgbClr val="FFFFFF"/>
                    </a:solidFill>
                  </a:tcPr>
                </a:tc>
                <a:tc>
                  <a:txBody>
                    <a:bodyPr/>
                    <a:lstStyle/>
                    <a:p>
                      <a:pPr>
                        <a:defRPr sz="850">
                          <a:solidFill>
                            <a:srgbClr val="1E293B"/>
                          </a:solidFill>
                        </a:defRPr>
                      </a:pPr>
                      <a:r>
                        <a:t>200 + Items</a:t>
                      </a:r>
                    </a:p>
                  </a:txBody>
                  <a:tcPr>
                    <a:solidFill>
                      <a:srgbClr val="FFFFFF"/>
                    </a:solidFill>
                  </a:tcPr>
                </a:tc>
              </a:tr>
              <a:tr h="731520">
                <a:tc>
                  <a:txBody>
                    <a:bodyPr/>
                    <a:lstStyle/>
                    <a:p>
                      <a:pPr>
                        <a:defRPr sz="850" b="1">
                          <a:solidFill>
                            <a:srgbClr val="2264AC"/>
                          </a:solidFill>
                        </a:defRPr>
                      </a:pPr>
                      <a:r>
                        <a:t>GET</a:t>
                      </a:r>
                    </a:p>
                  </a:txBody>
                  <a:tcPr>
                    <a:solidFill>
                      <a:srgbClr val="FFFFFF"/>
                    </a:solidFill>
                  </a:tcPr>
                </a:tc>
                <a:tc>
                  <a:txBody>
                    <a:bodyPr/>
                    <a:lstStyle/>
                    <a:p>
                      <a:pPr>
                        <a:defRPr sz="850">
                          <a:solidFill>
                            <a:srgbClr val="1E293B"/>
                          </a:solidFill>
                        </a:defRPr>
                      </a:pPr>
                      <a:r>
                        <a:t>/api/events/{id}</a:t>
                      </a:r>
                    </a:p>
                  </a:txBody>
                  <a:tcPr>
                    <a:solidFill>
                      <a:srgbClr val="FFFFFF"/>
                    </a:solidFill>
                  </a:tcPr>
                </a:tc>
                <a:tc>
                  <a:txBody>
                    <a:bodyPr/>
                    <a:lstStyle/>
                    <a:p>
                      <a:pPr>
                        <a:defRPr sz="850">
                          <a:solidFill>
                            <a:srgbClr val="1E293B"/>
                          </a:solidFill>
                        </a:defRPr>
                      </a:pPr>
                      <a:r>
                        <a:t>Mở</a:t>
                      </a:r>
                    </a:p>
                  </a:txBody>
                  <a:tcPr>
                    <a:solidFill>
                      <a:srgbClr val="FFFFFF"/>
                    </a:solidFill>
                  </a:tcPr>
                </a:tc>
                <a:tc>
                  <a:txBody>
                    <a:bodyPr/>
                    <a:lstStyle/>
                    <a:p>
                      <a:pPr>
                        <a:defRPr sz="850">
                          <a:solidFill>
                            <a:srgbClr val="1E293B"/>
                          </a:solidFill>
                        </a:defRPr>
                      </a:pPr>
                      <a:r>
                        <a:t>id trên URL</a:t>
                      </a:r>
                    </a:p>
                  </a:txBody>
                  <a:tcPr>
                    <a:solidFill>
                      <a:srgbClr val="FFFFFF"/>
                    </a:solidFill>
                  </a:tcPr>
                </a:tc>
                <a:tc>
                  <a:txBody>
                    <a:bodyPr/>
                    <a:lstStyle/>
                    <a:p>
                      <a:pPr>
                        <a:defRPr sz="850">
                          <a:solidFill>
                            <a:srgbClr val="1E293B"/>
                          </a:solidFill>
                        </a:defRPr>
                      </a:pPr>
                      <a:r>
                        <a:t>200 / 404</a:t>
                      </a:r>
                    </a:p>
                  </a:txBody>
                  <a:tcPr>
                    <a:solidFill>
                      <a:srgbClr val="FFFFFF"/>
                    </a:solidFill>
                  </a:tcPr>
                </a:tc>
              </a:tr>
              <a:tr h="731520">
                <a:tc>
                  <a:txBody>
                    <a:bodyPr/>
                    <a:lstStyle/>
                    <a:p>
                      <a:pPr>
                        <a:defRPr sz="850" b="1">
                          <a:solidFill>
                            <a:srgbClr val="16A34A"/>
                          </a:solidFill>
                        </a:defRPr>
                      </a:pPr>
                      <a:r>
                        <a:t>POST</a:t>
                      </a:r>
                    </a:p>
                  </a:txBody>
                  <a:tcPr>
                    <a:solidFill>
                      <a:srgbClr val="FFFFFF"/>
                    </a:solidFill>
                  </a:tcPr>
                </a:tc>
                <a:tc>
                  <a:txBody>
                    <a:bodyPr/>
                    <a:lstStyle/>
                    <a:p>
                      <a:pPr>
                        <a:defRPr sz="850">
                          <a:solidFill>
                            <a:srgbClr val="1E293B"/>
                          </a:solidFill>
                        </a:defRPr>
                      </a:pPr>
                      <a:r>
                        <a:t>/api/events</a:t>
                      </a:r>
                    </a:p>
                  </a:txBody>
                  <a:tcPr>
                    <a:solidFill>
                      <a:srgbClr val="FFFFFF"/>
                    </a:solidFill>
                  </a:tcPr>
                </a:tc>
                <a:tc>
                  <a:txBody>
                    <a:bodyPr/>
                    <a:lstStyle/>
                    <a:p>
                      <a:pPr>
                        <a:defRPr sz="850">
                          <a:solidFill>
                            <a:srgbClr val="1E293B"/>
                          </a:solidFill>
                        </a:defRPr>
                      </a:pPr>
                      <a:r>
                        <a:t>Admin/BCN</a:t>
                      </a:r>
                    </a:p>
                  </a:txBody>
                  <a:tcPr>
                    <a:solidFill>
                      <a:srgbClr val="FFFFFF"/>
                    </a:solidFill>
                  </a:tcPr>
                </a:tc>
                <a:tc>
                  <a:txBody>
                    <a:bodyPr/>
                    <a:lstStyle/>
                    <a:p>
                      <a:pPr>
                        <a:defRPr sz="850">
                          <a:solidFill>
                            <a:srgbClr val="1E293B"/>
                          </a:solidFill>
                        </a:defRPr>
                      </a:pPr>
                      <a:r>
                        <a:t>title, time, location</a:t>
                      </a:r>
                    </a:p>
                  </a:txBody>
                  <a:tcPr>
                    <a:solidFill>
                      <a:srgbClr val="FFFFFF"/>
                    </a:solidFill>
                  </a:tcPr>
                </a:tc>
                <a:tc>
                  <a:txBody>
                    <a:bodyPr/>
                    <a:lstStyle/>
                    <a:p>
                      <a:pPr>
                        <a:defRPr sz="850">
                          <a:solidFill>
                            <a:srgbClr val="1E293B"/>
                          </a:solidFill>
                        </a:defRPr>
                      </a:pPr>
                      <a:r>
                        <a:t>201 Created</a:t>
                      </a:r>
                    </a:p>
                  </a:txBody>
                  <a:tcPr>
                    <a:solidFill>
                      <a:srgbClr val="FFFFFF"/>
                    </a:solidFill>
                  </a:tcPr>
                </a:tc>
              </a:tr>
              <a:tr h="731520">
                <a:tc>
                  <a:txBody>
                    <a:bodyPr/>
                    <a:lstStyle/>
                    <a:p>
                      <a:pPr>
                        <a:defRPr sz="850" b="1">
                          <a:solidFill>
                            <a:srgbClr val="16A34A"/>
                          </a:solidFill>
                        </a:defRPr>
                      </a:pPr>
                      <a:r>
                        <a:t>POST</a:t>
                      </a:r>
                    </a:p>
                  </a:txBody>
                  <a:tcPr>
                    <a:solidFill>
                      <a:srgbClr val="FFFFFF"/>
                    </a:solidFill>
                  </a:tcPr>
                </a:tc>
                <a:tc>
                  <a:txBody>
                    <a:bodyPr/>
                    <a:lstStyle/>
                    <a:p>
                      <a:pPr>
                        <a:defRPr sz="850">
                          <a:solidFill>
                            <a:srgbClr val="1E293B"/>
                          </a:solidFill>
                        </a:defRPr>
                      </a:pPr>
                      <a:r>
                        <a:t>/api/events/{id}/register</a:t>
                      </a:r>
                    </a:p>
                  </a:txBody>
                  <a:tcPr>
                    <a:solidFill>
                      <a:srgbClr val="FFFFFF"/>
                    </a:solidFill>
                  </a:tcPr>
                </a:tc>
                <a:tc>
                  <a:txBody>
                    <a:bodyPr/>
                    <a:lstStyle/>
                    <a:p>
                      <a:pPr>
                        <a:defRPr sz="850">
                          <a:solidFill>
                            <a:srgbClr val="1E293B"/>
                          </a:solidFill>
                        </a:defRPr>
                      </a:pPr>
                      <a:r>
                        <a:t>Student</a:t>
                      </a:r>
                    </a:p>
                  </a:txBody>
                  <a:tcPr>
                    <a:solidFill>
                      <a:srgbClr val="FFFFFF"/>
                    </a:solidFill>
                  </a:tcPr>
                </a:tc>
                <a:tc>
                  <a:txBody>
                    <a:bodyPr/>
                    <a:lstStyle/>
                    <a:p>
                      <a:pPr>
                        <a:defRPr sz="850">
                          <a:solidFill>
                            <a:srgbClr val="1E293B"/>
                          </a:solidFill>
                        </a:defRPr>
                      </a:pPr>
                      <a:r>
                        <a:t>Header Bearer Token</a:t>
                      </a:r>
                    </a:p>
                  </a:txBody>
                  <a:tcPr>
                    <a:solidFill>
                      <a:srgbClr val="FFFFFF"/>
                    </a:solidFill>
                  </a:tcPr>
                </a:tc>
                <a:tc>
                  <a:txBody>
                    <a:bodyPr/>
                    <a:lstStyle/>
                    <a:p>
                      <a:pPr>
                        <a:defRPr sz="850">
                          <a:solidFill>
                            <a:srgbClr val="1E293B"/>
                          </a:solidFill>
                        </a:defRPr>
                      </a:pPr>
                      <a:r>
                        <a:t>200 OK / 400</a:t>
                      </a:r>
                    </a:p>
                  </a:txBody>
                  <a:tcPr>
                    <a:solidFill>
                      <a:srgbClr val="FFFFFF"/>
                    </a:solidFill>
                  </a:tcPr>
                </a:tc>
              </a:tr>
            </a:tbl>
          </a:graphicData>
        </a:graphic>
      </p:graphicFrame>
      <p:sp>
        <p:nvSpPr>
          <p:cNvPr id="12" name="Rectangle 11"/>
          <p:cNvSpPr/>
          <p:nvPr/>
        </p:nvSpPr>
        <p:spPr>
          <a:xfrm>
            <a:off x="731520" y="5897880"/>
            <a:ext cx="10728655" cy="502920"/>
          </a:xfrm>
          <a:prstGeom prst="rect">
            <a:avLst/>
          </a:prstGeom>
          <a:solidFill>
            <a:srgbClr val="F0FDF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925312"/>
            <a:ext cx="10515600" cy="457200"/>
          </a:xfrm>
          <a:prstGeom prst="rect">
            <a:avLst/>
          </a:prstGeom>
          <a:noFill/>
        </p:spPr>
        <p:txBody>
          <a:bodyPr wrap="none">
            <a:spAutoFit/>
          </a:bodyPr>
          <a:lstStyle/>
          <a:p>
            <a:pPr>
              <a:defRPr sz="950" b="1">
                <a:solidFill>
                  <a:srgbClr val="0F172A"/>
                </a:solidFill>
              </a:defRPr>
            </a:pPr>
            <a:r>
              <a:t>📌 Tên trường JSON tuân thủ tuyệt đối chuẩn camelCase (id, title, location, totalCount, items). Khớp 100% giữa ASP.NET Core và cả 3 Client.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08. CHU TRÌNH REQUEST</a:t>
            </a:r>
          </a:p>
          <a:p>
            <a:pPr>
              <a:defRPr sz="1900" b="1">
                <a:solidFill>
                  <a:srgbClr val="0F172A"/>
                </a:solidFill>
                <a:latin typeface="Segoe UI"/>
              </a:defRPr>
            </a:pPr>
            <a:r>
              <a:t>SƠ ĐỒ CHU TRÌNH 6 CHẶNG CỦA MỘT YÊU CẦU: GET /api/events</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Hồ Đoàng Nguyên Khang | Slide 9/16</a:t>
            </a:r>
          </a:p>
        </p:txBody>
      </p:sp>
      <p:sp>
        <p:nvSpPr>
          <p:cNvPr id="10" name="Rounded Rectangle 9"/>
          <p:cNvSpPr/>
          <p:nvPr/>
        </p:nvSpPr>
        <p:spPr>
          <a:xfrm>
            <a:off x="731520" y="1234440"/>
            <a:ext cx="3291840" cy="219456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1307592"/>
            <a:ext cx="3145536" cy="2048256"/>
          </a:xfrm>
          <a:prstGeom prst="rect">
            <a:avLst/>
          </a:prstGeom>
          <a:noFill/>
        </p:spPr>
        <p:txBody>
          <a:bodyPr wrap="square">
            <a:spAutoFit/>
          </a:bodyPr>
          <a:lstStyle/>
          <a:p>
            <a:pPr>
              <a:defRPr sz="950" b="1">
                <a:solidFill>
                  <a:srgbClr val="2264AC"/>
                </a:solidFill>
              </a:defRPr>
            </a:pPr>
            <a:r>
              <a:t>CHẶNG 1: THAO TÁC NGƯỜI DÙNG</a:t>
            </a:r>
          </a:p>
          <a:p>
            <a:pPr>
              <a:defRPr sz="850">
                <a:solidFill>
                  <a:srgbClr val="64748B"/>
                </a:solidFill>
              </a:defRPr>
            </a:pPr>
            <a:r>
              <a:t>[Luồng Giao diện [UI Thread]]</a:t>
            </a:r>
          </a:p>
          <a:p>
            <a:pPr>
              <a:defRPr sz="800">
                <a:solidFill>
                  <a:srgbClr val="1E293B"/>
                </a:solidFill>
              </a:defRPr>
            </a:pPr>
            <a:r>
              <a:t>• Người dùng kích hoạt hành động trên màn hình</a:t>
            </a:r>
          </a:p>
          <a:p>
            <a:pPr>
              <a:defRPr sz="800">
                <a:solidFill>
                  <a:srgbClr val="1E293B"/>
                </a:solidFill>
              </a:defRPr>
            </a:pPr>
            <a:r>
              <a:t>• Web Next.js: Bấm tab 'Sự kiện' / onClick</a:t>
            </a:r>
          </a:p>
          <a:p>
            <a:pPr>
              <a:defRPr sz="800">
                <a:solidFill>
                  <a:srgbClr val="1E293B"/>
                </a:solidFill>
              </a:defRPr>
            </a:pPr>
            <a:r>
              <a:t>• WinForms C#: Sự kiện btnTaiDanhSach_Click</a:t>
            </a:r>
          </a:p>
          <a:p>
            <a:pPr>
              <a:defRPr sz="800">
                <a:solidFill>
                  <a:srgbClr val="1E293B"/>
                </a:solidFill>
              </a:defRPr>
            </a:pPr>
            <a:r>
              <a:t>• Android Java: onResume() hoặc vuốt swpRefresh</a:t>
            </a:r>
          </a:p>
        </p:txBody>
      </p:sp>
      <p:sp>
        <p:nvSpPr>
          <p:cNvPr id="12" name="Rounded Rectangle 11"/>
          <p:cNvSpPr/>
          <p:nvPr/>
        </p:nvSpPr>
        <p:spPr>
          <a:xfrm>
            <a:off x="4434840" y="1234440"/>
            <a:ext cx="3291840" cy="21945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7992" y="1307592"/>
            <a:ext cx="3145536" cy="2048256"/>
          </a:xfrm>
          <a:prstGeom prst="rect">
            <a:avLst/>
          </a:prstGeom>
          <a:noFill/>
        </p:spPr>
        <p:txBody>
          <a:bodyPr wrap="square">
            <a:spAutoFit/>
          </a:bodyPr>
          <a:lstStyle/>
          <a:p>
            <a:pPr>
              <a:defRPr sz="950" b="1">
                <a:solidFill>
                  <a:srgbClr val="22A6A1"/>
                </a:solidFill>
              </a:defRPr>
            </a:pPr>
            <a:r>
              <a:t>CHẶNG 2: CLIENT XỬ LÝ &amp; GỌI MẠNG</a:t>
            </a:r>
          </a:p>
          <a:p>
            <a:pPr>
              <a:defRPr sz="850">
                <a:solidFill>
                  <a:srgbClr val="64748B"/>
                </a:solidFill>
              </a:defRPr>
            </a:pPr>
            <a:r>
              <a:t>[Bất đồng bộ [Async Worker]]</a:t>
            </a:r>
          </a:p>
          <a:p>
            <a:pPr>
              <a:defRPr sz="800">
                <a:solidFill>
                  <a:srgbClr val="1E293B"/>
                </a:solidFill>
              </a:defRPr>
            </a:pPr>
            <a:r>
              <a:t>• Client chuẩn bị tham số &amp; tạo HTTP request</a:t>
            </a:r>
          </a:p>
          <a:p>
            <a:pPr>
              <a:defRPr sz="800">
                <a:solidFill>
                  <a:srgbClr val="1E293B"/>
                </a:solidFill>
              </a:defRPr>
            </a:pPr>
            <a:r>
              <a:t>• Web: useEffect() -&gt; api.getEvents(1, 10)</a:t>
            </a:r>
          </a:p>
          <a:p>
            <a:pPr>
              <a:defRPr sz="800">
                <a:solidFill>
                  <a:srgbClr val="1E293B"/>
                </a:solidFill>
              </a:defRPr>
            </a:pPr>
            <a:r>
              <a:t>• WinForms: TaiDanhSachAsync() -&gt; _http.GetAsync()</a:t>
            </a:r>
          </a:p>
          <a:p>
            <a:pPr>
              <a:defRPr sz="800">
                <a:solidFill>
                  <a:srgbClr val="1E293B"/>
                </a:solidFill>
              </a:defRPr>
            </a:pPr>
            <a:r>
              <a:t>• Android: loadEvents() -&gt; api.getEvents().enqueue()</a:t>
            </a:r>
          </a:p>
        </p:txBody>
      </p:sp>
      <p:sp>
        <p:nvSpPr>
          <p:cNvPr id="14" name="Rounded Rectangle 13"/>
          <p:cNvSpPr/>
          <p:nvPr/>
        </p:nvSpPr>
        <p:spPr>
          <a:xfrm>
            <a:off x="8138160" y="1234440"/>
            <a:ext cx="3322015" cy="219456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11312" y="1307592"/>
            <a:ext cx="3175711" cy="2048256"/>
          </a:xfrm>
          <a:prstGeom prst="rect">
            <a:avLst/>
          </a:prstGeom>
          <a:noFill/>
        </p:spPr>
        <p:txBody>
          <a:bodyPr wrap="square">
            <a:spAutoFit/>
          </a:bodyPr>
          <a:lstStyle/>
          <a:p>
            <a:pPr>
              <a:defRPr sz="950" b="1">
                <a:solidFill>
                  <a:srgbClr val="0F172A"/>
                </a:solidFill>
              </a:defRPr>
            </a:pPr>
            <a:r>
              <a:t>CHẶNG 3: TRUYỀN GÓI TIN QUA MẠNG</a:t>
            </a:r>
          </a:p>
          <a:p>
            <a:pPr>
              <a:defRPr sz="850">
                <a:solidFill>
                  <a:srgbClr val="64748B"/>
                </a:solidFill>
              </a:defRPr>
            </a:pPr>
            <a:r>
              <a:t>[Đường truyền Mạng [TCP/SSL]]</a:t>
            </a:r>
          </a:p>
          <a:p>
            <a:pPr>
              <a:defRPr sz="800">
                <a:solidFill>
                  <a:srgbClr val="1E293B"/>
                </a:solidFill>
              </a:defRPr>
            </a:pPr>
            <a:r>
              <a:t>• Gói tin HTTP chuẩn gửi qua mạng tới cổng 443:</a:t>
            </a:r>
          </a:p>
          <a:p>
            <a:pPr>
              <a:defRPr sz="800">
                <a:solidFill>
                  <a:srgbClr val="1E293B"/>
                </a:solidFill>
              </a:defRPr>
            </a:pPr>
            <a:r>
              <a:t>  GET /api/events?pageNumber=1&amp;pageSize=10</a:t>
            </a:r>
          </a:p>
          <a:p>
            <a:pPr>
              <a:defRPr sz="800">
                <a:solidFill>
                  <a:srgbClr val="1E293B"/>
                </a:solidFill>
              </a:defRPr>
            </a:pPr>
            <a:r>
              <a:t>• Host: visionary-api-gb51.onrender.com:443</a:t>
            </a:r>
          </a:p>
          <a:p>
            <a:pPr>
              <a:defRPr sz="800">
                <a:solidFill>
                  <a:srgbClr val="1E293B"/>
                </a:solidFill>
              </a:defRPr>
            </a:pPr>
            <a:r>
              <a:t>• Headers: Accept: application/json; charset=utf-8</a:t>
            </a:r>
          </a:p>
        </p:txBody>
      </p:sp>
      <p:sp>
        <p:nvSpPr>
          <p:cNvPr id="16" name="Rounded Rectangle 15"/>
          <p:cNvSpPr/>
          <p:nvPr/>
        </p:nvSpPr>
        <p:spPr>
          <a:xfrm>
            <a:off x="731520" y="3611880"/>
            <a:ext cx="3291840" cy="219456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685032"/>
            <a:ext cx="3145536" cy="2048256"/>
          </a:xfrm>
          <a:prstGeom prst="rect">
            <a:avLst/>
          </a:prstGeom>
          <a:noFill/>
        </p:spPr>
        <p:txBody>
          <a:bodyPr wrap="square">
            <a:spAutoFit/>
          </a:bodyPr>
          <a:lstStyle/>
          <a:p>
            <a:pPr>
              <a:defRPr sz="950" b="1">
                <a:solidFill>
                  <a:srgbClr val="2264AC"/>
                </a:solidFill>
              </a:defRPr>
            </a:pPr>
            <a:r>
              <a:t>CHẶNG 4: KESTREL SERVER &amp; DATABASE</a:t>
            </a:r>
          </a:p>
          <a:p>
            <a:pPr>
              <a:defRPr sz="850">
                <a:solidFill>
                  <a:srgbClr val="64748B"/>
                </a:solidFill>
              </a:defRPr>
            </a:pPr>
            <a:r>
              <a:t>[ASP.NET Core 8 &amp; PostgreSQL]</a:t>
            </a:r>
          </a:p>
          <a:p>
            <a:pPr>
              <a:defRPr sz="800">
                <a:solidFill>
                  <a:srgbClr val="1E293B"/>
                </a:solidFill>
              </a:defRPr>
            </a:pPr>
            <a:r>
              <a:t>• Middleware: UseCors -&gt; UseAuth -&gt; MapControllers</a:t>
            </a:r>
          </a:p>
          <a:p>
            <a:pPr>
              <a:defRPr sz="800">
                <a:solidFill>
                  <a:srgbClr val="1E293B"/>
                </a:solidFill>
              </a:defRPr>
            </a:pPr>
            <a:r>
              <a:t>• EventsController.GetEvents() nhận request</a:t>
            </a:r>
          </a:p>
          <a:p>
            <a:pPr>
              <a:defRPr sz="800">
                <a:solidFill>
                  <a:srgbClr val="1E293B"/>
                </a:solidFill>
              </a:defRPr>
            </a:pPr>
            <a:r>
              <a:t>• EventService truy vấn PostgreSQL qua EF Core:</a:t>
            </a:r>
          </a:p>
          <a:p>
            <a:pPr>
              <a:defRPr sz="800">
                <a:solidFill>
                  <a:srgbClr val="1E293B"/>
                </a:solidFill>
              </a:defRPr>
            </a:pPr>
            <a:r>
              <a:t>  _context.Events.AsNoTracking().ToPagedListAsync()</a:t>
            </a:r>
          </a:p>
        </p:txBody>
      </p:sp>
      <p:sp>
        <p:nvSpPr>
          <p:cNvPr id="18" name="Rounded Rectangle 17"/>
          <p:cNvSpPr/>
          <p:nvPr/>
        </p:nvSpPr>
        <p:spPr>
          <a:xfrm>
            <a:off x="4434840" y="3611880"/>
            <a:ext cx="3291840" cy="21945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7992" y="3685032"/>
            <a:ext cx="3145536" cy="2048256"/>
          </a:xfrm>
          <a:prstGeom prst="rect">
            <a:avLst/>
          </a:prstGeom>
          <a:noFill/>
        </p:spPr>
        <p:txBody>
          <a:bodyPr wrap="square">
            <a:spAutoFit/>
          </a:bodyPr>
          <a:lstStyle/>
          <a:p>
            <a:pPr>
              <a:defRPr sz="950" b="1">
                <a:solidFill>
                  <a:srgbClr val="22A6A1"/>
                </a:solidFill>
              </a:defRPr>
            </a:pPr>
            <a:r>
              <a:t>CHẶNG 5: ĐÓNG GÓI PHẢN HỒI JSON</a:t>
            </a:r>
          </a:p>
          <a:p>
            <a:pPr>
              <a:defRPr sz="850">
                <a:solidFill>
                  <a:srgbClr val="64748B"/>
                </a:solidFill>
              </a:defRPr>
            </a:pPr>
            <a:r>
              <a:t>[Tuần tự hóa [System.Text.Json]]</a:t>
            </a:r>
          </a:p>
          <a:p>
            <a:pPr>
              <a:defRPr sz="800">
                <a:solidFill>
                  <a:srgbClr val="1E293B"/>
                </a:solidFill>
              </a:defRPr>
            </a:pPr>
            <a:r>
              <a:t>• Chuyển Entity -&gt; EventDto (ẩn trường nhạy cảm)</a:t>
            </a:r>
          </a:p>
          <a:p>
            <a:pPr>
              <a:defRPr sz="800">
                <a:solidFill>
                  <a:srgbClr val="1E293B"/>
                </a:solidFill>
              </a:defRPr>
            </a:pPr>
            <a:r>
              <a:t>• Đóng gói ApiResponse&lt;PagedResponse&lt;EventDto&gt;&gt;</a:t>
            </a:r>
          </a:p>
          <a:p>
            <a:pPr>
              <a:defRPr sz="800">
                <a:solidFill>
                  <a:srgbClr val="1E293B"/>
                </a:solidFill>
              </a:defRPr>
            </a:pPr>
            <a:r>
              <a:t>• Trả về HTTP 200 OK với body JSON chuẩn camelCase:</a:t>
            </a:r>
          </a:p>
          <a:p>
            <a:pPr>
              <a:defRPr sz="800">
                <a:solidFill>
                  <a:srgbClr val="1E293B"/>
                </a:solidFill>
              </a:defRPr>
            </a:pPr>
            <a:r>
              <a:t>  {"success": true, "data": {"items": [...], ...}}</a:t>
            </a:r>
          </a:p>
        </p:txBody>
      </p:sp>
      <p:sp>
        <p:nvSpPr>
          <p:cNvPr id="20" name="Rounded Rectangle 19"/>
          <p:cNvSpPr/>
          <p:nvPr/>
        </p:nvSpPr>
        <p:spPr>
          <a:xfrm>
            <a:off x="8138160" y="3611880"/>
            <a:ext cx="3322015" cy="219456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685032"/>
            <a:ext cx="3175711" cy="2048256"/>
          </a:xfrm>
          <a:prstGeom prst="rect">
            <a:avLst/>
          </a:prstGeom>
          <a:noFill/>
        </p:spPr>
        <p:txBody>
          <a:bodyPr wrap="square">
            <a:spAutoFit/>
          </a:bodyPr>
          <a:lstStyle/>
          <a:p>
            <a:pPr>
              <a:defRPr sz="950" b="1">
                <a:solidFill>
                  <a:srgbClr val="16A34A"/>
                </a:solidFill>
              </a:defRPr>
            </a:pPr>
            <a:r>
              <a:t>CHẶNG 6: NHẬN JSON &amp; CẬP NHẬT UI</a:t>
            </a:r>
          </a:p>
          <a:p>
            <a:pPr>
              <a:defRPr sz="850">
                <a:solidFill>
                  <a:srgbClr val="64748B"/>
                </a:solidFill>
              </a:defRPr>
            </a:pPr>
            <a:r>
              <a:t>[Luồng Giao diện [UI Thread]]</a:t>
            </a:r>
          </a:p>
          <a:p>
            <a:pPr>
              <a:defRPr sz="800">
                <a:solidFill>
                  <a:srgbClr val="1E293B"/>
                </a:solidFill>
              </a:defRPr>
            </a:pPr>
            <a:r>
              <a:t>• Client giải mã JSON và đưa về Main UI Thread:</a:t>
            </a:r>
          </a:p>
          <a:p>
            <a:pPr>
              <a:defRPr sz="800">
                <a:solidFill>
                  <a:srgbClr val="1E293B"/>
                </a:solidFill>
              </a:defRPr>
            </a:pPr>
            <a:r>
              <a:t>• Web: setEvents(data.items) -&gt; Virtual DOM render</a:t>
            </a:r>
          </a:p>
          <a:p>
            <a:pPr>
              <a:defRPr sz="800">
                <a:solidFill>
                  <a:srgbClr val="1E293B"/>
                </a:solidFill>
              </a:defRPr>
            </a:pPr>
            <a:r>
              <a:t>• WinForms: grdEvents.DataSource = items (UI)</a:t>
            </a:r>
          </a:p>
          <a:p>
            <a:pPr>
              <a:defRPr sz="800">
                <a:solidFill>
                  <a:srgbClr val="1E293B"/>
                </a:solidFill>
              </a:defRPr>
            </a:pPr>
            <a:r>
              <a:t>• Android: runOnUiThread -&gt; adapter.notifyDataSetChanged()</a:t>
            </a:r>
          </a:p>
        </p:txBody>
      </p:sp>
      <p:sp>
        <p:nvSpPr>
          <p:cNvPr id="22" name="Right Arrow 21"/>
          <p:cNvSpPr/>
          <p:nvPr/>
        </p:nvSpPr>
        <p:spPr>
          <a:xfrm>
            <a:off x="4069080" y="2148840"/>
            <a:ext cx="320040"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772400" y="2148840"/>
            <a:ext cx="320040"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069080" y="4526280"/>
            <a:ext cx="320040"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7772400" y="4526280"/>
            <a:ext cx="320040"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5925312"/>
            <a:ext cx="10728655" cy="411480"/>
          </a:xfrm>
          <a:prstGeom prst="rect">
            <a:avLst/>
          </a:prstGeom>
          <a:solidFill>
            <a:srgbClr val="F0FDF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952744"/>
            <a:ext cx="10515600" cy="365760"/>
          </a:xfrm>
          <a:prstGeom prst="rect">
            <a:avLst/>
          </a:prstGeom>
          <a:noFill/>
        </p:spPr>
        <p:txBody>
          <a:bodyPr wrap="none">
            <a:spAutoFit/>
          </a:bodyPr>
          <a:lstStyle/>
          <a:p>
            <a:pPr>
              <a:defRPr sz="950" b="1">
                <a:solidFill>
                  <a:srgbClr val="0F172A"/>
                </a:solidFill>
              </a:defRPr>
            </a:pPr>
            <a:r>
              <a:t>🎯 ĐIỂM CỐT LÕI: Cả 3 nền tảng đều đi qua đúng 6 chặng này, sử dụng chung hợp đồng API, chung DTO và chung nguồn cơ sở dữ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09. BẢO MẬT &amp; XÁC THỰC</a:t>
            </a:r>
          </a:p>
          <a:p>
            <a:pPr>
              <a:defRPr sz="1900" b="1">
                <a:solidFill>
                  <a:srgbClr val="0F172A"/>
                </a:solidFill>
                <a:latin typeface="Segoe UI"/>
              </a:defRPr>
            </a:pPr>
            <a:r>
              <a:t>SƠ ĐỒ VÒNG ĐỜI JWT, XÁC THỰC &amp; PHÂN BIỆT 401 VS 403</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Hồ Đoàng Nguyên Khang | Slide 10/16</a:t>
            </a:r>
          </a:p>
        </p:txBody>
      </p:sp>
      <p:sp>
        <p:nvSpPr>
          <p:cNvPr id="10" name="Rounded Rectangle 9"/>
          <p:cNvSpPr/>
          <p:nvPr/>
        </p:nvSpPr>
        <p:spPr>
          <a:xfrm>
            <a:off x="731520" y="1234440"/>
            <a:ext cx="1783080" cy="128016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261872"/>
            <a:ext cx="1709928" cy="1225296"/>
          </a:xfrm>
          <a:prstGeom prst="rect">
            <a:avLst/>
          </a:prstGeom>
          <a:noFill/>
        </p:spPr>
        <p:txBody>
          <a:bodyPr wrap="square">
            <a:spAutoFit/>
          </a:bodyPr>
          <a:lstStyle/>
          <a:p>
            <a:pPr algn="ctr">
              <a:defRPr sz="950" b="1">
                <a:solidFill>
                  <a:srgbClr val="2264AC"/>
                </a:solidFill>
              </a:defRPr>
            </a:pPr>
            <a:r>
              <a:t>1. Đăng nhập</a:t>
            </a:r>
          </a:p>
          <a:p>
            <a:pPr algn="ctr">
              <a:defRPr sz="800">
                <a:solidFill>
                  <a:srgbClr val="1E293B"/>
                </a:solidFill>
              </a:defRPr>
            </a:pPr>
            <a:r>
              <a:t>POST /api/auth/login</a:t>
            </a:r>
            <a:br/>
            <a:r>
              <a:t>Gửi username &amp; password</a:t>
            </a:r>
          </a:p>
        </p:txBody>
      </p:sp>
      <p:sp>
        <p:nvSpPr>
          <p:cNvPr id="12" name="Right Arrow 11"/>
          <p:cNvSpPr/>
          <p:nvPr/>
        </p:nvSpPr>
        <p:spPr>
          <a:xfrm>
            <a:off x="254203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71800" y="1234440"/>
            <a:ext cx="1783080" cy="12801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08376" y="1261872"/>
            <a:ext cx="1709928" cy="1225296"/>
          </a:xfrm>
          <a:prstGeom prst="rect">
            <a:avLst/>
          </a:prstGeom>
          <a:noFill/>
        </p:spPr>
        <p:txBody>
          <a:bodyPr wrap="square">
            <a:spAutoFit/>
          </a:bodyPr>
          <a:lstStyle/>
          <a:p>
            <a:pPr algn="ctr">
              <a:defRPr sz="950" b="1">
                <a:solidFill>
                  <a:srgbClr val="22A6A1"/>
                </a:solidFill>
              </a:defRPr>
            </a:pPr>
            <a:r>
              <a:t>2. Phát JWT Token</a:t>
            </a:r>
          </a:p>
          <a:p>
            <a:pPr algn="ctr">
              <a:defRPr sz="800">
                <a:solidFill>
                  <a:srgbClr val="1E293B"/>
                </a:solidFill>
              </a:defRPr>
            </a:pPr>
            <a:r>
              <a:t>Ký HMAC-SHA256</a:t>
            </a:r>
            <a:br/>
            <a:r>
              <a:t>Chứa claims UserId &amp; Role</a:t>
            </a:r>
          </a:p>
        </p:txBody>
      </p:sp>
      <p:sp>
        <p:nvSpPr>
          <p:cNvPr id="15" name="Right Arrow 14"/>
          <p:cNvSpPr/>
          <p:nvPr/>
        </p:nvSpPr>
        <p:spPr>
          <a:xfrm>
            <a:off x="478231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0" y="1234440"/>
            <a:ext cx="1783080" cy="1280160"/>
          </a:xfrm>
          <a:prstGeom prst="roundRect">
            <a:avLst/>
          </a:prstGeom>
          <a:solidFill>
            <a:srgbClr val="FFFFFF"/>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48656" y="1261872"/>
            <a:ext cx="1709928" cy="1225296"/>
          </a:xfrm>
          <a:prstGeom prst="rect">
            <a:avLst/>
          </a:prstGeom>
          <a:noFill/>
        </p:spPr>
        <p:txBody>
          <a:bodyPr wrap="square">
            <a:spAutoFit/>
          </a:bodyPr>
          <a:lstStyle/>
          <a:p>
            <a:pPr algn="ctr">
              <a:defRPr sz="950" b="1">
                <a:solidFill>
                  <a:srgbClr val="1E293B"/>
                </a:solidFill>
              </a:defRPr>
            </a:pPr>
            <a:r>
              <a:t>3. Lưu trữ Client</a:t>
            </a:r>
          </a:p>
          <a:p>
            <a:pPr algn="ctr">
              <a:defRPr sz="800">
                <a:solidFill>
                  <a:srgbClr val="1E293B"/>
                </a:solidFill>
              </a:defRPr>
            </a:pPr>
            <a:r>
              <a:t>Client Storage</a:t>
            </a:r>
            <a:br/>
            <a:r>
              <a:t>Web: LocalStorage</a:t>
            </a:r>
            <a:br/>
            <a:r>
              <a:t>Android: SharedPreferences</a:t>
            </a:r>
            <a:br/>
            <a:r>
              <a:t>WinForms: AppState</a:t>
            </a:r>
          </a:p>
        </p:txBody>
      </p:sp>
      <p:sp>
        <p:nvSpPr>
          <p:cNvPr id="18" name="Right Arrow 17"/>
          <p:cNvSpPr/>
          <p:nvPr/>
        </p:nvSpPr>
        <p:spPr>
          <a:xfrm>
            <a:off x="702259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52360" y="1234440"/>
            <a:ext cx="1783080" cy="128016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88936" y="1261872"/>
            <a:ext cx="1709928" cy="1225296"/>
          </a:xfrm>
          <a:prstGeom prst="rect">
            <a:avLst/>
          </a:prstGeom>
          <a:noFill/>
        </p:spPr>
        <p:txBody>
          <a:bodyPr wrap="square">
            <a:spAutoFit/>
          </a:bodyPr>
          <a:lstStyle/>
          <a:p>
            <a:pPr algn="ctr">
              <a:defRPr sz="950" b="1">
                <a:solidFill>
                  <a:srgbClr val="2264AC"/>
                </a:solidFill>
              </a:defRPr>
            </a:pPr>
            <a:r>
              <a:t>4. Gọi API cần Auth</a:t>
            </a:r>
          </a:p>
          <a:p>
            <a:pPr algn="ctr">
              <a:defRPr sz="800">
                <a:solidFill>
                  <a:srgbClr val="1E293B"/>
                </a:solidFill>
              </a:defRPr>
            </a:pPr>
            <a:r>
              <a:t>Bearer Header</a:t>
            </a:r>
            <a:br/>
            <a:r>
              <a:t>Gửi header:</a:t>
            </a:r>
            <a:br/>
            <a:r>
              <a:t>Authorization: Bearer &lt;token&gt;</a:t>
            </a:r>
          </a:p>
        </p:txBody>
      </p:sp>
      <p:sp>
        <p:nvSpPr>
          <p:cNvPr id="21" name="Right Arrow 20"/>
          <p:cNvSpPr/>
          <p:nvPr/>
        </p:nvSpPr>
        <p:spPr>
          <a:xfrm>
            <a:off x="9262872" y="1737360"/>
            <a:ext cx="402336" cy="201168"/>
          </a:xfrm>
          <a:prstGeom prst="rightArrow">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92640" y="1234440"/>
            <a:ext cx="1783080" cy="128016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29216" y="1261872"/>
            <a:ext cx="1709928" cy="1225296"/>
          </a:xfrm>
          <a:prstGeom prst="rect">
            <a:avLst/>
          </a:prstGeom>
          <a:noFill/>
        </p:spPr>
        <p:txBody>
          <a:bodyPr wrap="square">
            <a:spAutoFit/>
          </a:bodyPr>
          <a:lstStyle/>
          <a:p>
            <a:pPr algn="ctr">
              <a:defRPr sz="950" b="1">
                <a:solidFill>
                  <a:srgbClr val="DC2626"/>
                </a:solidFill>
              </a:defRPr>
            </a:pPr>
            <a:r>
              <a:t>5. Server Kiểm tra</a:t>
            </a:r>
          </a:p>
          <a:p>
            <a:pPr algn="ctr">
              <a:defRPr sz="800">
                <a:solidFill>
                  <a:srgbClr val="1E293B"/>
                </a:solidFill>
              </a:defRPr>
            </a:pPr>
            <a:r>
              <a:t>Middleware RBAC</a:t>
            </a:r>
            <a:br/>
            <a:r>
              <a:t>Giải mã token, kiểm tra role:</a:t>
            </a:r>
            <a:br/>
            <a:r>
              <a:t>• 401: Thiếu / Hết hạn</a:t>
            </a:r>
            <a:br/>
            <a:r>
              <a:t>• 403: Sai vai trò</a:t>
            </a:r>
          </a:p>
        </p:txBody>
      </p:sp>
      <p:pic>
        <p:nvPicPr>
          <p:cNvPr id="24" name="Picture 23" descr="13_401_response.png"/>
          <p:cNvPicPr>
            <a:picLocks noChangeAspect="1"/>
          </p:cNvPicPr>
          <p:nvPr/>
        </p:nvPicPr>
        <p:blipFill>
          <a:blip r:embed="rId4"/>
          <a:stretch>
            <a:fillRect/>
          </a:stretch>
        </p:blipFill>
        <p:spPr>
          <a:xfrm>
            <a:off x="731520" y="2651760"/>
            <a:ext cx="5212080" cy="3257550"/>
          </a:xfrm>
          <a:prstGeom prst="rect">
            <a:avLst/>
          </a:prstGeom>
        </p:spPr>
      </p:pic>
      <p:pic>
        <p:nvPicPr>
          <p:cNvPr id="25" name="Picture 24" descr="14_403_response.png"/>
          <p:cNvPicPr>
            <a:picLocks noChangeAspect="1"/>
          </p:cNvPicPr>
          <p:nvPr/>
        </p:nvPicPr>
        <p:blipFill>
          <a:blip r:embed="rId5"/>
          <a:stretch>
            <a:fillRect/>
          </a:stretch>
        </p:blipFill>
        <p:spPr>
          <a:xfrm>
            <a:off x="6217920" y="2651760"/>
            <a:ext cx="5242255" cy="3276409"/>
          </a:xfrm>
          <a:prstGeom prst="rect">
            <a:avLst/>
          </a:prstGeom>
        </p:spPr>
      </p:pic>
      <p:sp>
        <p:nvSpPr>
          <p:cNvPr id="26" name="Rectangle 25"/>
          <p:cNvSpPr/>
          <p:nvPr/>
        </p:nvSpPr>
        <p:spPr>
          <a:xfrm>
            <a:off x="731520" y="5925312"/>
            <a:ext cx="10728655" cy="411480"/>
          </a:xfrm>
          <a:prstGeom prst="rect">
            <a:avLst/>
          </a:prstGeom>
          <a:solidFill>
            <a:srgbClr val="EFF6FF"/>
          </a:solidFill>
          <a:ln>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952744"/>
            <a:ext cx="10515600" cy="365760"/>
          </a:xfrm>
          <a:prstGeom prst="rect">
            <a:avLst/>
          </a:prstGeom>
          <a:noFill/>
        </p:spPr>
        <p:txBody>
          <a:bodyPr wrap="none">
            <a:spAutoFit/>
          </a:bodyPr>
          <a:lstStyle/>
          <a:p>
            <a:pPr>
              <a:defRPr sz="900" b="1">
                <a:solidFill>
                  <a:srgbClr val="0F172A"/>
                </a:solidFill>
              </a:defRPr>
            </a:pPr>
            <a:r>
              <a:t>🔒 NGUYÊN TẮC: 401 Unauthorized (Chưa đăng nhập / Token hết hạn) khác hẳn 403 Forbidden (Đã đăng nhập nhưng không đủ quyền). Server tự đọc UserId từ Claims, tuyệt đối không tin tham số client gửi lên.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10. QUẢN LÝ DỮ LIỆU</a:t>
            </a:r>
          </a:p>
          <a:p>
            <a:pPr>
              <a:defRPr sz="1900" b="1">
                <a:solidFill>
                  <a:srgbClr val="0F172A"/>
                </a:solidFill>
                <a:latin typeface="Segoe UI"/>
              </a:defRPr>
            </a:pPr>
            <a:r>
              <a:t>JSON, DTO, PHÂN TRANG &amp; THIẾT KẾ CƠ SỞ DỮ LIỆU</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Hồ Đoàng Nguyên Khang | Slide 11/16</a:t>
            </a:r>
          </a:p>
        </p:txBody>
      </p:sp>
      <p:sp>
        <p:nvSpPr>
          <p:cNvPr id="10" name="Rectangle 9"/>
          <p:cNvSpPr/>
          <p:nvPr/>
        </p:nvSpPr>
        <p:spPr>
          <a:xfrm>
            <a:off x="731520" y="1234440"/>
            <a:ext cx="5212080" cy="2286000"/>
          </a:xfrm>
          <a:prstGeom prst="rect">
            <a:avLst/>
          </a:prstGeom>
          <a:solidFill>
            <a:srgbClr val="0F172A"/>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280160"/>
            <a:ext cx="5029200" cy="2194560"/>
          </a:xfrm>
          <a:prstGeom prst="rect">
            <a:avLst/>
          </a:prstGeom>
          <a:noFill/>
        </p:spPr>
        <p:txBody>
          <a:bodyPr wrap="square">
            <a:spAutoFit/>
          </a:bodyPr>
          <a:lstStyle/>
          <a:p>
            <a:pPr>
              <a:defRPr sz="950" b="1">
                <a:solidFill>
                  <a:srgbClr val="22A6A1"/>
                </a:solidFill>
              </a:defRPr>
            </a:pPr>
            <a:r>
              <a:t>// Phản hồi JSON thực tế (camelCase) từ GET /api/events:</a:t>
            </a:r>
          </a:p>
          <a:p>
            <a:pPr>
              <a:defRPr sz="850">
                <a:solidFill>
                  <a:srgbClr val="E2E8F0"/>
                </a:solidFill>
                <a:latin typeface="Consolas"/>
              </a:defRPr>
            </a:pPr>
            <a:r>
              <a:t>{</a:t>
            </a:r>
          </a:p>
          <a:p>
            <a:pPr>
              <a:defRPr sz="850">
                <a:solidFill>
                  <a:srgbClr val="E2E8F0"/>
                </a:solidFill>
                <a:latin typeface="Consolas"/>
              </a:defRPr>
            </a:pPr>
            <a:r>
              <a:t>  "success": true,</a:t>
            </a:r>
          </a:p>
          <a:p>
            <a:pPr>
              <a:defRPr sz="850">
                <a:solidFill>
                  <a:srgbClr val="E2E8F0"/>
                </a:solidFill>
                <a:latin typeface="Consolas"/>
              </a:defRPr>
            </a:pPr>
            <a:r>
              <a:t>  "data": {</a:t>
            </a:r>
          </a:p>
          <a:p>
            <a:pPr>
              <a:defRPr sz="850">
                <a:solidFill>
                  <a:srgbClr val="E2E8F0"/>
                </a:solidFill>
                <a:latin typeface="Consolas"/>
              </a:defRPr>
            </a:pPr>
            <a:r>
              <a:t>    "items": [{ "id": 1, "title": "Workshop: Git &amp; CI/CD", "category": "Tech" }],</a:t>
            </a:r>
          </a:p>
          <a:p>
            <a:pPr>
              <a:defRPr sz="850">
                <a:solidFill>
                  <a:srgbClr val="E2E8F0"/>
                </a:solidFill>
                <a:latin typeface="Consolas"/>
              </a:defRPr>
            </a:pPr>
            <a:r>
              <a:t>    "pageNumber": 1, "pageSize": 10, "totalCount": 24, "totalPages": 3</a:t>
            </a:r>
          </a:p>
          <a:p>
            <a:pPr>
              <a:defRPr sz="850">
                <a:solidFill>
                  <a:srgbClr val="E2E8F0"/>
                </a:solidFill>
                <a:latin typeface="Consolas"/>
              </a:defRPr>
            </a:pPr>
            <a:r>
              <a:t>  }</a:t>
            </a:r>
          </a:p>
          <a:p>
            <a:pPr>
              <a:defRPr sz="850">
                <a:solidFill>
                  <a:srgbClr val="E2E8F0"/>
                </a:solidFill>
                <a:latin typeface="Consolas"/>
              </a:defRPr>
            </a:pPr>
            <a:r>
              <a:t>}</a:t>
            </a:r>
          </a:p>
        </p:txBody>
      </p:sp>
      <p:sp>
        <p:nvSpPr>
          <p:cNvPr id="12" name="Rectangle 11"/>
          <p:cNvSpPr/>
          <p:nvPr/>
        </p:nvSpPr>
        <p:spPr>
          <a:xfrm>
            <a:off x="731520" y="3611880"/>
            <a:ext cx="5212080" cy="2194560"/>
          </a:xfrm>
          <a:prstGeom prst="rect">
            <a:avLst/>
          </a:prstGeom>
          <a:solidFill>
            <a:srgbClr val="0F172A"/>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57600"/>
            <a:ext cx="5029200" cy="2103120"/>
          </a:xfrm>
          <a:prstGeom prst="rect">
            <a:avLst/>
          </a:prstGeom>
          <a:noFill/>
        </p:spPr>
        <p:txBody>
          <a:bodyPr wrap="square">
            <a:spAutoFit/>
          </a:bodyPr>
          <a:lstStyle/>
          <a:p>
            <a:pPr>
              <a:defRPr sz="950" b="1">
                <a:solidFill>
                  <a:srgbClr val="2264AC"/>
                </a:solidFill>
              </a:defRPr>
            </a:pPr>
            <a:r>
              <a:t>// PagedResponse.cs – Vỏ bọc phân trang chuẩn C# (Mã nguồn thật):</a:t>
            </a:r>
          </a:p>
          <a:p>
            <a:pPr>
              <a:defRPr sz="850">
                <a:solidFill>
                  <a:srgbClr val="E2E8F0"/>
                </a:solidFill>
                <a:latin typeface="Consolas"/>
              </a:defRPr>
            </a:pPr>
            <a:r>
              <a:t>public class PagedResponse&lt;T&gt; {</a:t>
            </a:r>
          </a:p>
          <a:p>
            <a:pPr>
              <a:defRPr sz="850">
                <a:solidFill>
                  <a:srgbClr val="E2E8F0"/>
                </a:solidFill>
                <a:latin typeface="Consolas"/>
              </a:defRPr>
            </a:pPr>
            <a:r>
              <a:t>    public List&lt;T&gt; Items { get; set; } = new();</a:t>
            </a:r>
          </a:p>
          <a:p>
            <a:pPr>
              <a:defRPr sz="850">
                <a:solidFill>
                  <a:srgbClr val="E2E8F0"/>
                </a:solidFill>
                <a:latin typeface="Consolas"/>
              </a:defRPr>
            </a:pPr>
            <a:r>
              <a:t>    public int TotalCount { get; set; }</a:t>
            </a:r>
          </a:p>
          <a:p>
            <a:pPr>
              <a:defRPr sz="850">
                <a:solidFill>
                  <a:srgbClr val="E2E8F0"/>
                </a:solidFill>
                <a:latin typeface="Consolas"/>
              </a:defRPr>
            </a:pPr>
            <a:r>
              <a:t>    public int PageNumber { get; set; }</a:t>
            </a:r>
          </a:p>
          <a:p>
            <a:pPr>
              <a:defRPr sz="850">
                <a:solidFill>
                  <a:srgbClr val="E2E8F0"/>
                </a:solidFill>
                <a:latin typeface="Consolas"/>
              </a:defRPr>
            </a:pPr>
            <a:r>
              <a:t>    public int PageSize { get; set; }</a:t>
            </a:r>
          </a:p>
          <a:p>
            <a:pPr>
              <a:defRPr sz="850">
                <a:solidFill>
                  <a:srgbClr val="E2E8F0"/>
                </a:solidFill>
                <a:latin typeface="Consolas"/>
              </a:defRPr>
            </a:pPr>
            <a:r>
              <a:t>    public int TotalPages =&gt; (int)Math.Ceiling(TotalCount / (double)PageSize);</a:t>
            </a:r>
          </a:p>
          <a:p>
            <a:pPr>
              <a:defRPr sz="850">
                <a:solidFill>
                  <a:srgbClr val="E2E8F0"/>
                </a:solidFill>
                <a:latin typeface="Consolas"/>
              </a:defRPr>
            </a:pPr>
            <a:r>
              <a:t>    public bool HasNextPage =&gt; PageNumber &lt; TotalPages;</a:t>
            </a:r>
          </a:p>
          <a:p>
            <a:pPr>
              <a:defRPr sz="850">
                <a:solidFill>
                  <a:srgbClr val="E2E8F0"/>
                </a:solidFill>
                <a:latin typeface="Consolas"/>
              </a:defRPr>
            </a:pPr>
            <a:r>
              <a:t>}</a:t>
            </a:r>
          </a:p>
        </p:txBody>
      </p:sp>
      <p:sp>
        <p:nvSpPr>
          <p:cNvPr id="14" name="Rounded Rectangle 13"/>
          <p:cNvSpPr/>
          <p:nvPr/>
        </p:nvSpPr>
        <p:spPr>
          <a:xfrm>
            <a:off x="6217920" y="1234440"/>
            <a:ext cx="5242255" cy="2286000"/>
          </a:xfrm>
          <a:prstGeom prst="roundRect">
            <a:avLst/>
          </a:prstGeom>
          <a:solidFill>
            <a:srgbClr val="FFFFFF"/>
          </a:solidFill>
          <a:ln w="19050">
            <a:solidFill>
              <a:srgbClr val="2264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280160"/>
            <a:ext cx="5059375" cy="2194560"/>
          </a:xfrm>
          <a:prstGeom prst="rect">
            <a:avLst/>
          </a:prstGeom>
          <a:noFill/>
        </p:spPr>
        <p:txBody>
          <a:bodyPr wrap="square">
            <a:spAutoFit/>
          </a:bodyPr>
          <a:lstStyle/>
          <a:p>
            <a:pPr>
              <a:defRPr sz="1050" b="1">
                <a:solidFill>
                  <a:srgbClr val="2264AC"/>
                </a:solidFill>
              </a:defRPr>
            </a:pPr>
            <a:r>
              <a:t>🛡️ VAI TRÒ CỐT LÕI CỦA DTO TRONG HỆ THỐNG:</a:t>
            </a:r>
          </a:p>
          <a:p>
            <a:pPr>
              <a:defRPr sz="850">
                <a:solidFill>
                  <a:srgbClr val="1E293B"/>
                </a:solidFill>
              </a:defRPr>
            </a:pPr>
            <a:r>
              <a:t>• Không bao giờ trả Entity trực tiếp: Che giấu thông tin nhạy cảm như PasswordHash và trường kiểm toán nội bộ.</a:t>
            </a:r>
          </a:p>
          <a:p>
            <a:pPr>
              <a:defRPr sz="850">
                <a:solidFill>
                  <a:srgbClr val="1E293B"/>
                </a:solidFill>
              </a:defRPr>
            </a:pPr>
            <a:r>
              <a:t>• Chống đệ quy vòng lặp JSON (Cyclic Reference) giữa các bảng có quan hệ 1-N trong Entity Framework Core.</a:t>
            </a:r>
          </a:p>
          <a:p>
            <a:pPr>
              <a:defRPr sz="850">
                <a:solidFill>
                  <a:srgbClr val="1E293B"/>
                </a:solidFill>
              </a:defRPr>
            </a:pPr>
            <a:r>
              <a:t>• Tối ưu kích thước gói tin mạng (Payload Size), chỉ gửi những trường giao diện thực sự cần.</a:t>
            </a:r>
          </a:p>
        </p:txBody>
      </p:sp>
      <p:sp>
        <p:nvSpPr>
          <p:cNvPr id="16" name="Rounded Rectangle 15"/>
          <p:cNvSpPr/>
          <p:nvPr/>
        </p:nvSpPr>
        <p:spPr>
          <a:xfrm>
            <a:off x="6217920" y="3611880"/>
            <a:ext cx="5242255" cy="2194560"/>
          </a:xfrm>
          <a:prstGeom prst="round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3657600"/>
            <a:ext cx="5059375" cy="2103120"/>
          </a:xfrm>
          <a:prstGeom prst="rect">
            <a:avLst/>
          </a:prstGeom>
          <a:noFill/>
        </p:spPr>
        <p:txBody>
          <a:bodyPr wrap="square">
            <a:spAutoFit/>
          </a:bodyPr>
          <a:lstStyle/>
          <a:p>
            <a:pPr>
              <a:defRPr sz="1050" b="1">
                <a:solidFill>
                  <a:srgbClr val="22A6A1"/>
                </a:solidFill>
              </a:defRPr>
            </a:pPr>
            <a:r>
              <a:t>🗄️ THIẾT KẾ DATABASE &amp; TỐI ƯU EF CORE 8:</a:t>
            </a:r>
          </a:p>
          <a:p>
            <a:pPr>
              <a:defRPr sz="850">
                <a:solidFill>
                  <a:srgbClr val="1E293B"/>
                </a:solidFill>
              </a:defRPr>
            </a:pPr>
            <a:r>
              <a:t>• PostgreSQL 16 trên Supabase: Chuẩn ACID, hỗ trợ JSONB, Pooler cổng 5432 giúp phục vụ nhiều kết nối đồng thời.</a:t>
            </a:r>
          </a:p>
          <a:p>
            <a:pPr>
              <a:defRPr sz="850">
                <a:solidFill>
                  <a:srgbClr val="1E293B"/>
                </a:solidFill>
              </a:defRPr>
            </a:pPr>
            <a:r>
              <a:t>• Tối ưu AsNoTracking(): Sử dụng cho toàn bộ các API truy vấn đọc dữ liệu, tăng tốc độ phản hồi 30-40%.</a:t>
            </a:r>
          </a:p>
          <a:p>
            <a:pPr>
              <a:defRPr sz="850">
                <a:solidFill>
                  <a:srgbClr val="1E293B"/>
                </a:solidFill>
              </a:defRPr>
            </a:pPr>
            <a:r>
              <a:t>• Khóa ngoại (Foreign Keys): Ràng buộc toàn vẹn giữa Users, Roles, Events và Registrations, chống dữ liệu mồ côi.</a:t>
            </a:r>
          </a:p>
        </p:txBody>
      </p:sp>
      <p:sp>
        <p:nvSpPr>
          <p:cNvPr id="18" name="Rectangle 17"/>
          <p:cNvSpPr/>
          <p:nvPr/>
        </p:nvSpPr>
        <p:spPr>
          <a:xfrm>
            <a:off x="731520" y="5925312"/>
            <a:ext cx="10728655" cy="411480"/>
          </a:xfrm>
          <a:prstGeom prst="rect">
            <a:avLst/>
          </a:prstGeom>
          <a:solidFill>
            <a:srgbClr val="F0FDF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952744"/>
            <a:ext cx="10515600" cy="365760"/>
          </a:xfrm>
          <a:prstGeom prst="rect">
            <a:avLst/>
          </a:prstGeom>
          <a:noFill/>
        </p:spPr>
        <p:txBody>
          <a:bodyPr wrap="none">
            <a:spAutoFit/>
          </a:bodyPr>
          <a:lstStyle/>
          <a:p>
            <a:pPr>
              <a:defRPr sz="900" b="1">
                <a:solidFill>
                  <a:srgbClr val="0F172A"/>
                </a:solidFill>
              </a:defRPr>
            </a:pPr>
            <a:r>
              <a:t>🎯 NGUYÊN TẮC PHÂN TRANG: Luôn phân trang ở tầng Database qua LINQ .Skip().Take(). Giới hạn trần Math.Min(pageSize, 50) ngăn chặn client ép server quá tải.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11. ỨNG DỤNG DESKTOP</a:t>
            </a:r>
          </a:p>
          <a:p>
            <a:pPr>
              <a:defRPr sz="1900" b="1">
                <a:solidFill>
                  <a:srgbClr val="0F172A"/>
                </a:solidFill>
                <a:latin typeface="Segoe UI"/>
              </a:defRPr>
            </a:pPr>
            <a:r>
              <a:t>ỨNG DỤNG QUẢN TRỊ DESKTOP: WINDOWS FORMS C#</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Võ Ngọc Minh Đạt | Slide 12/16</a:t>
            </a:r>
          </a:p>
        </p:txBody>
      </p:sp>
      <p:pic>
        <p:nvPicPr>
          <p:cNvPr id="10" name="Picture 9" descr="08_winforms_dashboard.png"/>
          <p:cNvPicPr>
            <a:picLocks noChangeAspect="1"/>
          </p:cNvPicPr>
          <p:nvPr/>
        </p:nvPicPr>
        <p:blipFill>
          <a:blip r:embed="rId4"/>
          <a:stretch>
            <a:fillRect/>
          </a:stretch>
        </p:blipFill>
        <p:spPr>
          <a:xfrm>
            <a:off x="731520" y="1371600"/>
            <a:ext cx="4206240" cy="2628900"/>
          </a:xfrm>
          <a:prstGeom prst="rect">
            <a:avLst/>
          </a:prstGeom>
        </p:spPr>
      </p:pic>
      <p:graphicFrame>
        <p:nvGraphicFramePr>
          <p:cNvPr id="11" name="Table 10"/>
          <p:cNvGraphicFramePr>
            <a:graphicFrameLocks noGrp="1"/>
          </p:cNvGraphicFramePr>
          <p:nvPr/>
        </p:nvGraphicFramePr>
        <p:xfrm>
          <a:off x="5120640" y="1371600"/>
          <a:ext cx="6309360" cy="1828800"/>
        </p:xfrm>
        <a:graphic>
          <a:graphicData uri="http://schemas.openxmlformats.org/drawingml/2006/table">
            <a:tbl>
              <a:tblPr firstRow="1" bandRow="1">
                <a:tableStyleId>{5C22544A-7EE6-4342-B048-85BDC9FD1C3A}</a:tableStyleId>
              </a:tblPr>
              <a:tblGrid>
                <a:gridCol w="1828800"/>
                <a:gridCol w="1645920"/>
                <a:gridCol w="2834640"/>
              </a:tblGrid>
              <a:tr h="365760">
                <a:tc>
                  <a:txBody>
                    <a:bodyPr/>
                    <a:lstStyle/>
                    <a:p>
                      <a:pPr>
                        <a:defRPr sz="950" b="1">
                          <a:solidFill>
                            <a:srgbClr val="FFFFFF"/>
                          </a:solidFill>
                        </a:defRPr>
                      </a:pPr>
                      <a:r>
                        <a:t>Tên điều khiển</a:t>
                      </a:r>
                    </a:p>
                  </a:txBody>
                  <a:tcPr>
                    <a:solidFill>
                      <a:srgbClr val="22A6A1"/>
                    </a:solidFill>
                  </a:tcPr>
                </a:tc>
                <a:tc>
                  <a:txBody>
                    <a:bodyPr/>
                    <a:lstStyle/>
                    <a:p>
                      <a:pPr>
                        <a:defRPr sz="950" b="1">
                          <a:solidFill>
                            <a:srgbClr val="FFFFFF"/>
                          </a:solidFill>
                        </a:defRPr>
                      </a:pPr>
                      <a:r>
                        <a:t>Loại điều khiển</a:t>
                      </a:r>
                    </a:p>
                  </a:txBody>
                  <a:tcPr>
                    <a:solidFill>
                      <a:srgbClr val="22A6A1"/>
                    </a:solidFill>
                  </a:tcPr>
                </a:tc>
                <a:tc>
                  <a:txBody>
                    <a:bodyPr/>
                    <a:lstStyle/>
                    <a:p>
                      <a:pPr>
                        <a:defRPr sz="950" b="1">
                          <a:solidFill>
                            <a:srgbClr val="FFFFFF"/>
                          </a:solidFill>
                        </a:defRPr>
                      </a:pPr>
                      <a:r>
                        <a:t>Vai trò nghiệp vụ</a:t>
                      </a:r>
                    </a:p>
                  </a:txBody>
                  <a:tcPr>
                    <a:solidFill>
                      <a:srgbClr val="22A6A1"/>
                    </a:solidFill>
                  </a:tcPr>
                </a:tc>
              </a:tr>
              <a:tr h="365760">
                <a:tc>
                  <a:txBody>
                    <a:bodyPr/>
                    <a:lstStyle/>
                    <a:p>
                      <a:pPr>
                        <a:defRPr sz="900">
                          <a:solidFill>
                            <a:srgbClr val="1E293B"/>
                          </a:solidFill>
                        </a:defRPr>
                      </a:pPr>
                      <a:r>
                        <a:t>grdDangKy</a:t>
                      </a:r>
                    </a:p>
                  </a:txBody>
                  <a:tcPr>
                    <a:solidFill>
                      <a:srgbClr val="FFFFFF"/>
                    </a:solidFill>
                  </a:tcPr>
                </a:tc>
                <a:tc>
                  <a:txBody>
                    <a:bodyPr/>
                    <a:lstStyle/>
                    <a:p>
                      <a:pPr>
                        <a:defRPr sz="900">
                          <a:solidFill>
                            <a:srgbClr val="1E293B"/>
                          </a:solidFill>
                        </a:defRPr>
                      </a:pPr>
                      <a:r>
                        <a:t>DataGridView</a:t>
                      </a:r>
                    </a:p>
                  </a:txBody>
                  <a:tcPr>
                    <a:solidFill>
                      <a:srgbClr val="FFFFFF"/>
                    </a:solidFill>
                  </a:tcPr>
                </a:tc>
                <a:tc>
                  <a:txBody>
                    <a:bodyPr/>
                    <a:lstStyle/>
                    <a:p>
                      <a:pPr>
                        <a:defRPr sz="900">
                          <a:solidFill>
                            <a:srgbClr val="1E293B"/>
                          </a:solidFill>
                        </a:defRPr>
                      </a:pPr>
                      <a:r>
                        <a:t>Hiển thị bảng danh sách sinh viên đăng ký sự kiện</a:t>
                      </a:r>
                    </a:p>
                  </a:txBody>
                  <a:tcPr>
                    <a:solidFill>
                      <a:srgbClr val="FFFFFF"/>
                    </a:solidFill>
                  </a:tcPr>
                </a:tc>
              </a:tr>
              <a:tr h="365760">
                <a:tc>
                  <a:txBody>
                    <a:bodyPr/>
                    <a:lstStyle/>
                    <a:p>
                      <a:pPr>
                        <a:defRPr sz="900">
                          <a:solidFill>
                            <a:srgbClr val="1E293B"/>
                          </a:solidFill>
                        </a:defRPr>
                      </a:pPr>
                      <a:r>
                        <a:t>btnDiemDanh</a:t>
                      </a:r>
                    </a:p>
                  </a:txBody>
                  <a:tcPr>
                    <a:solidFill>
                      <a:srgbClr val="FFFFFF"/>
                    </a:solidFill>
                  </a:tcPr>
                </a:tc>
                <a:tc>
                  <a:txBody>
                    <a:bodyPr/>
                    <a:lstStyle/>
                    <a:p>
                      <a:pPr>
                        <a:defRPr sz="900">
                          <a:solidFill>
                            <a:srgbClr val="1E293B"/>
                          </a:solidFill>
                        </a:defRPr>
                      </a:pPr>
                      <a:r>
                        <a:t>Button</a:t>
                      </a:r>
                    </a:p>
                  </a:txBody>
                  <a:tcPr>
                    <a:solidFill>
                      <a:srgbClr val="FFFFFF"/>
                    </a:solidFill>
                  </a:tcPr>
                </a:tc>
                <a:tc>
                  <a:txBody>
                    <a:bodyPr/>
                    <a:lstStyle/>
                    <a:p>
                      <a:pPr>
                        <a:defRPr sz="900">
                          <a:solidFill>
                            <a:srgbClr val="1E293B"/>
                          </a:solidFill>
                        </a:defRPr>
                      </a:pPr>
                      <a:r>
                        <a:t>Xác nhận điểm danh sinh viên tham gia sự kiện</a:t>
                      </a:r>
                    </a:p>
                  </a:txBody>
                  <a:tcPr>
                    <a:solidFill>
                      <a:srgbClr val="FFFFFF"/>
                    </a:solidFill>
                  </a:tcPr>
                </a:tc>
              </a:tr>
              <a:tr h="365760">
                <a:tc>
                  <a:txBody>
                    <a:bodyPr/>
                    <a:lstStyle/>
                    <a:p>
                      <a:pPr>
                        <a:defRPr sz="900">
                          <a:solidFill>
                            <a:srgbClr val="1E293B"/>
                          </a:solidFill>
                        </a:defRPr>
                      </a:pPr>
                      <a:r>
                        <a:t>cboSuKien</a:t>
                      </a:r>
                    </a:p>
                  </a:txBody>
                  <a:tcPr>
                    <a:solidFill>
                      <a:srgbClr val="FFFFFF"/>
                    </a:solidFill>
                  </a:tcPr>
                </a:tc>
                <a:tc>
                  <a:txBody>
                    <a:bodyPr/>
                    <a:lstStyle/>
                    <a:p>
                      <a:pPr>
                        <a:defRPr sz="900">
                          <a:solidFill>
                            <a:srgbClr val="1E293B"/>
                          </a:solidFill>
                        </a:defRPr>
                      </a:pPr>
                      <a:r>
                        <a:t>ComboBox</a:t>
                      </a:r>
                    </a:p>
                  </a:txBody>
                  <a:tcPr>
                    <a:solidFill>
                      <a:srgbClr val="FFFFFF"/>
                    </a:solidFill>
                  </a:tcPr>
                </a:tc>
                <a:tc>
                  <a:txBody>
                    <a:bodyPr/>
                    <a:lstStyle/>
                    <a:p>
                      <a:pPr>
                        <a:defRPr sz="900">
                          <a:solidFill>
                            <a:srgbClr val="1E293B"/>
                          </a:solidFill>
                        </a:defRPr>
                      </a:pPr>
                      <a:r>
                        <a:t>Chọn sự kiện cần xem danh sách đăng ký</a:t>
                      </a:r>
                    </a:p>
                  </a:txBody>
                  <a:tcPr>
                    <a:solidFill>
                      <a:srgbClr val="FFFFFF"/>
                    </a:solidFill>
                  </a:tcPr>
                </a:tc>
              </a:tr>
              <a:tr h="365760">
                <a:tc>
                  <a:txBody>
                    <a:bodyPr/>
                    <a:lstStyle/>
                    <a:p>
                      <a:pPr>
                        <a:defRPr sz="900">
                          <a:solidFill>
                            <a:srgbClr val="1E293B"/>
                          </a:solidFill>
                        </a:defRPr>
                      </a:pPr>
                      <a:r>
                        <a:t>lblTongSo</a:t>
                      </a:r>
                    </a:p>
                  </a:txBody>
                  <a:tcPr>
                    <a:solidFill>
                      <a:srgbClr val="FFFFFF"/>
                    </a:solidFill>
                  </a:tcPr>
                </a:tc>
                <a:tc>
                  <a:txBody>
                    <a:bodyPr/>
                    <a:lstStyle/>
                    <a:p>
                      <a:pPr>
                        <a:defRPr sz="900">
                          <a:solidFill>
                            <a:srgbClr val="1E293B"/>
                          </a:solidFill>
                        </a:defRPr>
                      </a:pPr>
                      <a:r>
                        <a:t>Label</a:t>
                      </a:r>
                    </a:p>
                  </a:txBody>
                  <a:tcPr>
                    <a:solidFill>
                      <a:srgbClr val="FFFFFF"/>
                    </a:solidFill>
                  </a:tcPr>
                </a:tc>
                <a:tc>
                  <a:txBody>
                    <a:bodyPr/>
                    <a:lstStyle/>
                    <a:p>
                      <a:pPr>
                        <a:defRPr sz="900">
                          <a:solidFill>
                            <a:srgbClr val="1E293B"/>
                          </a:solidFill>
                        </a:defRPr>
                      </a:pPr>
                      <a:r>
                        <a:t>Hiển thị tổng số lượt đăng ký từ server trả về</a:t>
                      </a:r>
                    </a:p>
                  </a:txBody>
                  <a:tcPr>
                    <a:solidFill>
                      <a:srgbClr val="FFFFFF"/>
                    </a:solidFill>
                  </a:tcPr>
                </a:tc>
              </a:tr>
            </a:tbl>
          </a:graphicData>
        </a:graphic>
      </p:graphicFrame>
      <p:sp>
        <p:nvSpPr>
          <p:cNvPr id="12" name="Rectangle 11"/>
          <p:cNvSpPr/>
          <p:nvPr/>
        </p:nvSpPr>
        <p:spPr>
          <a:xfrm>
            <a:off x="5120640" y="3383280"/>
            <a:ext cx="6309360" cy="2468880"/>
          </a:xfrm>
          <a:prstGeom prst="rect">
            <a:avLst/>
          </a:prstGeom>
          <a:solidFill>
            <a:srgbClr val="0F172A"/>
          </a:solidFill>
          <a:ln>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3429000"/>
            <a:ext cx="6126480" cy="2377440"/>
          </a:xfrm>
          <a:prstGeom prst="rect">
            <a:avLst/>
          </a:prstGeom>
          <a:noFill/>
        </p:spPr>
        <p:txBody>
          <a:bodyPr wrap="square">
            <a:spAutoFit/>
          </a:bodyPr>
          <a:lstStyle/>
          <a:p>
            <a:pPr>
              <a:defRPr sz="950" b="1">
                <a:solidFill>
                  <a:srgbClr val="22A6A1"/>
                </a:solidFill>
              </a:defRPr>
            </a:pPr>
            <a:r>
              <a:t>// ApiService.cs – Tái sử dụng HttpClient &amp; async/await (Mã nguồn thật):</a:t>
            </a:r>
          </a:p>
          <a:p>
            <a:pPr>
              <a:defRPr sz="850">
                <a:solidFill>
                  <a:srgbClr val="E2E8F0"/>
                </a:solidFill>
                <a:latin typeface="Consolas"/>
              </a:defRPr>
            </a:pPr>
            <a:r>
              <a:t>public class ApiService {</a:t>
            </a:r>
          </a:p>
          <a:p>
            <a:pPr>
              <a:defRPr sz="850">
                <a:solidFill>
                  <a:srgbClr val="E2E8F0"/>
                </a:solidFill>
                <a:latin typeface="Consolas"/>
              </a:defRPr>
            </a:pPr>
            <a:r>
              <a:t>    // Dung chung HttpClient duy nhat (Singleton) de tranh can kiet socket</a:t>
            </a:r>
          </a:p>
          <a:p>
            <a:pPr>
              <a:defRPr sz="850">
                <a:solidFill>
                  <a:srgbClr val="E2E8F0"/>
                </a:solidFill>
                <a:latin typeface="Consolas"/>
              </a:defRPr>
            </a:pPr>
            <a:r>
              <a:t>    private static readonly HttpClient _http = new HttpClient();</a:t>
            </a:r>
          </a:p>
          <a:p>
            <a:pPr>
              <a:defRPr sz="850">
                <a:solidFill>
                  <a:srgbClr val="E2E8F0"/>
                </a:solidFill>
                <a:latin typeface="Consolas"/>
              </a:defRPr>
            </a:pPr>
            <a:r>
              <a:t>    </a:t>
            </a:r>
          </a:p>
          <a:p>
            <a:pPr>
              <a:defRPr sz="850">
                <a:solidFill>
                  <a:srgbClr val="E2E8F0"/>
                </a:solidFill>
                <a:latin typeface="Consolas"/>
              </a:defRPr>
            </a:pPr>
            <a:r>
              <a:t>    public async Task&lt;ApiResponse&lt;T&gt;&gt; GetAsync&lt;T&gt;(string endpoint) {</a:t>
            </a:r>
          </a:p>
          <a:p>
            <a:pPr>
              <a:defRPr sz="850">
                <a:solidFill>
                  <a:srgbClr val="E2E8F0"/>
                </a:solidFill>
                <a:latin typeface="Consolas"/>
              </a:defRPr>
            </a:pPr>
            <a:r>
              <a:t>        using var req = new HttpRequestMessage(HttpMethod.Get, _baseUrl + endpoint);</a:t>
            </a:r>
          </a:p>
          <a:p>
            <a:pPr>
              <a:defRPr sz="850">
                <a:solidFill>
                  <a:srgbClr val="E2E8F0"/>
                </a:solidFill>
                <a:latin typeface="Consolas"/>
              </a:defRPr>
            </a:pPr>
            <a:r>
              <a:t>        if (!string.IsNullOrEmpty(_token)) req.Headers.Authorization = new("Bearer", _token);</a:t>
            </a:r>
          </a:p>
          <a:p>
            <a:pPr>
              <a:defRPr sz="850">
                <a:solidFill>
                  <a:srgbClr val="E2E8F0"/>
                </a:solidFill>
                <a:latin typeface="Consolas"/>
              </a:defRPr>
            </a:pPr>
            <a:r>
              <a:t>        var res = await _http.SendAsync(req); // await tra quyen dieu khien cho UI</a:t>
            </a:r>
          </a:p>
          <a:p>
            <a:pPr>
              <a:defRPr sz="850">
                <a:solidFill>
                  <a:srgbClr val="E2E8F0"/>
                </a:solidFill>
                <a:latin typeface="Consolas"/>
              </a:defRPr>
            </a:pPr>
            <a:r>
              <a:t>        return await res.Content.ReadFromJsonAsync&lt;ApiResponse&lt;T&gt;&gt;();</a:t>
            </a:r>
          </a:p>
          <a:p>
            <a:pPr>
              <a:defRPr sz="850">
                <a:solidFill>
                  <a:srgbClr val="E2E8F0"/>
                </a:solidFill>
                <a:latin typeface="Consolas"/>
              </a:defRPr>
            </a:pPr>
            <a:r>
              <a:t>    }</a:t>
            </a:r>
          </a:p>
          <a:p>
            <a:pPr>
              <a:defRPr sz="850">
                <a:solidFill>
                  <a:srgbClr val="E2E8F0"/>
                </a:solidFill>
                <a:latin typeface="Consolas"/>
              </a:defRPr>
            </a:pPr>
            <a:r>
              <a:t>}</a:t>
            </a:r>
          </a:p>
        </p:txBody>
      </p:sp>
      <p:sp>
        <p:nvSpPr>
          <p:cNvPr id="14" name="Rectangle 13"/>
          <p:cNvSpPr/>
          <p:nvPr/>
        </p:nvSpPr>
        <p:spPr>
          <a:xfrm>
            <a:off x="731520" y="5897880"/>
            <a:ext cx="10728655" cy="50292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925312"/>
            <a:ext cx="10515600" cy="457200"/>
          </a:xfrm>
          <a:prstGeom prst="rect">
            <a:avLst/>
          </a:prstGeom>
          <a:noFill/>
        </p:spPr>
        <p:txBody>
          <a:bodyPr wrap="none">
            <a:spAutoFit/>
          </a:bodyPr>
          <a:lstStyle/>
          <a:p>
            <a:pPr>
              <a:defRPr sz="900">
                <a:solidFill>
                  <a:srgbClr val="DC2626"/>
                </a:solidFill>
              </a:defRPr>
            </a:pPr>
            <a:r>
              <a:t>⚡ Quy tắc sống còn trên WinForms: Tuyệt đối không gọi .Result hoặc .Wait() trên Task vì sẽ gây DEADLOCK khóa cứng giao diện. Luôn dùng async và await.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12. DEMO QUẢN TRỊ DESKTOP</a:t>
            </a:r>
          </a:p>
          <a:p>
            <a:pPr>
              <a:defRPr sz="1900" b="1">
                <a:solidFill>
                  <a:srgbClr val="0F172A"/>
                </a:solidFill>
                <a:latin typeface="Segoe UI"/>
              </a:defRPr>
            </a:pPr>
            <a:r>
              <a:t>DEMO TRỰC TIẾP: QUẢN TRỊ VÀ ĐIỂM DANH TRÊN WINFORMS</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Võ Ngọc Minh Đạt | Slide 13/16</a:t>
            </a:r>
          </a:p>
        </p:txBody>
      </p:sp>
      <p:pic>
        <p:nvPicPr>
          <p:cNvPr id="10" name="Picture 9" descr="09_winforms_events.png"/>
          <p:cNvPicPr>
            <a:picLocks noChangeAspect="1"/>
          </p:cNvPicPr>
          <p:nvPr/>
        </p:nvPicPr>
        <p:blipFill>
          <a:blip r:embed="rId4"/>
          <a:stretch>
            <a:fillRect/>
          </a:stretch>
        </p:blipFill>
        <p:spPr>
          <a:xfrm>
            <a:off x="731520" y="1371600"/>
            <a:ext cx="4206240" cy="2628900"/>
          </a:xfrm>
          <a:prstGeom prst="rect">
            <a:avLst/>
          </a:prstGeom>
        </p:spPr>
      </p:pic>
      <p:sp>
        <p:nvSpPr>
          <p:cNvPr id="11" name="Rounded Rectangle 10"/>
          <p:cNvSpPr/>
          <p:nvPr/>
        </p:nvSpPr>
        <p:spPr>
          <a:xfrm>
            <a:off x="5120640" y="1371600"/>
            <a:ext cx="6309360" cy="47548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1554480"/>
            <a:ext cx="5943600" cy="4389120"/>
          </a:xfrm>
          <a:prstGeom prst="rect">
            <a:avLst/>
          </a:prstGeom>
          <a:noFill/>
        </p:spPr>
        <p:txBody>
          <a:bodyPr wrap="square">
            <a:spAutoFit/>
          </a:bodyPr>
          <a:lstStyle/>
          <a:p>
            <a:pPr>
              <a:defRPr sz="1300" b="1">
                <a:solidFill>
                  <a:srgbClr val="2264AC"/>
                </a:solidFill>
              </a:defRPr>
            </a:pPr>
            <a:r>
              <a:t>KỊCH BẢN THAO TÁC DEMO ĐIỂM DANH TRỰC TIẾP:</a:t>
            </a:r>
          </a:p>
          <a:p>
            <a:pPr>
              <a:defRPr sz="1050" b="1">
                <a:solidFill>
                  <a:srgbClr val="0F172A"/>
                </a:solidFill>
              </a:defRPr>
            </a:pPr>
            <a:r>
              <a:t>👉 Bước 1: Mở ứng dụng Visionary.Desktop.exe</a:t>
            </a:r>
          </a:p>
          <a:p>
            <a:pPr>
              <a:defRPr sz="950">
                <a:solidFill>
                  <a:srgbClr val="1E293B"/>
                </a:solidFill>
              </a:defRPr>
            </a:pPr>
            <a:r>
              <a:t>     Phần mềm đã được biên dịch sẵn sang .NET 8, mở ra là chạy ngay.</a:t>
            </a:r>
          </a:p>
          <a:p>
            <a:pPr>
              <a:defRPr sz="1050" b="1">
                <a:solidFill>
                  <a:srgbClr val="0F172A"/>
                </a:solidFill>
              </a:defRPr>
            </a:pPr>
            <a:r>
              <a:t>👉 Bước 2: Đăng nhập tài khoản Ban Chủ Nhiệm (Committee)</a:t>
            </a:r>
          </a:p>
          <a:p>
            <a:pPr>
              <a:defRPr sz="950">
                <a:solidFill>
                  <a:srgbClr val="1E293B"/>
                </a:solidFill>
              </a:defRPr>
            </a:pPr>
            <a:r>
              <a:t>     Gọi POST /api/auth/login, nhận JWT token và lưu vào biến tĩnh AppState.Token.</a:t>
            </a:r>
          </a:p>
          <a:p>
            <a:pPr>
              <a:defRPr sz="1050" b="1">
                <a:solidFill>
                  <a:srgbClr val="0F172A"/>
                </a:solidFill>
              </a:defRPr>
            </a:pPr>
            <a:r>
              <a:t>👉 Bước 3: Chọn sự kiện 'Hội thảo Kỹ năng Hội nhập Quốc tế'</a:t>
            </a:r>
          </a:p>
          <a:p>
            <a:pPr>
              <a:defRPr sz="950">
                <a:solidFill>
                  <a:srgbClr val="1E293B"/>
                </a:solidFill>
              </a:defRPr>
            </a:pPr>
            <a:r>
              <a:t>     Gọi GET /api/events/{id}/registrations để nạp danh sách đăng ký lên DataGridView.</a:t>
            </a:r>
          </a:p>
          <a:p>
            <a:pPr>
              <a:defRPr sz="1050" b="1">
                <a:solidFill>
                  <a:srgbClr val="0F172A"/>
                </a:solidFill>
              </a:defRPr>
            </a:pPr>
            <a:r>
              <a:t>👉 Bước 4: Kiểm chứng sinh viên vừa đăng ký trên Android</a:t>
            </a:r>
          </a:p>
          <a:p>
            <a:pPr>
              <a:defRPr sz="950">
                <a:solidFill>
                  <a:srgbClr val="1E293B"/>
                </a:solidFill>
              </a:defRPr>
            </a:pPr>
            <a:r>
              <a:t>     Thấy ngay bản ghi của bạn Trí Khang vừa bấm đăng ký ở phần demo Android trước.</a:t>
            </a:r>
          </a:p>
          <a:p>
            <a:pPr>
              <a:defRPr sz="1050" b="1">
                <a:solidFill>
                  <a:srgbClr val="0F172A"/>
                </a:solidFill>
              </a:defRPr>
            </a:pPr>
            <a:r>
              <a:t>👉 Bước 5: Nhấn nút 'Xác nhận Điểm danh' (btnDiemDanh)</a:t>
            </a:r>
          </a:p>
          <a:p>
            <a:pPr>
              <a:defRPr sz="950">
                <a:solidFill>
                  <a:srgbClr val="1E293B"/>
                </a:solidFill>
              </a:defRPr>
            </a:pPr>
            <a:r>
              <a:t>     Gọi POST /api/events/{id}/attendance, server cập nhật trạng thái 'Đã tham gia' tức thì.</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13. SO SÁNH NỀN TẢNG</a:t>
            </a:r>
          </a:p>
          <a:p>
            <a:pPr>
              <a:defRPr sz="1900" b="1">
                <a:solidFill>
                  <a:srgbClr val="0F172A"/>
                </a:solidFill>
                <a:latin typeface="Segoe UI"/>
              </a:defRPr>
            </a:pPr>
            <a:r>
              <a:t>BA ĐIỂM KHÁC BIỆT KỸ THUẬT &amp; ĐIỀU BẮT BUỘC GIỐNG NHAU</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Võ Ngọc Minh Đạt | Slide 14/16</a:t>
            </a:r>
          </a:p>
        </p:txBody>
      </p:sp>
      <p:graphicFrame>
        <p:nvGraphicFramePr>
          <p:cNvPr id="10" name="Table 9"/>
          <p:cNvGraphicFramePr>
            <a:graphicFrameLocks noGrp="1"/>
          </p:cNvGraphicFramePr>
          <p:nvPr/>
        </p:nvGraphicFramePr>
        <p:xfrm>
          <a:off x="731520" y="1371600"/>
          <a:ext cx="10698480" cy="2926080"/>
        </p:xfrm>
        <a:graphic>
          <a:graphicData uri="http://schemas.openxmlformats.org/drawingml/2006/table">
            <a:tbl>
              <a:tblPr firstRow="1" bandRow="1">
                <a:tableStyleId>{5C22544A-7EE6-4342-B048-85BDC9FD1C3A}</a:tableStyleId>
              </a:tblPr>
              <a:tblGrid>
                <a:gridCol w="2286000"/>
                <a:gridCol w="2743200"/>
                <a:gridCol w="2743200"/>
                <a:gridCol w="2926080"/>
              </a:tblGrid>
              <a:tr h="585216">
                <a:tc>
                  <a:txBody>
                    <a:bodyPr/>
                    <a:lstStyle/>
                    <a:p>
                      <a:pPr>
                        <a:defRPr sz="1000" b="1">
                          <a:solidFill>
                            <a:srgbClr val="FFFFFF"/>
                          </a:solidFill>
                        </a:defRPr>
                      </a:pPr>
                      <a:r>
                        <a:t>Khác biệt Kỹ thuật</a:t>
                      </a:r>
                    </a:p>
                  </a:txBody>
                  <a:tcPr>
                    <a:solidFill>
                      <a:srgbClr val="0F172A"/>
                    </a:solidFill>
                  </a:tcPr>
                </a:tc>
                <a:tc>
                  <a:txBody>
                    <a:bodyPr/>
                    <a:lstStyle/>
                    <a:p>
                      <a:pPr>
                        <a:defRPr sz="1000" b="1">
                          <a:solidFill>
                            <a:srgbClr val="FFFFFF"/>
                          </a:solidFill>
                        </a:defRPr>
                      </a:pPr>
                      <a:r>
                        <a:t>Web Client (HTML/TS)</a:t>
                      </a:r>
                    </a:p>
                  </a:txBody>
                  <a:tcPr>
                    <a:solidFill>
                      <a:srgbClr val="0F172A"/>
                    </a:solidFill>
                  </a:tcPr>
                </a:tc>
                <a:tc>
                  <a:txBody>
                    <a:bodyPr/>
                    <a:lstStyle/>
                    <a:p>
                      <a:pPr>
                        <a:defRPr sz="1000" b="1">
                          <a:solidFill>
                            <a:srgbClr val="FFFFFF"/>
                          </a:solidFill>
                        </a:defRPr>
                      </a:pPr>
                      <a:r>
                        <a:t>Windows Forms (C#)</a:t>
                      </a:r>
                    </a:p>
                  </a:txBody>
                  <a:tcPr>
                    <a:solidFill>
                      <a:srgbClr val="0F172A"/>
                    </a:solidFill>
                  </a:tcPr>
                </a:tc>
                <a:tc>
                  <a:txBody>
                    <a:bodyPr/>
                    <a:lstStyle/>
                    <a:p>
                      <a:pPr>
                        <a:defRPr sz="1000" b="1">
                          <a:solidFill>
                            <a:srgbClr val="FFFFFF"/>
                          </a:solidFill>
                        </a:defRPr>
                      </a:pPr>
                      <a:r>
                        <a:t>Android Native (Java)</a:t>
                      </a:r>
                    </a:p>
                  </a:txBody>
                  <a:tcPr>
                    <a:solidFill>
                      <a:srgbClr val="0F172A"/>
                    </a:solidFill>
                  </a:tcPr>
                </a:tc>
              </a:tr>
              <a:tr h="585216">
                <a:tc>
                  <a:txBody>
                    <a:bodyPr/>
                    <a:lstStyle/>
                    <a:p>
                      <a:pPr>
                        <a:defRPr sz="850" b="1">
                          <a:solidFill>
                            <a:srgbClr val="2264AC"/>
                          </a:solidFill>
                        </a:defRPr>
                      </a:pPr>
                      <a:r>
                        <a:t>1. Thư viện mạng &amp;</a:t>
                      </a:r>
                    </a:p>
                    <a:p>
                      <a:r>
                        <a:t>Bất đồng bộ</a:t>
                      </a:r>
                    </a:p>
                  </a:txBody>
                  <a:tcPr>
                    <a:solidFill>
                      <a:srgbClr val="FFFFFF"/>
                    </a:solidFill>
                  </a:tcPr>
                </a:tc>
                <a:tc>
                  <a:txBody>
                    <a:bodyPr/>
                    <a:lstStyle/>
                    <a:p>
                      <a:pPr>
                        <a:defRPr sz="850">
                          <a:solidFill>
                            <a:srgbClr val="1E293B"/>
                          </a:solidFill>
                        </a:defRPr>
                      </a:pPr>
                      <a:r>
                        <a:t>fetch() API</a:t>
                      </a:r>
                    </a:p>
                    <a:p>
                      <a:r>
                        <a:t>Promise &amp; async/await</a:t>
                      </a:r>
                    </a:p>
                    <a:p>
                      <a:r>
                        <a:t>Event Loop trình duyệt</a:t>
                      </a:r>
                    </a:p>
                  </a:txBody>
                  <a:tcPr>
                    <a:solidFill>
                      <a:srgbClr val="FFFFFF"/>
                    </a:solidFill>
                  </a:tcPr>
                </a:tc>
                <a:tc>
                  <a:txBody>
                    <a:bodyPr/>
                    <a:lstStyle/>
                    <a:p>
                      <a:pPr>
                        <a:defRPr sz="850">
                          <a:solidFill>
                            <a:srgbClr val="1E293B"/>
                          </a:solidFill>
                        </a:defRPr>
                      </a:pPr>
                      <a:r>
                        <a:t>HttpClient</a:t>
                      </a:r>
                    </a:p>
                    <a:p>
                      <a:r>
                        <a:t>Task &amp; async/await</a:t>
                      </a:r>
                    </a:p>
                    <a:p>
                      <a:r>
                        <a:t>SynchronizationContext</a:t>
                      </a:r>
                    </a:p>
                  </a:txBody>
                  <a:tcPr>
                    <a:solidFill>
                      <a:srgbClr val="FFFFFF"/>
                    </a:solidFill>
                  </a:tcPr>
                </a:tc>
                <a:tc>
                  <a:txBody>
                    <a:bodyPr/>
                    <a:lstStyle/>
                    <a:p>
                      <a:pPr>
                        <a:defRPr sz="850">
                          <a:solidFill>
                            <a:srgbClr val="1E293B"/>
                          </a:solidFill>
                        </a:defRPr>
                      </a:pPr>
                      <a:r>
                        <a:t>Retrofit 2 + OkHttp</a:t>
                      </a:r>
                    </a:p>
                    <a:p>
                      <a:r>
                        <a:t>Call.enqueue() Callback</a:t>
                      </a:r>
                    </a:p>
                    <a:p>
                      <a:r>
                        <a:t>Worker Thread chạy ngầm</a:t>
                      </a:r>
                    </a:p>
                  </a:txBody>
                  <a:tcPr>
                    <a:solidFill>
                      <a:srgbClr val="FFFFFF"/>
                    </a:solidFill>
                  </a:tcPr>
                </a:tc>
              </a:tr>
              <a:tr h="585216">
                <a:tc>
                  <a:txBody>
                    <a:bodyPr/>
                    <a:lstStyle/>
                    <a:p>
                      <a:pPr>
                        <a:defRPr sz="850" b="1">
                          <a:solidFill>
                            <a:srgbClr val="2264AC"/>
                          </a:solidFill>
                        </a:defRPr>
                      </a:pPr>
                      <a:r>
                        <a:t>2. Điều phối Luồng</a:t>
                      </a:r>
                    </a:p>
                    <a:p>
                      <a:r>
                        <a:t>giao diện (UI Thread)</a:t>
                      </a:r>
                    </a:p>
                  </a:txBody>
                  <a:tcPr>
                    <a:solidFill>
                      <a:srgbClr val="FFFFFF"/>
                    </a:solidFill>
                  </a:tcPr>
                </a:tc>
                <a:tc>
                  <a:txBody>
                    <a:bodyPr/>
                    <a:lstStyle/>
                    <a:p>
                      <a:pPr>
                        <a:defRPr sz="850">
                          <a:solidFill>
                            <a:srgbClr val="1E293B"/>
                          </a:solidFill>
                        </a:defRPr>
                      </a:pPr>
                      <a:r>
                        <a:t>Tự động hoàn toàn</a:t>
                      </a:r>
                    </a:p>
                    <a:p>
                      <a:r>
                        <a:t>(Single-threaded JS Engine</a:t>
                      </a:r>
                    </a:p>
                    <a:p>
                      <a:r>
                        <a:t>không lo xung đột luồng)</a:t>
                      </a:r>
                    </a:p>
                  </a:txBody>
                  <a:tcPr>
                    <a:solidFill>
                      <a:srgbClr val="FFFFFF"/>
                    </a:solidFill>
                  </a:tcPr>
                </a:tc>
                <a:tc>
                  <a:txBody>
                    <a:bodyPr/>
                    <a:lstStyle/>
                    <a:p>
                      <a:pPr>
                        <a:defRPr sz="850">
                          <a:solidFill>
                            <a:srgbClr val="1E293B"/>
                          </a:solidFill>
                        </a:defRPr>
                      </a:pPr>
                      <a:r>
                        <a:t>Tự động quay về UI Thread</a:t>
                      </a:r>
                    </a:p>
                    <a:p>
                      <a:r>
                        <a:t>sau lệnh await</a:t>
                      </a:r>
                    </a:p>
                    <a:p>
                      <a:r>
                        <a:t>(Tuyệt đối tránh .Result)</a:t>
                      </a:r>
                    </a:p>
                  </a:txBody>
                  <a:tcPr>
                    <a:solidFill>
                      <a:srgbClr val="FFFFFF"/>
                    </a:solidFill>
                  </a:tcPr>
                </a:tc>
                <a:tc>
                  <a:txBody>
                    <a:bodyPr/>
                    <a:lstStyle/>
                    <a:p>
                      <a:pPr>
                        <a:defRPr sz="850">
                          <a:solidFill>
                            <a:srgbClr val="1E293B"/>
                          </a:solidFill>
                        </a:defRPr>
                      </a:pPr>
                      <a:r>
                        <a:t>Bắt buộc chuyển thủ công:</a:t>
                      </a:r>
                    </a:p>
                    <a:p>
                      <a:r>
                        <a:t>Handler(Looper.getMainLooper())</a:t>
                      </a:r>
                    </a:p>
                    <a:p>
                      <a:r>
                        <a:t>để cập nhật View</a:t>
                      </a:r>
                    </a:p>
                  </a:txBody>
                  <a:tcPr>
                    <a:solidFill>
                      <a:srgbClr val="FFFFFF"/>
                    </a:solidFill>
                  </a:tcPr>
                </a:tc>
              </a:tr>
              <a:tr h="585216">
                <a:tc>
                  <a:txBody>
                    <a:bodyPr/>
                    <a:lstStyle/>
                    <a:p>
                      <a:pPr>
                        <a:defRPr sz="850" b="1">
                          <a:solidFill>
                            <a:srgbClr val="2264AC"/>
                          </a:solidFill>
                        </a:defRPr>
                      </a:pPr>
                      <a:r>
                        <a:t>3. Môi trường chạy &amp;</a:t>
                      </a:r>
                    </a:p>
                    <a:p>
                      <a:r>
                        <a:t>Quản lý JWT Token</a:t>
                      </a:r>
                    </a:p>
                  </a:txBody>
                  <a:tcPr>
                    <a:solidFill>
                      <a:srgbClr val="FFFFFF"/>
                    </a:solidFill>
                  </a:tcPr>
                </a:tc>
                <a:tc>
                  <a:txBody>
                    <a:bodyPr/>
                    <a:lstStyle/>
                    <a:p>
                      <a:pPr>
                        <a:defRPr sz="850">
                          <a:solidFill>
                            <a:srgbClr val="1E293B"/>
                          </a:solidFill>
                        </a:defRPr>
                      </a:pPr>
                      <a:r>
                        <a:t>Trình duyệt (Browser)</a:t>
                      </a:r>
                    </a:p>
                    <a:p>
                      <a:r>
                        <a:t>Lưu trong localStorage / Cookie</a:t>
                      </a:r>
                    </a:p>
                    <a:p>
                      <a:r>
                        <a:t>Mất khi xóa cache</a:t>
                      </a:r>
                    </a:p>
                  </a:txBody>
                  <a:tcPr>
                    <a:solidFill>
                      <a:srgbClr val="FFFFFF"/>
                    </a:solidFill>
                  </a:tcPr>
                </a:tc>
                <a:tc>
                  <a:txBody>
                    <a:bodyPr/>
                    <a:lstStyle/>
                    <a:p>
                      <a:pPr>
                        <a:defRPr sz="850">
                          <a:solidFill>
                            <a:srgbClr val="1E293B"/>
                          </a:solidFill>
                        </a:defRPr>
                      </a:pPr>
                      <a:r>
                        <a:t>Desktop Windows OS</a:t>
                      </a:r>
                    </a:p>
                    <a:p>
                      <a:r>
                        <a:t>Lưu trong biến static AppState</a:t>
                      </a:r>
                    </a:p>
                    <a:p>
                      <a:r>
                        <a:t>Mất khi tắt tiến trình .exe</a:t>
                      </a:r>
                    </a:p>
                  </a:txBody>
                  <a:tcPr>
                    <a:solidFill>
                      <a:srgbClr val="FFFFFF"/>
                    </a:solidFill>
                  </a:tcPr>
                </a:tc>
                <a:tc>
                  <a:txBody>
                    <a:bodyPr/>
                    <a:lstStyle/>
                    <a:p>
                      <a:pPr>
                        <a:defRPr sz="850">
                          <a:solidFill>
                            <a:srgbClr val="1E293B"/>
                          </a:solidFill>
                        </a:defRPr>
                      </a:pPr>
                      <a:r>
                        <a:t>Thiết bị di động Android</a:t>
                      </a:r>
                    </a:p>
                    <a:p>
                      <a:r>
                        <a:t>Lưu SharedPreferences bền vững</a:t>
                      </a:r>
                    </a:p>
                    <a:p>
                      <a:r>
                        <a:t>Vẫn còn khi thoát ứng dụng</a:t>
                      </a:r>
                    </a:p>
                  </a:txBody>
                  <a:tcPr>
                    <a:solidFill>
                      <a:srgbClr val="FFFFFF"/>
                    </a:solidFill>
                  </a:tcPr>
                </a:tc>
              </a:tr>
              <a:tr h="585216">
                <a:tc>
                  <a:txBody>
                    <a:bodyPr/>
                    <a:lstStyle/>
                    <a:p>
                      <a:pPr>
                        <a:defRPr sz="850" b="1">
                          <a:solidFill>
                            <a:srgbClr val="2264AC"/>
                          </a:solidFill>
                        </a:defRPr>
                      </a:pPr>
                      <a:r>
                        <a:t>Lý do khác biệt</a:t>
                      </a:r>
                    </a:p>
                  </a:txBody>
                  <a:tcPr>
                    <a:solidFill>
                      <a:srgbClr val="FFFFFF"/>
                    </a:solidFill>
                  </a:tcPr>
                </a:tc>
                <a:tc>
                  <a:txBody>
                    <a:bodyPr/>
                    <a:lstStyle/>
                    <a:p>
                      <a:pPr>
                        <a:defRPr sz="850">
                          <a:solidFill>
                            <a:srgbClr val="1E293B"/>
                          </a:solidFill>
                        </a:defRPr>
                      </a:pPr>
                      <a:r>
                        <a:t>Do NỀN TẢNG BẮT BUỘC</a:t>
                      </a:r>
                    </a:p>
                    <a:p>
                      <a:r>
                        <a:t>(Engine JS &amp; Browser Sandbox)</a:t>
                      </a:r>
                    </a:p>
                  </a:txBody>
                  <a:tcPr>
                    <a:solidFill>
                      <a:srgbClr val="FFFFFF"/>
                    </a:solidFill>
                  </a:tcPr>
                </a:tc>
                <a:tc>
                  <a:txBody>
                    <a:bodyPr/>
                    <a:lstStyle/>
                    <a:p>
                      <a:pPr>
                        <a:defRPr sz="850">
                          <a:solidFill>
                            <a:srgbClr val="1E293B"/>
                          </a:solidFill>
                        </a:defRPr>
                      </a:pPr>
                      <a:r>
                        <a:t>Do NHÓM LỰA CHỌN</a:t>
                      </a:r>
                    </a:p>
                    <a:p>
                      <a:r>
                        <a:t>(Tận dụng .NET 8 async/await)</a:t>
                      </a:r>
                    </a:p>
                  </a:txBody>
                  <a:tcPr>
                    <a:solidFill>
                      <a:srgbClr val="FFFFFF"/>
                    </a:solidFill>
                  </a:tcPr>
                </a:tc>
                <a:tc>
                  <a:txBody>
                    <a:bodyPr/>
                    <a:lstStyle/>
                    <a:p>
                      <a:pPr>
                        <a:defRPr sz="850">
                          <a:solidFill>
                            <a:srgbClr val="1E293B"/>
                          </a:solidFill>
                        </a:defRPr>
                      </a:pPr>
                      <a:r>
                        <a:t>Do NỀN TẢNG BẮT BUỘC</a:t>
                      </a:r>
                    </a:p>
                    <a:p>
                      <a:r>
                        <a:t>(Cơ chế quản lý UI của Android)</a:t>
                      </a:r>
                    </a:p>
                  </a:txBody>
                  <a:tcPr>
                    <a:solidFill>
                      <a:srgbClr val="FFFFFF"/>
                    </a:solidFill>
                  </a:tcPr>
                </a:tc>
              </a:tr>
            </a:tbl>
          </a:graphicData>
        </a:graphic>
      </p:graphicFrame>
      <p:sp>
        <p:nvSpPr>
          <p:cNvPr id="11" name="Rectangle 10"/>
          <p:cNvSpPr/>
          <p:nvPr/>
        </p:nvSpPr>
        <p:spPr>
          <a:xfrm>
            <a:off x="731520" y="4572000"/>
            <a:ext cx="10728655" cy="1691640"/>
          </a:xfrm>
          <a:prstGeom prst="rect">
            <a:avLst/>
          </a:prstGeom>
          <a:solidFill>
            <a:srgbClr val="FFFFFF"/>
          </a:solidFill>
          <a:ln w="19050">
            <a:solidFill>
              <a:srgbClr val="22A6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617720"/>
            <a:ext cx="10332720" cy="1600200"/>
          </a:xfrm>
          <a:prstGeom prst="rect">
            <a:avLst/>
          </a:prstGeom>
          <a:noFill/>
        </p:spPr>
        <p:txBody>
          <a:bodyPr wrap="square">
            <a:spAutoFit/>
          </a:bodyPr>
          <a:lstStyle/>
          <a:p>
            <a:pPr>
              <a:defRPr sz="1100" b="1">
                <a:solidFill>
                  <a:srgbClr val="22A6A1"/>
                </a:solidFill>
              </a:defRPr>
            </a:pPr>
            <a:r>
              <a:t>⭐ NHỮNG ĐIỀU BẮT BUỘC PHẢI GIỐNG HỆT NHAU TRÊN CẢ BA NỀN TẢNG:</a:t>
            </a:r>
          </a:p>
          <a:p>
            <a:pPr>
              <a:defRPr sz="950">
                <a:solidFill>
                  <a:srgbClr val="1E293B"/>
                </a:solidFill>
              </a:defRPr>
            </a:pPr>
            <a:r>
              <a:t>1. Hợp đồng API (API Contract): Cùng phương thức HTTP (GET, POST, PUT), cùng đường dẫn (/api/events), cùng tên trường JSON camelCase.</a:t>
            </a:r>
          </a:p>
          <a:p>
            <a:pPr>
              <a:defRPr sz="950">
                <a:solidFill>
                  <a:srgbClr val="1E293B"/>
                </a:solidFill>
              </a:defRPr>
            </a:pPr>
            <a:r>
              <a:t>2. Xác thực và Phân quyền: Cùng cấu trúc Header 'Authorization: Bearer &lt;token&gt;', cùng mã lỗi 401 khi hết hạn và 403 khi thiếu quyền.</a:t>
            </a:r>
          </a:p>
          <a:p>
            <a:pPr>
              <a:defRPr sz="950">
                <a:solidFill>
                  <a:srgbClr val="1E293B"/>
                </a:solidFill>
              </a:defRPr>
            </a:pPr>
            <a:r>
              <a:t>3. Quy tắc nghiệp vụ (Business Rules): Cùng kiểm tra hạn chót đăng ký trên server, cùng tính số lượng chỗ trống từ cơ sở dữ liệu.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14. QUẢN LÝ SỰ CỐ &amp; CI/CD</a:t>
            </a:r>
          </a:p>
          <a:p>
            <a:pPr>
              <a:defRPr sz="1900" b="1">
                <a:solidFill>
                  <a:srgbClr val="0F172A"/>
                </a:solidFill>
                <a:latin typeface="Segoe UI"/>
              </a:defRPr>
            </a:pPr>
            <a:r>
              <a:t>SỰ CỐ THỰC TẾ TRÊN GITHUB ACTIONS CI VÀ QUY TRÌNH SỬA LỖI</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Võ Ngọc Minh Đạt | Slide 15/16</a:t>
            </a:r>
          </a:p>
        </p:txBody>
      </p:sp>
      <p:pic>
        <p:nvPicPr>
          <p:cNvPr id="10" name="Picture 9" descr="15_real_error_log.png"/>
          <p:cNvPicPr>
            <a:picLocks noChangeAspect="1"/>
          </p:cNvPicPr>
          <p:nvPr/>
        </p:nvPicPr>
        <p:blipFill>
          <a:blip r:embed="rId4"/>
          <a:stretch>
            <a:fillRect/>
          </a:stretch>
        </p:blipFill>
        <p:spPr>
          <a:xfrm>
            <a:off x="731520" y="1234440"/>
            <a:ext cx="3383280" cy="2114550"/>
          </a:xfrm>
          <a:prstGeom prst="rect">
            <a:avLst/>
          </a:prstGeom>
        </p:spPr>
      </p:pic>
      <p:sp>
        <p:nvSpPr>
          <p:cNvPr id="11" name="Rounded Rectangle 10"/>
          <p:cNvSpPr/>
          <p:nvPr/>
        </p:nvSpPr>
        <p:spPr>
          <a:xfrm>
            <a:off x="4297680" y="1234440"/>
            <a:ext cx="3566160" cy="457200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280160"/>
            <a:ext cx="3383280" cy="4480560"/>
          </a:xfrm>
          <a:prstGeom prst="rect">
            <a:avLst/>
          </a:prstGeom>
          <a:noFill/>
        </p:spPr>
        <p:txBody>
          <a:bodyPr wrap="square">
            <a:spAutoFit/>
          </a:bodyPr>
          <a:lstStyle/>
          <a:p>
            <a:pPr algn="ctr">
              <a:defRPr sz="1100" b="1">
                <a:solidFill>
                  <a:srgbClr val="0F172A"/>
                </a:solidFill>
              </a:defRPr>
            </a:pPr>
            <a:r>
              <a:t>SƠ ĐỒ CHẨN ĐOÁN &amp; SỬA LỖI</a:t>
            </a:r>
          </a:p>
          <a:p>
            <a:pPr>
              <a:defRPr sz="900" b="1">
                <a:solidFill>
                  <a:srgbClr val="DC2626"/>
                </a:solidFill>
              </a:defRPr>
            </a:pPr>
            <a:r>
              <a:t>1. BẮT ĐẦU: CI RUN #12 THẤT BẠI</a:t>
            </a:r>
          </a:p>
          <a:p>
            <a:pPr>
              <a:defRPr sz="800">
                <a:solidFill>
                  <a:srgbClr val="1E293B"/>
                </a:solidFill>
              </a:defRPr>
            </a:pPr>
            <a:r>
              <a:t>13 Passed / 2 Failed trên Ubuntu Linux.</a:t>
            </a:r>
            <a:br/>
            <a:r>
              <a:t>• Search test fail dòng 168 (TotalCount = 0)</a:t>
            </a:r>
            <a:br/>
            <a:r>
              <a:t>• GetPostBySlug fail dòng 183 (404 Not Found)</a:t>
            </a:r>
          </a:p>
          <a:p>
            <a:pPr>
              <a:defRPr sz="900" b="1">
                <a:solidFill>
                  <a:srgbClr val="0F172A"/>
                </a:solidFill>
              </a:defRPr>
            </a:pPr>
            <a:r>
              <a:t>2. NGUYÊN NHÂN GỐC RỄ (ROOT CAUSE)</a:t>
            </a:r>
          </a:p>
          <a:p>
            <a:pPr>
              <a:defRPr sz="800">
                <a:solidFill>
                  <a:srgbClr val="1E293B"/>
                </a:solidFill>
              </a:defRPr>
            </a:pPr>
            <a:r>
              <a:t>Hai Test Class chạy song song trên xUnit:</a:t>
            </a:r>
            <a:br/>
            <a:r>
              <a:t>Cùng khởi tạo WebApplicationFactory trỏ vào visionary.db -&gt; Đụng độ UNIQUE Roles.Name -&gt; Hủy ngang SeedAsync trước khi nạp Posts!</a:t>
            </a:r>
          </a:p>
          <a:p>
            <a:pPr>
              <a:defRPr sz="900" b="1">
                <a:solidFill>
                  <a:srgbClr val="22A6A1"/>
                </a:solidFill>
              </a:defRPr>
            </a:pPr>
            <a:r>
              <a:t>3. GIẢI PHÁP KỸ THUẬT (REMEDIATION)</a:t>
            </a:r>
          </a:p>
          <a:p>
            <a:pPr>
              <a:defRPr sz="800">
                <a:solidFill>
                  <a:srgbClr val="1E293B"/>
                </a:solidFill>
              </a:defRPr>
            </a:pPr>
            <a:r>
              <a:t>• Khóa luồng tĩnh SemaphoreSlim(1,1) trong DbInitializer.SeedAsync().</a:t>
            </a:r>
            <a:br/>
            <a:r>
              <a:t>• Tạo CustomWebApplicationFactory cấp phát DB test cô lập.</a:t>
            </a:r>
            <a:br/>
            <a:r>
              <a:t>• Gộp chung [Collection("IntegrationTests")].</a:t>
            </a:r>
          </a:p>
          <a:p>
            <a:pPr>
              <a:defRPr sz="900" b="1">
                <a:solidFill>
                  <a:srgbClr val="16A34A"/>
                </a:solidFill>
              </a:defRPr>
            </a:pPr>
            <a:r>
              <a:t>4. KẾT QUẢ KIỂM CHỨNG (VERIFICATION)</a:t>
            </a:r>
          </a:p>
          <a:p>
            <a:pPr>
              <a:defRPr sz="800">
                <a:solidFill>
                  <a:srgbClr val="1E293B"/>
                </a:solidFill>
              </a:defRPr>
            </a:pPr>
            <a:r>
              <a:t>Chạy lại kiểm thử hồi quy 3 lần liên tiếp:</a:t>
            </a:r>
            <a:br/>
            <a:r>
              <a:t>15/15 Passed 100% (2.8s) -&gt; Push commit c7af080 lên GitHub -&gt; Run #40231783994 XANH!</a:t>
            </a:r>
          </a:p>
        </p:txBody>
      </p:sp>
      <p:pic>
        <p:nvPicPr>
          <p:cNvPr id="13" name="Picture 12" descr="16_error_fixed_test.png"/>
          <p:cNvPicPr>
            <a:picLocks noChangeAspect="1"/>
          </p:cNvPicPr>
          <p:nvPr/>
        </p:nvPicPr>
        <p:blipFill>
          <a:blip r:embed="rId5"/>
          <a:stretch>
            <a:fillRect/>
          </a:stretch>
        </p:blipFill>
        <p:spPr>
          <a:xfrm>
            <a:off x="8046720" y="1234440"/>
            <a:ext cx="3383280" cy="2114550"/>
          </a:xfrm>
          <a:prstGeom prst="rect">
            <a:avLst/>
          </a:prstGeom>
        </p:spPr>
      </p:pic>
      <p:sp>
        <p:nvSpPr>
          <p:cNvPr id="14" name="Rectangle 13"/>
          <p:cNvSpPr/>
          <p:nvPr/>
        </p:nvSpPr>
        <p:spPr>
          <a:xfrm>
            <a:off x="731520" y="5925312"/>
            <a:ext cx="10728655" cy="411480"/>
          </a:xfrm>
          <a:prstGeom prst="rect">
            <a:avLst/>
          </a:prstGeom>
          <a:solidFill>
            <a:srgbClr val="F0FDFA"/>
          </a:solidFill>
          <a:ln>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952744"/>
            <a:ext cx="10515600" cy="365760"/>
          </a:xfrm>
          <a:prstGeom prst="rect">
            <a:avLst/>
          </a:prstGeom>
          <a:noFill/>
        </p:spPr>
        <p:txBody>
          <a:bodyPr wrap="none">
            <a:spAutoFit/>
          </a:bodyPr>
          <a:lstStyle/>
          <a:p>
            <a:pPr>
              <a:defRPr sz="950" b="1">
                <a:solidFill>
                  <a:srgbClr val="16A34A"/>
                </a:solidFill>
              </a:defRPr>
            </a:pPr>
            <a:r>
              <a:t>✅ ĐÃ XÁC MINH TRÊN GITHUB ACTIONS: Run #40231783994 (Commit c7af080) hoàn thành xuất sắc – 15/15 Tests Passed 100% trên Linux x64.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22A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8686800" cy="868680"/>
          </a:xfrm>
          <a:prstGeom prst="rect">
            <a:avLst/>
          </a:prstGeom>
          <a:noFill/>
        </p:spPr>
        <p:txBody>
          <a:bodyPr wrap="square" tIns="0" lIns="0" rIns="0" bIns="0">
            <a:spAutoFit/>
          </a:bodyPr>
          <a:lstStyle/>
          <a:p>
            <a:pPr>
              <a:defRPr sz="1000" b="1">
                <a:solidFill>
                  <a:srgbClr val="22A6A1"/>
                </a:solidFill>
                <a:latin typeface="Segoe UI"/>
              </a:defRPr>
            </a:pPr>
            <a:r>
              <a:t>15. ĐÁNH GIÁ &amp; HƯỚNG PHÁT TRIỂN</a:t>
            </a:r>
          </a:p>
          <a:p>
            <a:pPr>
              <a:defRPr sz="1900" b="1">
                <a:solidFill>
                  <a:srgbClr val="0F172A"/>
                </a:solidFill>
                <a:latin typeface="Segoe UI"/>
              </a:defRPr>
            </a:pPr>
            <a:r>
              <a:t>GIỚI HẠN THỰC TẾ, HƯỚNG PHÁT TRIỂN &amp; KẾT LUẬN</a:t>
            </a:r>
          </a:p>
        </p:txBody>
      </p:sp>
      <p:pic>
        <p:nvPicPr>
          <p:cNvPr id="6" name="Picture 5" descr="dntu_logo.png"/>
          <p:cNvPicPr>
            <a:picLocks noChangeAspect="1"/>
          </p:cNvPicPr>
          <p:nvPr/>
        </p:nvPicPr>
        <p:blipFill>
          <a:blip r:embed="rId2"/>
          <a:stretch>
            <a:fillRect/>
          </a:stretch>
        </p:blipFill>
        <p:spPr>
          <a:xfrm>
            <a:off x="10424160" y="137160"/>
            <a:ext cx="548774" cy="777240"/>
          </a:xfrm>
          <a:prstGeom prst="rect">
            <a:avLst/>
          </a:prstGeom>
        </p:spPr>
      </p:pic>
      <p:pic>
        <p:nvPicPr>
          <p:cNvPr id="7" name="Picture 6" descr="cntt_dntu_logo.png"/>
          <p:cNvPicPr>
            <a:picLocks noChangeAspect="1"/>
          </p:cNvPicPr>
          <p:nvPr/>
        </p:nvPicPr>
        <p:blipFill>
          <a:blip r:embed="rId3"/>
          <a:stretch>
            <a:fillRect/>
          </a:stretch>
        </p:blipFill>
        <p:spPr>
          <a:xfrm>
            <a:off x="11064240" y="137160"/>
            <a:ext cx="981373" cy="777240"/>
          </a:xfrm>
          <a:prstGeom prst="rect">
            <a:avLst/>
          </a:prstGeom>
        </p:spPr>
      </p:pic>
      <p:sp>
        <p:nvSpPr>
          <p:cNvPr id="8" name="Rectangle 7"/>
          <p:cNvSpPr/>
          <p:nvPr/>
        </p:nvSpPr>
        <p:spPr>
          <a:xfrm>
            <a:off x="0" y="6446520"/>
            <a:ext cx="12191695" cy="4114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92240"/>
            <a:ext cx="10728655" cy="320040"/>
          </a:xfrm>
          <a:prstGeom prst="rect">
            <a:avLst/>
          </a:prstGeom>
          <a:noFill/>
        </p:spPr>
        <p:txBody>
          <a:bodyPr wrap="none" tIns="0" lIns="0" rIns="0" bIns="0">
            <a:spAutoFit/>
          </a:bodyPr>
          <a:lstStyle/>
          <a:p>
            <a:pPr>
              <a:defRPr sz="950">
                <a:solidFill>
                  <a:srgbClr val="64748B"/>
                </a:solidFill>
                <a:latin typeface="Segoe UI"/>
              </a:defRPr>
            </a:pPr>
            <a:r>
              <a:t>VISIONARY API – TH71108 Web API (DNTU) | Người trình bày: Võ Ngọc Minh Đạt | Slide 16/16</a:t>
            </a:r>
          </a:p>
        </p:txBody>
      </p:sp>
      <p:sp>
        <p:nvSpPr>
          <p:cNvPr id="10" name="Rounded Rectangle 9"/>
          <p:cNvSpPr/>
          <p:nvPr/>
        </p:nvSpPr>
        <p:spPr>
          <a:xfrm>
            <a:off x="731520" y="1371600"/>
            <a:ext cx="5120640" cy="3749039"/>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554480"/>
            <a:ext cx="4754880" cy="3383280"/>
          </a:xfrm>
          <a:prstGeom prst="rect">
            <a:avLst/>
          </a:prstGeom>
          <a:noFill/>
        </p:spPr>
        <p:txBody>
          <a:bodyPr wrap="square">
            <a:spAutoFit/>
          </a:bodyPr>
          <a:lstStyle/>
          <a:p>
            <a:pPr>
              <a:defRPr sz="1300" b="1">
                <a:solidFill>
                  <a:srgbClr val="DC2626"/>
                </a:solidFill>
              </a:defRPr>
            </a:pPr>
            <a:r>
              <a:t>BA GIỚI HẠN THỰC TẾ CỦA HỆ THỐNG HIỆN TẠI</a:t>
            </a:r>
          </a:p>
          <a:p>
            <a:pPr>
              <a:defRPr sz="1000">
                <a:solidFill>
                  <a:srgbClr val="1E293B"/>
                </a:solidFill>
              </a:defRPr>
            </a:pPr>
            <a:r>
              <a:t>1. Chưa có kiểm thử tự động E2E đa nền tảng đồng thời:</a:t>
            </a:r>
          </a:p>
          <a:p>
            <a:pPr>
              <a:defRPr sz="1000">
                <a:solidFill>
                  <a:srgbClr val="1E293B"/>
                </a:solidFill>
              </a:defRPr>
            </a:pPr>
            <a:r>
              <a:t>   Nhóm mới kiểm thử tự động xUnit Backend và build APK độc lập; chưa có kịch bản E2E tự động xuyên suốt Web -&gt; Mobile -&gt; Desktop.</a:t>
            </a:r>
          </a:p>
          <a:p>
            <a:pPr>
              <a:defRPr sz="1000">
                <a:solidFill>
                  <a:srgbClr val="1E293B"/>
                </a:solidFill>
              </a:defRPr>
            </a:pPr>
            <a:r>
              <a:t>2. Chưa có thông báo đẩy thời gian thực (Push Notification):</a:t>
            </a:r>
          </a:p>
          <a:p>
            <a:pPr>
              <a:defRPr sz="1000">
                <a:solidFill>
                  <a:srgbClr val="1E293B"/>
                </a:solidFill>
              </a:defRPr>
            </a:pPr>
            <a:r>
              <a:t>   Khi BCN điểm danh hoặc có sự kiện mới, sinh viên chưa nhận được thông báo qua Firebase Cloud Messaging (FCM) hoặc SignalR.</a:t>
            </a:r>
          </a:p>
          <a:p>
            <a:pPr>
              <a:defRPr sz="1000">
                <a:solidFill>
                  <a:srgbClr val="1E293B"/>
                </a:solidFill>
              </a:defRPr>
            </a:pPr>
            <a:r>
              <a:t>3. Một chỗ mã nguồn chưa tối ưu:</a:t>
            </a:r>
          </a:p>
          <a:p>
            <a:pPr>
              <a:defRPr sz="1000">
                <a:solidFill>
                  <a:srgbClr val="1E293B"/>
                </a:solidFill>
              </a:defRPr>
            </a:pPr>
            <a:r>
              <a:t>   Cơ chế Refresh Token tự động khi JWT 4 giờ hết hạn chưa được triển khai hoàn chỉnh, người dùng vẫn phải đăng nhập lại.</a:t>
            </a:r>
          </a:p>
        </p:txBody>
      </p:sp>
      <p:sp>
        <p:nvSpPr>
          <p:cNvPr id="12" name="Rounded Rectangle 11"/>
          <p:cNvSpPr/>
          <p:nvPr/>
        </p:nvSpPr>
        <p:spPr>
          <a:xfrm>
            <a:off x="6217920" y="1371600"/>
            <a:ext cx="5212080" cy="3749039"/>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54480"/>
            <a:ext cx="4846320" cy="3383280"/>
          </a:xfrm>
          <a:prstGeom prst="rect">
            <a:avLst/>
          </a:prstGeom>
          <a:noFill/>
        </p:spPr>
        <p:txBody>
          <a:bodyPr wrap="square">
            <a:spAutoFit/>
          </a:bodyPr>
          <a:lstStyle/>
          <a:p>
            <a:pPr>
              <a:defRPr sz="1300" b="1">
                <a:solidFill>
                  <a:srgbClr val="22A6A1"/>
                </a:solidFill>
              </a:defRPr>
            </a:pPr>
            <a:r>
              <a:t>KẾ HOẠCH NẾU CÓ THÊM 2 TUẦN NỮA</a:t>
            </a:r>
          </a:p>
          <a:p>
            <a:pPr>
              <a:defRPr sz="1000">
                <a:solidFill>
                  <a:srgbClr val="1E293B"/>
                </a:solidFill>
              </a:defRPr>
            </a:pPr>
            <a:r>
              <a:t>1. Tích hợp SignalR Hub vào ASP.NET Core:</a:t>
            </a:r>
          </a:p>
          <a:p>
            <a:pPr>
              <a:defRPr sz="1000">
                <a:solidFill>
                  <a:srgbClr val="1E293B"/>
                </a:solidFill>
              </a:defRPr>
            </a:pPr>
            <a:r>
              <a:t>   Cập nhật danh sách điểm danh thời gian thực giữa Windows Forms và Android mà không cần người dùng bấm làm mới.</a:t>
            </a:r>
          </a:p>
          <a:p>
            <a:pPr>
              <a:defRPr sz="1000">
                <a:solidFill>
                  <a:srgbClr val="1E293B"/>
                </a:solidFill>
              </a:defRPr>
            </a:pPr>
            <a:r>
              <a:t>2. Triển khai Room Database trên Android:</a:t>
            </a:r>
          </a:p>
          <a:p>
            <a:pPr>
              <a:defRPr sz="1000">
                <a:solidFill>
                  <a:srgbClr val="1E293B"/>
                </a:solidFill>
              </a:defRPr>
            </a:pPr>
            <a:r>
              <a:t>   Lưu trữ ngoại tuyến danh sách tài liệu English for IT và sự kiện đã tải để sinh viên xem lại khi không có mạng.</a:t>
            </a:r>
          </a:p>
          <a:p>
            <a:pPr>
              <a:defRPr sz="1000">
                <a:solidFill>
                  <a:srgbClr val="1E293B"/>
                </a:solidFill>
              </a:defRPr>
            </a:pPr>
            <a:r>
              <a:t>3. Bổ sung bộ kiểm thử E2E tự động:</a:t>
            </a:r>
          </a:p>
          <a:p>
            <a:pPr>
              <a:defRPr sz="1000">
                <a:solidFill>
                  <a:srgbClr val="1E293B"/>
                </a:solidFill>
              </a:defRPr>
            </a:pPr>
            <a:r>
              <a:t>   Viết Playwright kiểm thử Web và Espresso kiểm thử Android để tích hợp vào quy trình CI/CD hoàn chỉnh.</a:t>
            </a:r>
          </a:p>
        </p:txBody>
      </p:sp>
      <p:sp>
        <p:nvSpPr>
          <p:cNvPr id="14" name="Rectangle 13"/>
          <p:cNvSpPr/>
          <p:nvPr/>
        </p:nvSpPr>
        <p:spPr>
          <a:xfrm>
            <a:off x="731520" y="5257800"/>
            <a:ext cx="10728655" cy="1051560"/>
          </a:xfrm>
          <a:prstGeom prst="rect">
            <a:avLst/>
          </a:prstGeom>
          <a:solidFill>
            <a:srgbClr val="0F172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321808"/>
            <a:ext cx="10332720" cy="868680"/>
          </a:xfrm>
          <a:prstGeom prst="rect">
            <a:avLst/>
          </a:prstGeom>
          <a:noFill/>
        </p:spPr>
        <p:txBody>
          <a:bodyPr wrap="none">
            <a:spAutoFit/>
          </a:bodyPr>
          <a:lstStyle/>
          <a:p>
            <a:pPr algn="ctr">
              <a:defRPr sz="1300" b="1">
                <a:solidFill>
                  <a:srgbClr val="22A6A1"/>
                </a:solidFill>
                <a:latin typeface="Segoe UI"/>
              </a:defRPr>
            </a:pPr>
            <a:r>
              <a:t>CHÂN THÀNH CẢM ƠN THẦY VÀ CÁC BẠN ĐÃ LẮNG NGHE BÀI BÁO CÁO CỦA NHÓM VISIONARY API!</a:t>
            </a:r>
          </a:p>
          <a:p>
            <a:pPr algn="ctr">
              <a:defRPr sz="1000">
                <a:solidFill>
                  <a:srgbClr val="FFFFFF"/>
                </a:solidFill>
                <a:latin typeface="Segoe UI"/>
              </a:defRPr>
            </a:pPr>
            <a:r>
              <a:t>Nhóm chúng em rất mong nhận được những câu hỏi phản biện và đóng góp quý báu từ Thầy để hoàn thiện sản phẩm.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