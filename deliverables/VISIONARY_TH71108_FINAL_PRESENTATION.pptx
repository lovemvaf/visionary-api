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(QUÁCH KHOA ĐỨC - 45s):</a:t>
            </a:r>
          </a:p>
          <a:p>
            <a:r>
              <a:t>Kính chào Thầy và các bạn! Em tên là Quách Khoa Đức, đại diện nhóm VISIONARY API gồm 4 thành viên. Hôm nay nhóm em xin báo cáo đồ án học phần Web API với đề tài: VISIONARY – Hệ thống Quản lý Hoạt động Hội nhập. Đề tài của nhóm em xây dựng một Web API duy nhất bằng ASP.NET Core 8, phục vụ đồng bộ cho ba ứng dụng: Website Next.js, Desktop Windows Forms và Mobile Android Native. Sau đây em xin bắt đầu phần giới thiệu bài toán và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(QUÁCH KHOA ĐỨC - 1'00"):</a:t>
            </a:r>
          </a:p>
          <a:p>
            <a:r>
              <a:t>Thưa Thầy, lý do nhóm em chọn đề tài xuất phát từ bài toán thực tế của CLB Tiếng Anh và sinh viên DNTU. Trước đây, việc quản lý thành viên và điểm danh sự kiện làm bằng file tính thủ công. Sinh viên cũng thiếu cổng thông tin học thuật tiếng Anh chuyên ngành IT và các cuộc thi quốc tế. Hệ thống VISIONARY giải quyết trọn vẹn bài toán bằng một Web API trung tâm duy nhất trên ASP.NET Core 8, kết nối cơ sở dữ liệu PostgreSQL. Cả ba ứng dụng Web, Android và Windows Forms đều dùng chung dữ liệu nên không bao giờ bị lệch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(QUÁCH KHOA ĐỨC - 1'00"):</a:t>
            </a:r>
          </a:p>
          <a:p>
            <a:r>
              <a:t>Đây là sơ đồ kiến trúc tổng thể của hệ thống. Ở trung tâm là máy chủ ASP.NET Core 8 Web API chạy trên Kestrel. Cả ba ứng dụng đều giao tiếp với API qua giao thức HTTP/HTTPS chuẩn RESTful. Website Next.js chạy trên trình duyệt gọi qua cổng 443 hoặc qua BFF route handler. Ứng dụng Windows Forms chạy trực tiếp trên máy tính Windows gọi tới API bằng HttpClient. Còn ứng dụng Android khi chạy máy ảo sử dụng địa chỉ 10.0.2.2 để kết nối vào máy chủ, vì máy ảo Android xem localhost là chính nó; khi lên production, Android gọi thẳng vào tên miền cloud https của Render. Phía sau API là cơ sở dữ liệu PostgreSQL lưu trữ trên Supabase Singapore thông qua cổng 5432. Việc dùng chung một API giúp hệ thống kiểm soát toàn vẹn dữ liệu và phân quyền một nơi duy nhất.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(QUÁCH KHOA ĐỨC - 1'00"):</a:t>
            </a:r>
          </a:p>
          <a:p>
            <a:r>
              <a:t>Đây là giao diện Web của nhóm được xây dựng bằng Next.js 14 App Router. Màn hình hiển thị danh sách các sự kiện CLB. Các điều khiển tuân thủ đúng quy ước: ô nhập từ khóa là txtSearch, nút bấm là btnSearch, danh sách hiển thị là grdEvents. Đoạn mã bên phải lấy trực tiếp từ file events/page.tsx. Khi người dùng gõ từ khóa, hàm gửi request GET tới /api/events kèm phân trang pageIndex và pageSize. Điểm kỹ thuật quan trọng ở đây là nhóm dùng AbortController để tự động hủy request cũ khi người dùng gõ nhanh, tránh lỗi bất đồng bộ race condition. Khi nhận kết quả thành công, hàm setEvents sẽ đổ dữ liệu thật vào giao diện. Sau đây, em xin kính mời bạn Đào Trí Khang tiếp tục trình bày về ứng dụng di động Android Native.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(ĐÀO TRÍ KHANG - 1'00"):</a:t>
            </a:r>
          </a:p>
          <a:p>
            <a:r>
              <a:t>Kính chào Thầy và các bạn! Em tên là Đào Trí Khang, phụ trách ứng dụng di động Android Native bằng Java. Ứng dụng Android được thiết kế cho sinh viên DNTU để theo dõi hoạt động CLB và đăng ký sự kiện ngay trên điện thoại. Bên trái là ảnh chụp thật từ ứng dụng Android. Các điều khiển tuân thủ đúng quy ước đặt tên: danh sách cuộn là lstEvents (RecyclerView), nút đăng ký là btnRegister, vuốt làm mới là swpRefresh. Đoạn mã bên phải thể hiện hàm loadEvents gọi tới Web API thông qua thư viện Retrofit 2. Hàm getEvents(1, 20) được đẩy vào phương thức enqueue để thực thi trên luồng nền của OkHttp, khi có kết quả onResponse sẽ tự động đưa về luồng chính để cập nhật adapter cho RecyclerView.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(ĐÀO TRÍ KHANG - 1'00"):</a:t>
            </a:r>
          </a:p>
          <a:p>
            <a:r>
              <a:t>Thưa Thầy, một trong những khó khăn lớn nhất khi lập trình ứng dụng di động Android kết nối Web API là cơ chế điều phối đa luồng. Hệ điều hành Android có hai quy tắc nghiêm ngặt: Thứ nhất: Tuyệt đối không được gọi mạng trên Luồng Chính (UI Thread). Nếu vi phạm, hệ điều hành sẽ ném ngoại lệ NetworkOnMainThreadException và tắt app ngay. Thứ hai: Tuyệt đối không được chạm vào giao diện View từ luồng nền. Nếu vi phạm, sẽ gặp lỗi CalledFromWrongThreadException. Để giải quyết triệt để, nhóm em sử dụng phương thức enqueue() của Retrofit. OkHttp sẽ mở luồng nền chạy ngầm gửi request và nhận JSON. Sau đó Retrofit dùng Handler với MainLooper để chuyển kết quả đã parse xong về lại Luồng Chính an toàn, giúp giao diện người dùng luôn mượt mà.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(ĐÀO TRÍ KHANG - 1'15"):</a:t>
            </a:r>
          </a:p>
          <a:p>
            <a:r>
              <a:t>Bây giờ em xin thực hiện thao tác demo trực tiếp trên ứng dụng Android đã biên dịch sẵn file app-debug.apk. Đầu tiên em đăng nhập bằng tài khoản sinh viên. Sau khi đăng nhập thành công, app nhận chuỗi JWT và lưu vào bộ nhớ an toàn SharedPreferences. Ở màn hình sự kiện, em chọn workshop 'Master Git, GitHub &amp; CI/CD Actions' và bấm nút Đăng ký. Ứng dụng sẽ gửi HTTP POST tới endpoint /api/events/register kèm mã token. Server xác thực thành công và trả về mã QR check-in như trên màn hình. Đồng thời, dữ liệu này đã được ghi nhận ngay lập tức vào cơ sở dữ liệu chung. Tiếp theo, em xin kính mời bạn Hồ Đoàng Nguyên Khang trình bày chi tiết về máy chủ Web API, Swagger và cơ chế xác thực JWT.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(HỒ ĐOÀNG NGUYÊN KHANG - 1'00"):</a:t>
            </a:r>
          </a:p>
          <a:p>
            <a:r>
              <a:t>Kính chào Thầy và các bạn! Em tên là Hồ Đoàng Nguyên Khang, phụ trách phát triển Web API, tài liệu Swagger và cơ sở dữ liệu. Bên trái là giao diện Swagger UI thực tế đang chạy trực tuyến tại địa chỉ https://visionary-api-gb51.onrender.com/swagger. Bảng bên phải là hợp đồng API chính thức mà cả ba ứng dụng đều tuân thủ từng ký tự. Hợp đồng phân định rõ ràng các mức quyền: Các endpoint công khai như đăng nhập và xem danh sách sự kiện ai cũng gọi được. Endpoint đăng ký tham gia sự kiện yêu cầu người dùng phải đăng nhập có JWT token. Còn các thao tác tạo sự kiện hoặc điểm danh học viên bắt buộc phải có vai trò Admin hoặc Committee. Mọi tên trường trong JSON đều dùng quy ước camelCase đồng bộ như totalCount, pageIndex, pageSize và items.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(HỒ ĐOÀNG NGUYÊN KHANG - 1'00"):</a:t>
            </a:r>
          </a:p>
          <a:p>
            <a:r>
              <a:t>Thưa Thầy, để minh họa một chu trình request hoàn chỉnh, nhóm em chọn endpoint GET /api/events và POST /api/events/register đi qua đủ 6 chặng kỹ thuật: Chặng 1: Bắt đầu từ cú nhấp chuột của người dùng. Chặng 2: Client gọi hàm mạng bất đồng bộ tương ứng ở từng ngôn ngữ. Chặng 3: Gói tin HTTP mang header Authorization gửi tới cổng 443 của máy chủ Kestrel. Chặng 4: Server xác thực token, kiểm tra hạn chót sự kiện và gọi Entity Framework Core ghi vào PostgreSQL. Chặng 5: Server đóng gói kết quả dạng JSON UTF-8 trả về cho client. Chặng 6: Client giải mã JSON, đưa về Luồng Chính và đổ dữ liệu lên màn hình. Cả ba nền tảng đều đi qua đúng 6 chặng này một cách nhất quán.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(HỒ ĐOÀNG NGUYÊN KHANG - 1'15"):</a:t>
            </a:r>
          </a:p>
          <a:p>
            <a:r>
              <a:t>Về cơ chế xác thực, nhóm em sử dụng JSON Web Token (JWT) theo chuẩn RFC 7519. Có hai bức ảnh chụp kết quả kiểm thử thực tế trên slide: Bên trái là mã HTTP 401 Unauthorized khi người dùng gọi endpoint quản trị mà chưa đăng nhập hoặc không gửi kèm Bearer token. Bên phải là mã HTTP 403 Forbidden: trường hợp này người dùng đã đăng nhập thành công với tài khoản Sinh viên, nhưng cố tình gọi vào endpoint phân quyền của Admin thì server từ chối ngay. Điểm mấu chốt: JWT không phải chuỗi mã hóa bí mật mà là chuỗi được ký số. Nếu người dùng tự ý chỉnh sửa vai trò trong payload, chữ ký số sẽ không khớp và server lập tức chặn lại. Đồng thời, server luôn tự đọc danh tính người gọi từ token chứ không tin vào tham số client gửi lên.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(HỒ ĐOÀNG NGUYÊN KHANG - 1'00"):</a:t>
            </a:r>
          </a:p>
          <a:p>
            <a:r>
              <a:t>Ở tầng dữ liệu, nhóm em đưa ra ba quyết định kỹ thuật quan trọng: Thứ nhất: Luôn sử dụng DTO (Data Transfer Object) để tách biệt hoàn toàn giữa cơ sở dữ liệu và giao diện. DTO giúp bảo mật trường mật khẩu đã băm và triệt tiêu lỗi vòng lặp tuần tự hóa JSON. Thứ hai: Cơ chế phân trang PagedResponse bắt buộc thực thi ở cấp cơ sở dữ liệu qua Skip và Take, kèm tiêu chí sắp xếp phụ tie-breaker để đảm bảo dữ liệu không bị trùng giữa các trang. Thứ ba: Cơ sở dữ liệu PostgreSQL đặt tại Singapore kết nối qua Connection Pooler IPv4 đảm bảo thời gian phản hồi dưới 100ms. Sau đây, em xin kính mời bạn Võ Ngọc Minh Đạt trình bày ứng dụng Windows Forms và tổng kết bài báo cáo.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(VÕ NGỌC MINH ĐẠT - 1'00"):</a:t>
            </a:r>
          </a:p>
          <a:p>
            <a:r>
              <a:t>Kính chào Thầy và các bạn! Em tên là Võ Ngọc Minh Đạt, phụ trách ứng dụng Windows Forms C# trên .NET 8. Đây là phần mềm chuyên dụng dành riêng cho Ban Chủ Nhiệm CLB để quản lý thành viên và điểm danh sự kiện trên máy tính văn phòng. Giao diện sử dụng các điều khiển DataGridView tiêu chuẩn. Đoạn mã bên phải thể hiện hàm nạp danh sách đăng ký sự kiện. Trong C#, nhóm em sử dụng từ khóa async và await kết hợp với HttpClient tĩnh duy nhất. Từ khóa await giúp nhường quyền điều khiển cho luồng giao diện trong lúc chờ máy chủ phản hồi, và tự động quay về đúng SynchronizationContext của UI khi có dữ liệu. Nhờ vậy, cửa sổ ứng dụng không bao giờ bị đơ (Not Responding) và tuyệt đối tránh lỗi Deadlock do gọi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(VÕ NGỌC MINH ĐẠT - 1'15"):</a:t>
            </a:r>
          </a:p>
          <a:p>
            <a:r>
              <a:t>Sau khi bạn Trí Khang vừa bấm đăng ký sự kiện trên ứng dụng Android, bây giờ em mở bản chạy thật của ứng dụng Windows Forms đã biên dịch sẵn trong thư mục Release. Em đăng nhập bằng tài khoản Ban Chủ Nhiệm và chuyển sang tab 'Sự kiện &amp; Điểm danh'. Khi em bấm vào workshop Git, bảng đăng ký phía dưới hiển thị ngay thông tin sinh viên vừa đăng ký từ điện thoại di động. Em bấm nút 'Xác nhận Điểm danh'. Ứng dụng gửi yêu cầu POST tới Web API. Server kiểm tra quyền của em và ghi nhận thời gian điểm danh vào cơ sở dữ liệu. Ngay lập tức, cột trạng thái chuyển sang 'Đã điểm danh'. Điều này chứng minh ba ứng dụng tương tác hoàn hảo trên cùng một nguồn dữ liệu thông qua Web API duy nhất.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(VÕ NGỌC MINH ĐẠT - 1'00"):</a:t>
            </a:r>
          </a:p>
          <a:p>
            <a:r>
              <a:t>Thưa Thầy, một câu hỏi cốt lõi của học phần là: Điều gì buộc phải giống nhau và điều gì buộc phải khác nhau giữa ba ứng dụng? Nhóm em đã tổng hợp rõ trong bảng đối chiếu: Ba chỗ buộc phải khác nhau: Thứ nhất là thư viện mạng: JavaScript dùng fetch, C# dùng HttpClient, Java dùng Retrofit và OkHttp. Thứ hai là cơ chế điều phối luồng: Android bắt buộc dùng Handler để đưa về Luồng Chính, trong khi C# có async/await tự động quay về UI context, và trình duyệt chạy theo mô hình Event Loop. Thứ ba là lưu trữ token: Web dùng localStorage, WinForms dùng RAM tĩnh, Android dùng SharedPreferences. Ngược lại, điều bắt buộc phải giống nhau tuyệt đối là Hợp đồng API: đường dẫn, phương thức HTTP, khuôn JSON và mã trạng thái. Đây chính là sức mạnh của kiến trúc tách tầng Web API.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(VÕ NGỌC MINH ĐẠT - 1'00"):</a:t>
            </a:r>
          </a:p>
          <a:p>
            <a:r>
              <a:t>Trong quá trình xây dựng pipeline CI/CD tự động, nhóm em đã gặp một sự cố thật rất điển hình. Bên trái là log lỗi nguyên văn từ GitHub Actions: NETSDK1100. Lỗi xảy ra vì file solution chung chứa cả dự án Windows Forms, khi đưa lên máy ảo Ubuntu Linux của GitHub Actions để build API, hệ điều hành Linux từ chối biên dịch các thư viện giao diện Windows. Nhóm em đã tự phân tích và khắc phục triệt để bằng cách tách riêng một solution Visionary.Backend.sln độc lập cho backend, còn dự án Windows Forms được biên dịch trong workflow riêng chạy trên máy ảo Windows. Sau khi sửa, toàn bộ 15 bài test tự động đều vượt qua 100% như hình bên phải.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(VÕ NGỌC MINH ĐẠT - 45s):</a:t>
            </a:r>
          </a:p>
          <a:p>
            <a:r>
              <a:t>Kính thưa Thầy, biết mình chưa làm được gì là một dạng hiểu biết chứ không phải lời thú tội. Dù hệ thống đã chạy tốt các chức năng chính, nhóm em thẳng thắn nhìn nhận ba hạn chế thực tế: chưa có thông báo đẩy thời gian thực, chưa có bộ nhớ đệm offline Room DB trên Android, và cơ chế refresh token cần được tự động hóa tốt hơn. Nếu có thêm hai tuần, nhóm em sẽ ưu tiên tích hợp SignalR và Room DB để nâng cao độ bền vững của ứng dụng. Đến đây, nhóm VISIONARY API xin kết thúc bài thuyết trình. Chúng em xin chân thành cảm ơn Thầy và các bạn đã chú ý lắng nghe. Nhóm chúng em sẵn sàng bước vào phần trả lời câu hỏi phản biện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ntu_logo.png"/>
          <p:cNvPicPr>
            <a:picLocks noChangeAspect="1"/>
          </p:cNvPicPr>
          <p:nvPr/>
        </p:nvPicPr>
        <p:blipFill>
          <a:blip r:embed="rId2"/>
          <a:stretch>
            <a:fillRect/>
          </a:stretch>
        </p:blipFill>
        <p:spPr>
          <a:xfrm>
            <a:off x="914400" y="731520"/>
            <a:ext cx="774740" cy="1097280"/>
          </a:xfrm>
          <a:prstGeom prst="rect">
            <a:avLst/>
          </a:prstGeom>
        </p:spPr>
      </p:pic>
      <p:pic>
        <p:nvPicPr>
          <p:cNvPr id="4" name="Picture 3" descr="cntt_dntu_logo.png"/>
          <p:cNvPicPr>
            <a:picLocks noChangeAspect="1"/>
          </p:cNvPicPr>
          <p:nvPr/>
        </p:nvPicPr>
        <p:blipFill>
          <a:blip r:embed="rId3"/>
          <a:stretch>
            <a:fillRect/>
          </a:stretch>
        </p:blipFill>
        <p:spPr>
          <a:xfrm>
            <a:off x="2011680" y="731520"/>
            <a:ext cx="1385468" cy="1097280"/>
          </a:xfrm>
          <a:prstGeom prst="rect">
            <a:avLst/>
          </a:prstGeom>
        </p:spPr>
      </p:pic>
      <p:sp>
        <p:nvSpPr>
          <p:cNvPr id="5" name="TextBox 4"/>
          <p:cNvSpPr txBox="1"/>
          <p:nvPr/>
        </p:nvSpPr>
        <p:spPr>
          <a:xfrm>
            <a:off x="3474720" y="777240"/>
            <a:ext cx="7772400" cy="1005840"/>
          </a:xfrm>
          <a:prstGeom prst="rect">
            <a:avLst/>
          </a:prstGeom>
          <a:noFill/>
        </p:spPr>
        <p:txBody>
          <a:bodyPr wrap="none">
            <a:spAutoFit/>
          </a:bodyPr>
          <a:lstStyle/>
          <a:p>
            <a:pPr>
              <a:defRPr sz="1400" b="1">
                <a:solidFill>
                  <a:srgbClr val="22A6A1"/>
                </a:solidFill>
                <a:latin typeface="Segoe UI"/>
              </a:defRPr>
            </a:pPr>
            <a:r>
              <a:t>TRƯỜNG ĐẠI HỌC CÔNG NGHỆ ĐỒNG NAI (DNTU)</a:t>
            </a:r>
          </a:p>
          <a:p>
            <a:pPr>
              <a:defRPr sz="1200">
                <a:solidFill>
                  <a:srgbClr val="FFFFFF"/>
                </a:solidFill>
                <a:latin typeface="Segoe UI"/>
              </a:defRPr>
            </a:pPr>
            <a:r>
              <a:t>KHOA CÔNG NGHỆ THÔNG TIN – HỌC PHẦN WEB API (TH71108)</a:t>
            </a:r>
          </a:p>
        </p:txBody>
      </p:sp>
      <p:sp>
        <p:nvSpPr>
          <p:cNvPr id="6" name="TextBox 5"/>
          <p:cNvSpPr txBox="1"/>
          <p:nvPr/>
        </p:nvSpPr>
        <p:spPr>
          <a:xfrm>
            <a:off x="914400" y="2011680"/>
            <a:ext cx="10362895" cy="1645920"/>
          </a:xfrm>
          <a:prstGeom prst="rect">
            <a:avLst/>
          </a:prstGeom>
          <a:noFill/>
        </p:spPr>
        <p:txBody>
          <a:bodyPr wrap="none">
            <a:spAutoFit/>
          </a:bodyPr>
          <a:lstStyle/>
          <a:p>
            <a:pPr>
              <a:defRPr sz="3600" b="1">
                <a:solidFill>
                  <a:srgbClr val="FFFFFF"/>
                </a:solidFill>
                <a:latin typeface="Segoe UI"/>
              </a:defRPr>
            </a:pPr>
            <a:r>
              <a:t>VISIONARY</a:t>
            </a:r>
          </a:p>
          <a:p>
            <a:pPr>
              <a:defRPr sz="2000" b="1">
                <a:solidFill>
                  <a:srgbClr val="22A6A1"/>
                </a:solidFill>
                <a:latin typeface="Segoe UI"/>
              </a:defRPr>
            </a:pPr>
            <a:r>
              <a:t>HỆ THỐNG QUẢN LÝ HOẠT ĐỘNG HỘI NHẬP &amp; KẾT NỐI SINH VIÊN</a:t>
            </a:r>
          </a:p>
          <a:p>
            <a:pPr>
              <a:defRPr sz="1300">
                <a:solidFill>
                  <a:srgbClr val="CBD5E1"/>
                </a:solidFill>
                <a:latin typeface="Segoe UI"/>
              </a:defRPr>
            </a:pPr>
            <a:r>
              <a:t>Mô hình Một Web API (ASP.NET Core 8) phục vụ Ba Nền tảng (Web Next.js, Desktop WinForms C#, Android Java)</a:t>
            </a:r>
          </a:p>
        </p:txBody>
      </p:sp>
      <p:sp>
        <p:nvSpPr>
          <p:cNvPr id="7" name="Rounded Rectangle 6"/>
          <p:cNvSpPr/>
          <p:nvPr/>
        </p:nvSpPr>
        <p:spPr>
          <a:xfrm>
            <a:off x="914400" y="3840480"/>
            <a:ext cx="10362895" cy="18288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931920"/>
            <a:ext cx="9966960" cy="1645920"/>
          </a:xfrm>
          <a:prstGeom prst="rect">
            <a:avLst/>
          </a:prstGeom>
          <a:noFill/>
        </p:spPr>
        <p:txBody>
          <a:bodyPr wrap="none">
            <a:spAutoFit/>
          </a:bodyPr>
          <a:lstStyle/>
          <a:p>
            <a:pPr>
              <a:defRPr sz="1100" b="1">
                <a:solidFill>
                  <a:srgbClr val="22A6A1"/>
                </a:solidFill>
                <a:latin typeface="Segoe UI"/>
              </a:defRPr>
            </a:pPr>
            <a:r>
              <a:t>NHÓM PHÁT TRIỂN: VISIONARY API (PHÂN CÔNG THUYẾT TRÌNH THEO ĐỘ KHÓ TĂNG DẦN):</a:t>
            </a:r>
          </a:p>
          <a:p>
            <a:pPr>
              <a:defRPr sz="1100">
                <a:solidFill>
                  <a:srgbClr val="FFFFFF"/>
                </a:solidFill>
                <a:latin typeface="Segoe UI"/>
              </a:defRPr>
            </a:pPr>
            <a:r>
              <a:t>1. Quách Khoa Đức (1923040025) – Trưởng nhóm, Kiến trúc hệ thống &amp; Web Client Next.js [Người bắt đầu: 2'45"]</a:t>
            </a:r>
          </a:p>
          <a:p>
            <a:pPr>
              <a:defRPr sz="1100">
                <a:solidFill>
                  <a:srgbClr val="FFFFFF"/>
                </a:solidFill>
                <a:latin typeface="Segoe UI"/>
              </a:defRPr>
            </a:pPr>
            <a:r>
              <a:t>2. Đào Trí Khang (1923040156) – Kỹ sư Mobile, Ứng dụng di động Android Native Java [3'15"]</a:t>
            </a:r>
          </a:p>
          <a:p>
            <a:pPr>
              <a:defRPr sz="1100">
                <a:solidFill>
                  <a:srgbClr val="FFFFFF"/>
                </a:solidFill>
                <a:latin typeface="Segoe UI"/>
              </a:defRPr>
            </a:pPr>
            <a:r>
              <a:t>3. Hồ Đoàng Nguyên Khang (1923040112) – Kỹ sư API, Swagger Contract, JWT &amp; PostgreSQL [4'15"]</a:t>
            </a:r>
          </a:p>
          <a:p>
            <a:pPr>
              <a:defRPr sz="1100">
                <a:solidFill>
                  <a:srgbClr val="FFFFFF"/>
                </a:solidFill>
                <a:latin typeface="Segoe UI"/>
              </a:defRPr>
            </a:pPr>
            <a:r>
              <a:t>4. Võ Ngọc Minh Đạt (1923040088) – Kỹ sư Desktop, Windows Forms C#, Sự cố &amp; Tổng kết [Người kết thúc: 4'45"]</a:t>
            </a:r>
          </a:p>
        </p:txBody>
      </p:sp>
      <p:sp>
        <p:nvSpPr>
          <p:cNvPr id="9" name="TextBox 8"/>
          <p:cNvSpPr txBox="1"/>
          <p:nvPr/>
        </p:nvSpPr>
        <p:spPr>
          <a:xfrm>
            <a:off x="914400" y="5806440"/>
            <a:ext cx="10362895" cy="777240"/>
          </a:xfrm>
          <a:prstGeom prst="rect">
            <a:avLst/>
          </a:prstGeom>
          <a:noFill/>
        </p:spPr>
        <p:txBody>
          <a:bodyPr wrap="none">
            <a:spAutoFit/>
          </a:bodyPr>
          <a:lstStyle/>
          <a:p>
            <a:pPr>
              <a:defRPr sz="1050" b="1">
                <a:solidFill>
                  <a:srgbClr val="22A6A1"/>
                </a:solidFill>
                <a:latin typeface="Segoe UI"/>
              </a:defRPr>
            </a:pPr>
            <a:r>
              <a:t>🌐 Web: https://visionary-platform.vercel.app  |  ⚡ API &amp; Swagger: https://visionary-api-gb51.onrender.com/swagger</a:t>
            </a:r>
          </a:p>
          <a:p>
            <a:pPr>
              <a:defRPr sz="950">
                <a:solidFill>
                  <a:srgbClr val="94A3B8"/>
                </a:solidFill>
                <a:latin typeface="Segoe UI"/>
              </a:defRPr>
            </a:pPr>
            <a:r>
              <a:t>Khai báo AI: Nhóm sử dụng AI (Google Antigravity) để hỗ trợ rà soát mã nguồn, thiết lập test hồi quy và biên soạn tài liệu; toàn bộ mã nguồn, cấu hình đám mây và kết quả chạy đều do nhóm trực tiếp kiểm chứng.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01. GIỚI THIỆU ĐỀ TÀI</a:t>
            </a:r>
          </a:p>
          <a:p>
            <a:pPr>
              <a:defRPr sz="1900" b="1">
                <a:solidFill>
                  <a:srgbClr val="0F172A"/>
                </a:solidFill>
                <a:latin typeface="Segoe UI"/>
              </a:defRPr>
            </a:pPr>
            <a:r>
              <a:t>BÀI TOÁN THỰC TẾ &amp; MỤC TIÊU HỆ THỐNG</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Quách Khoa Đức | Slide 2/16</a:t>
            </a:r>
          </a:p>
        </p:txBody>
      </p:sp>
      <p:sp>
        <p:nvSpPr>
          <p:cNvPr id="10" name="Rounded Rectangle 9"/>
          <p:cNvSpPr/>
          <p:nvPr/>
        </p:nvSpPr>
        <p:spPr>
          <a:xfrm>
            <a:off x="731520" y="1371600"/>
            <a:ext cx="512064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45920"/>
            <a:ext cx="4572000" cy="4206240"/>
          </a:xfrm>
          <a:prstGeom prst="rect">
            <a:avLst/>
          </a:prstGeom>
          <a:noFill/>
        </p:spPr>
        <p:txBody>
          <a:bodyPr wrap="square">
            <a:spAutoFit/>
          </a:bodyPr>
          <a:lstStyle/>
          <a:p>
            <a:pPr>
              <a:defRPr sz="1400" b="1">
                <a:solidFill>
                  <a:srgbClr val="DC2626"/>
                </a:solidFill>
              </a:defRPr>
            </a:pPr>
            <a:r>
              <a:t>VẤN ĐỀ THỰC TẾ CỦA CLB &amp; SINH VIÊN</a:t>
            </a:r>
          </a:p>
          <a:p>
            <a:pPr>
              <a:defRPr sz="1100">
                <a:solidFill>
                  <a:srgbClr val="1E293B"/>
                </a:solidFill>
              </a:defRPr>
            </a:pPr>
            <a:r>
              <a:t>1. Quản lý thủ công, rời rạc:</a:t>
            </a:r>
          </a:p>
          <a:p>
            <a:pPr>
              <a:defRPr sz="1100">
                <a:solidFill>
                  <a:srgbClr val="1E293B"/>
                </a:solidFill>
              </a:defRPr>
            </a:pPr>
            <a:r>
              <a:t>   CLB Tiếng Anh DNTU trước đây quản lý qua Google Form và file tính, dễ nhầm lẫn dữ liệu và thất lạc thông tin người tham gia.</a:t>
            </a:r>
          </a:p>
          <a:p>
            <a:pPr>
              <a:defRPr sz="1100">
                <a:solidFill>
                  <a:srgbClr val="1E293B"/>
                </a:solidFill>
              </a:defRPr>
            </a:pPr>
            <a:r>
              <a:t>2. Thiếu cổng thông tin hội nhập &amp; cơ hội:</a:t>
            </a:r>
          </a:p>
          <a:p>
            <a:pPr>
              <a:defRPr sz="1100">
                <a:solidFill>
                  <a:srgbClr val="1E293B"/>
                </a:solidFill>
              </a:defRPr>
            </a:pPr>
            <a:r>
              <a:t>   Sinh viên CNTT thiếu kênh tiếp cận học thuật English for IT, Radar công nghệ mở (GitHub/Hugging Face) và các cuộc thi Hackathon.</a:t>
            </a:r>
          </a:p>
          <a:p>
            <a:pPr>
              <a:defRPr sz="1100">
                <a:solidFill>
                  <a:srgbClr val="1E293B"/>
                </a:solidFill>
              </a:defRPr>
            </a:pPr>
            <a:r>
              <a:t>3. Trải nghiệm không đồng bộ trên các thiết bị:</a:t>
            </a:r>
          </a:p>
          <a:p>
            <a:pPr>
              <a:defRPr sz="1100">
                <a:solidFill>
                  <a:srgbClr val="1E293B"/>
                </a:solidFill>
              </a:defRPr>
            </a:pPr>
            <a:r>
              <a:t>   Sinh viên dùng điện thoại di động, Ban Chủ Nhiệm quản trị trên máy tính Windows, độc giả truy cập trên trình duyệt Web.</a:t>
            </a:r>
          </a:p>
        </p:txBody>
      </p:sp>
      <p:sp>
        <p:nvSpPr>
          <p:cNvPr id="12" name="Rounded Rectangle 11"/>
          <p:cNvSpPr/>
          <p:nvPr/>
        </p:nvSpPr>
        <p:spPr>
          <a:xfrm>
            <a:off x="6217920" y="1371600"/>
            <a:ext cx="521208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45920"/>
            <a:ext cx="4663440" cy="4206240"/>
          </a:xfrm>
          <a:prstGeom prst="rect">
            <a:avLst/>
          </a:prstGeom>
          <a:noFill/>
        </p:spPr>
        <p:txBody>
          <a:bodyPr wrap="square">
            <a:spAutoFit/>
          </a:bodyPr>
          <a:lstStyle/>
          <a:p>
            <a:pPr>
              <a:defRPr sz="1400" b="1">
                <a:solidFill>
                  <a:srgbClr val="22A6A1"/>
                </a:solidFill>
              </a:defRPr>
            </a:pPr>
            <a:r>
              <a:t>MỤC TIÊU GIẢI PHÁP VISIONARY</a:t>
            </a:r>
          </a:p>
          <a:p>
            <a:pPr>
              <a:defRPr sz="1100">
                <a:solidFill>
                  <a:srgbClr val="1E293B"/>
                </a:solidFill>
              </a:defRPr>
            </a:pPr>
            <a:r>
              <a:t>1. Xây dựng một Web API trung tâm duy nhất:</a:t>
            </a:r>
          </a:p>
          <a:p>
            <a:pPr>
              <a:defRPr sz="1100">
                <a:solidFill>
                  <a:srgbClr val="1E293B"/>
                </a:solidFill>
              </a:defRPr>
            </a:pPr>
            <a:r>
              <a:t>   ASP.NET Core 8 Web API làm hạt nhân xử lý toàn bộ logic nghiệp vụ, xác thực JWT và kết nối cơ sở dữ liệu PostgreSQL.</a:t>
            </a:r>
          </a:p>
          <a:p>
            <a:pPr>
              <a:defRPr sz="1100">
                <a:solidFill>
                  <a:srgbClr val="1E293B"/>
                </a:solidFill>
              </a:defRPr>
            </a:pPr>
            <a:r>
              <a:t>2. Phục vụ ba ứng dụng khách chuyên biệt:</a:t>
            </a:r>
          </a:p>
          <a:p>
            <a:pPr>
              <a:defRPr sz="1100">
                <a:solidFill>
                  <a:srgbClr val="1E293B"/>
                </a:solidFill>
              </a:defRPr>
            </a:pPr>
            <a:r>
              <a:t>   - Web Next.js: Cổng thông tin công khai, tin tức hội nhập, tra cứu sự kiện, English for IT.</a:t>
            </a:r>
          </a:p>
          <a:p>
            <a:pPr>
              <a:defRPr sz="1100">
                <a:solidFill>
                  <a:srgbClr val="1E293B"/>
                </a:solidFill>
              </a:defRPr>
            </a:pPr>
            <a:r>
              <a:t>   - Windows Forms C#: Phần mềm quản trị cho BCN CLB: quản lý thành viên, duyệt đơn, điểm danh sự kiện.</a:t>
            </a:r>
          </a:p>
          <a:p>
            <a:pPr>
              <a:defRPr sz="1100">
                <a:solidFill>
                  <a:srgbClr val="1E293B"/>
                </a:solidFill>
              </a:defRPr>
            </a:pPr>
            <a:r>
              <a:t>   - Android Native Java: Ứng dụng di động cho sinh viên: xem sự kiện, đăng ký tham gia, nhận mã QR check-in.</a:t>
            </a:r>
          </a:p>
          <a:p>
            <a:pPr>
              <a:defRPr sz="1100">
                <a:solidFill>
                  <a:srgbClr val="1E293B"/>
                </a:solidFill>
              </a:defRPr>
            </a:pPr>
            <a:r>
              <a:t>3. Đảm bảo toàn vẹn dữ liệu (Data Integrity):</a:t>
            </a:r>
          </a:p>
          <a:p>
            <a:pPr>
              <a:defRPr sz="1100">
                <a:solidFill>
                  <a:srgbClr val="1E293B"/>
                </a:solidFill>
              </a:defRPr>
            </a:pPr>
            <a:r>
              <a:t>   Không dùng dữ liệu mẫu (mock/fallback), bảo vệ bài nháp, phân quyền chặt chẽ theo vai trò (RBAC).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02. KIẾN TRÚC HỆ SINH THÁI</a:t>
            </a:r>
          </a:p>
          <a:p>
            <a:pPr>
              <a:defRPr sz="1900" b="1">
                <a:solidFill>
                  <a:srgbClr val="0F172A"/>
                </a:solidFill>
                <a:latin typeface="Segoe UI"/>
              </a:defRPr>
            </a:pPr>
            <a:r>
              <a:t>KIẾN TRÚC HỆ THỐNG: MỘT WEB API, BA NỀN TẢNG</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Quách Khoa Đức | Slide 3/16</a:t>
            </a:r>
          </a:p>
        </p:txBody>
      </p:sp>
      <p:sp>
        <p:nvSpPr>
          <p:cNvPr id="10" name="Rounded Rectangle 9"/>
          <p:cNvSpPr/>
          <p:nvPr/>
        </p:nvSpPr>
        <p:spPr>
          <a:xfrm>
            <a:off x="731520" y="1463040"/>
            <a:ext cx="2926080" cy="1188720"/>
          </a:xfrm>
          <a:prstGeom prst="roundRect">
            <a:avLst/>
          </a:prstGeom>
          <a:solidFill>
            <a:srgbClr val="FFFFFF"/>
          </a:solidFill>
          <a:ln w="25400">
            <a:solidFill>
              <a:srgbClr val="2264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2743200" cy="1005840"/>
          </a:xfrm>
          <a:prstGeom prst="rect">
            <a:avLst/>
          </a:prstGeom>
          <a:noFill/>
        </p:spPr>
        <p:txBody>
          <a:bodyPr wrap="none">
            <a:spAutoFit/>
          </a:bodyPr>
          <a:lstStyle/>
          <a:p>
            <a:r>
              <a:t>ỨNG DỤNG WEB (Next.js 14)</a:t>
            </a:r>
          </a:p>
          <a:p>
            <a:r>
              <a:t>Chạy: Trình duyệt (Vercel Cloud)</a:t>
            </a:r>
          </a:p>
          <a:p>
            <a:r>
              <a:t>Cổng: HTTPS 443 (Local: 3000)</a:t>
            </a:r>
          </a:p>
        </p:txBody>
      </p:sp>
      <p:sp>
        <p:nvSpPr>
          <p:cNvPr id="12" name="Rounded Rectangle 11"/>
          <p:cNvSpPr/>
          <p:nvPr/>
        </p:nvSpPr>
        <p:spPr>
          <a:xfrm>
            <a:off x="731520" y="3017520"/>
            <a:ext cx="2926080" cy="1188720"/>
          </a:xfrm>
          <a:prstGeom prst="roundRect">
            <a:avLst/>
          </a:prstGeom>
          <a:solidFill>
            <a:srgbClr val="FFFFFF"/>
          </a:solidFill>
          <a:ln w="25400">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08960"/>
            <a:ext cx="2743200" cy="1005840"/>
          </a:xfrm>
          <a:prstGeom prst="rect">
            <a:avLst/>
          </a:prstGeom>
          <a:noFill/>
        </p:spPr>
        <p:txBody>
          <a:bodyPr wrap="none">
            <a:spAutoFit/>
          </a:bodyPr>
          <a:lstStyle/>
          <a:p>
            <a:r>
              <a:t>ỨNG DỤNG WINDOWS FORMS (C#)</a:t>
            </a:r>
          </a:p>
          <a:p>
            <a:r>
              <a:t>Chạy: Máy tính Windows (Desktop)</a:t>
            </a:r>
          </a:p>
          <a:p>
            <a:r>
              <a:t>Cổng gọi ra: HTTPS 443</a:t>
            </a:r>
          </a:p>
        </p:txBody>
      </p:sp>
      <p:sp>
        <p:nvSpPr>
          <p:cNvPr id="14" name="Rounded Rectangle 13"/>
          <p:cNvSpPr/>
          <p:nvPr/>
        </p:nvSpPr>
        <p:spPr>
          <a:xfrm>
            <a:off x="731520" y="4572000"/>
            <a:ext cx="2926080" cy="118872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663440"/>
            <a:ext cx="2743200" cy="1005840"/>
          </a:xfrm>
          <a:prstGeom prst="rect">
            <a:avLst/>
          </a:prstGeom>
          <a:noFill/>
        </p:spPr>
        <p:txBody>
          <a:bodyPr wrap="none">
            <a:spAutoFit/>
          </a:bodyPr>
          <a:lstStyle/>
          <a:p>
            <a:r>
              <a:t>ỨNG DỤNG ANDROID (Java Native)</a:t>
            </a:r>
          </a:p>
          <a:p>
            <a:r>
              <a:t>Chạy: Máy ảo / Điện thoại thật</a:t>
            </a:r>
          </a:p>
          <a:p>
            <a:r>
              <a:t>Gateway ảo: 10.0.2.2 / HTTPS Cloud</a:t>
            </a:r>
          </a:p>
        </p:txBody>
      </p:sp>
      <p:sp>
        <p:nvSpPr>
          <p:cNvPr id="16" name="Rounded Rectangle 15"/>
          <p:cNvSpPr/>
          <p:nvPr/>
        </p:nvSpPr>
        <p:spPr>
          <a:xfrm>
            <a:off x="4937760" y="2286000"/>
            <a:ext cx="3291840" cy="2651760"/>
          </a:xfrm>
          <a:prstGeom prst="roundRect">
            <a:avLst/>
          </a:prstGeom>
          <a:solidFill>
            <a:srgbClr val="0F172A"/>
          </a:solidFill>
          <a:ln w="25400">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377440"/>
            <a:ext cx="3108960" cy="2468880"/>
          </a:xfrm>
          <a:prstGeom prst="rect">
            <a:avLst/>
          </a:prstGeom>
          <a:noFill/>
        </p:spPr>
        <p:txBody>
          <a:bodyPr wrap="square">
            <a:spAutoFit/>
          </a:bodyPr>
          <a:lstStyle/>
          <a:p>
            <a:pPr>
              <a:defRPr sz="1400" b="1">
                <a:solidFill>
                  <a:srgbClr val="22A6A1"/>
                </a:solidFill>
              </a:defRPr>
            </a:pPr>
            <a:r>
              <a:t>ASP.NET CORE 8 WEB API</a:t>
            </a:r>
          </a:p>
          <a:p>
            <a:pPr>
              <a:defRPr sz="1000">
                <a:solidFill>
                  <a:srgbClr val="FFFFFF"/>
                </a:solidFill>
              </a:defRPr>
            </a:pPr>
            <a:r>
              <a:t>• Kestrel Web Server (.NET 8)</a:t>
            </a:r>
          </a:p>
          <a:p>
            <a:pPr>
              <a:defRPr sz="1000">
                <a:solidFill>
                  <a:srgbClr val="FFFFFF"/>
                </a:solidFill>
              </a:defRPr>
            </a:pPr>
            <a:r>
              <a:t>• Swagger UI: /swagger</a:t>
            </a:r>
          </a:p>
          <a:p>
            <a:pPr>
              <a:defRPr sz="1000">
                <a:solidFill>
                  <a:srgbClr val="FFFFFF"/>
                </a:solidFill>
              </a:defRPr>
            </a:pPr>
            <a:r>
              <a:t>• Middleware: CORS, Exception, JWT</a:t>
            </a:r>
          </a:p>
          <a:p>
            <a:pPr>
              <a:defRPr sz="1000">
                <a:solidFill>
                  <a:srgbClr val="FFFFFF"/>
                </a:solidFill>
              </a:defRPr>
            </a:pPr>
            <a:r>
              <a:t>• Clean Architecture: Core, Infra, Api</a:t>
            </a:r>
          </a:p>
          <a:p>
            <a:pPr>
              <a:defRPr sz="1000">
                <a:solidFill>
                  <a:srgbClr val="FFFFFF"/>
                </a:solidFill>
              </a:defRPr>
            </a:pPr>
            <a:r>
              <a:t>• Host Cloud: Render (Port 443)</a:t>
            </a:r>
          </a:p>
          <a:p>
            <a:pPr>
              <a:defRPr sz="1000">
                <a:solidFill>
                  <a:srgbClr val="FFFFFF"/>
                </a:solidFill>
              </a:defRPr>
            </a:pPr>
            <a:r>
              <a:t>• Host Local: localhost:5000 / 5001</a:t>
            </a:r>
          </a:p>
        </p:txBody>
      </p:sp>
      <p:sp>
        <p:nvSpPr>
          <p:cNvPr id="18" name="Rounded Rectangle 17"/>
          <p:cNvSpPr/>
          <p:nvPr/>
        </p:nvSpPr>
        <p:spPr>
          <a:xfrm>
            <a:off x="9326880" y="2651760"/>
            <a:ext cx="2103120" cy="192024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2743200"/>
            <a:ext cx="1920240" cy="1737360"/>
          </a:xfrm>
          <a:prstGeom prst="rect">
            <a:avLst/>
          </a:prstGeom>
          <a:noFill/>
        </p:spPr>
        <p:txBody>
          <a:bodyPr wrap="none">
            <a:spAutoFit/>
          </a:bodyPr>
          <a:lstStyle/>
          <a:p>
            <a:pPr>
              <a:defRPr sz="1200" b="1">
                <a:solidFill>
                  <a:srgbClr val="2264AC"/>
                </a:solidFill>
              </a:defRPr>
            </a:pPr>
            <a:r>
              <a:t>CƠ SỞ DỮ LIỆU</a:t>
            </a:r>
          </a:p>
          <a:p>
            <a:pPr>
              <a:defRPr sz="1000">
                <a:solidFill>
                  <a:srgbClr val="1E293B"/>
                </a:solidFill>
              </a:defRPr>
            </a:pPr>
            <a:r>
              <a:t>• PostgreSQL 16.3</a:t>
            </a:r>
          </a:p>
          <a:p>
            <a:pPr>
              <a:defRPr sz="1000">
                <a:solidFill>
                  <a:srgbClr val="1E293B"/>
                </a:solidFill>
              </a:defRPr>
            </a:pPr>
            <a:r>
              <a:t>• Cloud: Supabase</a:t>
            </a:r>
          </a:p>
          <a:p>
            <a:pPr>
              <a:defRPr sz="1000">
                <a:solidFill>
                  <a:srgbClr val="1E293B"/>
                </a:solidFill>
              </a:defRPr>
            </a:pPr>
            <a:r>
              <a:t>• Region: Singapore</a:t>
            </a:r>
          </a:p>
          <a:p>
            <a:pPr>
              <a:defRPr sz="1000">
                <a:solidFill>
                  <a:srgbClr val="1E293B"/>
                </a:solidFill>
              </a:defRPr>
            </a:pPr>
            <a:r>
              <a:t>• Port: 5432 (IPv4 Pooler)</a:t>
            </a:r>
          </a:p>
          <a:p>
            <a:pPr>
              <a:defRPr sz="1000">
                <a:solidFill>
                  <a:srgbClr val="1E293B"/>
                </a:solidFill>
              </a:defRPr>
            </a:pPr>
            <a:r>
              <a:t>• EF Core 8 Npgsql</a:t>
            </a:r>
          </a:p>
        </p:txBody>
      </p:sp>
      <p:sp>
        <p:nvSpPr>
          <p:cNvPr id="20" name="Rectangle 19"/>
          <p:cNvSpPr/>
          <p:nvPr/>
        </p:nvSpPr>
        <p:spPr>
          <a:xfrm>
            <a:off x="4937760" y="5212080"/>
            <a:ext cx="6492240" cy="10058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0" y="5257800"/>
            <a:ext cx="6309360" cy="914400"/>
          </a:xfrm>
          <a:prstGeom prst="rect">
            <a:avLst/>
          </a:prstGeom>
          <a:noFill/>
        </p:spPr>
        <p:txBody>
          <a:bodyPr wrap="none">
            <a:spAutoFit/>
          </a:bodyPr>
          <a:lstStyle/>
          <a:p>
            <a:pPr>
              <a:defRPr sz="1000" b="1">
                <a:solidFill>
                  <a:srgbClr val="0F172A"/>
                </a:solidFill>
              </a:defRPr>
            </a:pPr>
            <a:r>
              <a:t>TẠI SAO DÙNG CHUNG MỘT API MÀ KHÔNG PHẢI MỖI BÊN MỘT DATABASE?</a:t>
            </a:r>
          </a:p>
          <a:p>
            <a:pPr>
              <a:defRPr sz="950">
                <a:solidFill>
                  <a:srgbClr val="64748B"/>
                </a:solidFill>
              </a:defRPr>
            </a:pPr>
            <a:r>
              <a:t>1. Toàn vẹn dữ liệu: Không bao giờ xảy ra lệch dữ liệu giữa các nền tảng.</a:t>
            </a:r>
            <a:br/>
            <a:r>
              <a:t>2. Bảo mật tập trung: Toàn bộ quy tắc kiểm tra quyền JWT thực thi trên server.</a:t>
            </a:r>
            <a:br/>
            <a:r>
              <a:t>3. Android dùng 10.0.2.2 vì máy ảo coi 127.0.0.1 là chính nó; 10.0.2.2 là gateway trỏ về máy tính host.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03. ỨNG DỤNG KHÁCH (WEB)</a:t>
            </a:r>
          </a:p>
          <a:p>
            <a:pPr>
              <a:defRPr sz="1900" b="1">
                <a:solidFill>
                  <a:srgbClr val="0F172A"/>
                </a:solidFill>
                <a:latin typeface="Segoe UI"/>
              </a:defRPr>
            </a:pPr>
            <a:r>
              <a:t>ỨNG DỤNG WEB: NEXT.JS 14 APP ROUTER</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Quách Khoa Đức | Slide 4/16</a:t>
            </a:r>
          </a:p>
        </p:txBody>
      </p:sp>
      <p:pic>
        <p:nvPicPr>
          <p:cNvPr id="10" name="Picture 9" descr="02_web_events.png"/>
          <p:cNvPicPr>
            <a:picLocks noChangeAspect="1"/>
          </p:cNvPicPr>
          <p:nvPr/>
        </p:nvPicPr>
        <p:blipFill>
          <a:blip r:embed="rId4"/>
          <a:stretch>
            <a:fillRect/>
          </a:stretch>
        </p:blipFill>
        <p:spPr>
          <a:xfrm>
            <a:off x="731520" y="1371600"/>
            <a:ext cx="5303520" cy="3314700"/>
          </a:xfrm>
          <a:prstGeom prst="rect">
            <a:avLst/>
          </a:prstGeom>
        </p:spPr>
      </p:pic>
      <p:graphicFrame>
        <p:nvGraphicFramePr>
          <p:cNvPr id="11" name="Table 10"/>
          <p:cNvGraphicFramePr>
            <a:graphicFrameLocks noGrp="1"/>
          </p:cNvGraphicFramePr>
          <p:nvPr/>
        </p:nvGraphicFramePr>
        <p:xfrm>
          <a:off x="6309360" y="1371600"/>
          <a:ext cx="5120640" cy="1645920"/>
        </p:xfrm>
        <a:graphic>
          <a:graphicData uri="http://schemas.openxmlformats.org/drawingml/2006/table">
            <a:tbl>
              <a:tblPr firstRow="1" bandRow="1">
                <a:tableStyleId>{5C22544A-7EE6-4342-B048-85BDC9FD1C3A}</a:tableStyleId>
              </a:tblPr>
              <a:tblGrid>
                <a:gridCol w="1463040"/>
                <a:gridCol w="1645920"/>
                <a:gridCol w="2011680"/>
              </a:tblGrid>
              <a:tr h="329184">
                <a:tc>
                  <a:txBody>
                    <a:bodyPr/>
                    <a:lstStyle/>
                    <a:p>
                      <a:pPr>
                        <a:defRPr sz="1000" b="1">
                          <a:solidFill>
                            <a:srgbClr val="FFFFFF"/>
                          </a:solidFill>
                        </a:defRPr>
                      </a:pPr>
                      <a:r>
                        <a:t>Tên điều khiển</a:t>
                      </a:r>
                    </a:p>
                  </a:txBody>
                  <a:tcPr>
                    <a:solidFill>
                      <a:srgbClr val="0F172A"/>
                    </a:solidFill>
                  </a:tcPr>
                </a:tc>
                <a:tc>
                  <a:txBody>
                    <a:bodyPr/>
                    <a:lstStyle/>
                    <a:p>
                      <a:pPr>
                        <a:defRPr sz="1000" b="1">
                          <a:solidFill>
                            <a:srgbClr val="FFFFFF"/>
                          </a:solidFill>
                        </a:defRPr>
                      </a:pPr>
                      <a:r>
                        <a:t>Loại điều khiển</a:t>
                      </a:r>
                    </a:p>
                  </a:txBody>
                  <a:tcPr>
                    <a:solidFill>
                      <a:srgbClr val="0F172A"/>
                    </a:solidFill>
                  </a:tcPr>
                </a:tc>
                <a:tc>
                  <a:txBody>
                    <a:bodyPr/>
                    <a:lstStyle/>
                    <a:p>
                      <a:pPr>
                        <a:defRPr sz="1000" b="1">
                          <a:solidFill>
                            <a:srgbClr val="FFFFFF"/>
                          </a:solidFill>
                        </a:defRPr>
                      </a:pPr>
                      <a:r>
                        <a:t>Vai trò nghiệp vụ</a:t>
                      </a:r>
                    </a:p>
                  </a:txBody>
                  <a:tcPr>
                    <a:solidFill>
                      <a:srgbClr val="0F172A"/>
                    </a:solidFill>
                  </a:tcPr>
                </a:tc>
              </a:tr>
              <a:tr h="329184">
                <a:tc>
                  <a:txBody>
                    <a:bodyPr/>
                    <a:lstStyle/>
                    <a:p>
                      <a:pPr>
                        <a:defRPr sz="950">
                          <a:solidFill>
                            <a:srgbClr val="1E293B"/>
                          </a:solidFill>
                        </a:defRPr>
                      </a:pPr>
                      <a:r>
                        <a:t>txtSearch</a:t>
                      </a:r>
                    </a:p>
                  </a:txBody>
                  <a:tcPr>
                    <a:solidFill>
                      <a:srgbClr val="FFFFFF"/>
                    </a:solidFill>
                  </a:tcPr>
                </a:tc>
                <a:tc>
                  <a:txBody>
                    <a:bodyPr/>
                    <a:lstStyle/>
                    <a:p>
                      <a:pPr>
                        <a:defRPr sz="950">
                          <a:solidFill>
                            <a:srgbClr val="1E293B"/>
                          </a:solidFill>
                        </a:defRPr>
                      </a:pPr>
                      <a:r>
                        <a:t>&lt;input type='text'&gt;</a:t>
                      </a:r>
                    </a:p>
                  </a:txBody>
                  <a:tcPr>
                    <a:solidFill>
                      <a:srgbClr val="FFFFFF"/>
                    </a:solidFill>
                  </a:tcPr>
                </a:tc>
                <a:tc>
                  <a:txBody>
                    <a:bodyPr/>
                    <a:lstStyle/>
                    <a:p>
                      <a:pPr>
                        <a:defRPr sz="950">
                          <a:solidFill>
                            <a:srgbClr val="1E293B"/>
                          </a:solidFill>
                        </a:defRPr>
                      </a:pPr>
                      <a:r>
                        <a:t>Nhập từ khóa tìm kiếm sự kiện</a:t>
                      </a:r>
                    </a:p>
                  </a:txBody>
                  <a:tcPr>
                    <a:solidFill>
                      <a:srgbClr val="FFFFFF"/>
                    </a:solidFill>
                  </a:tcPr>
                </a:tc>
              </a:tr>
              <a:tr h="329184">
                <a:tc>
                  <a:txBody>
                    <a:bodyPr/>
                    <a:lstStyle/>
                    <a:p>
                      <a:pPr>
                        <a:defRPr sz="950">
                          <a:solidFill>
                            <a:srgbClr val="1E293B"/>
                          </a:solidFill>
                        </a:defRPr>
                      </a:pPr>
                      <a:r>
                        <a:t>btnSearch</a:t>
                      </a:r>
                    </a:p>
                  </a:txBody>
                  <a:tcPr>
                    <a:solidFill>
                      <a:srgbClr val="FFFFFF"/>
                    </a:solidFill>
                  </a:tcPr>
                </a:tc>
                <a:tc>
                  <a:txBody>
                    <a:bodyPr/>
                    <a:lstStyle/>
                    <a:p>
                      <a:pPr>
                        <a:defRPr sz="950">
                          <a:solidFill>
                            <a:srgbClr val="1E293B"/>
                          </a:solidFill>
                        </a:defRPr>
                      </a:pPr>
                      <a:r>
                        <a:t>&lt;button&gt;</a:t>
                      </a:r>
                    </a:p>
                  </a:txBody>
                  <a:tcPr>
                    <a:solidFill>
                      <a:srgbClr val="FFFFFF"/>
                    </a:solidFill>
                  </a:tcPr>
                </a:tc>
                <a:tc>
                  <a:txBody>
                    <a:bodyPr/>
                    <a:lstStyle/>
                    <a:p>
                      <a:pPr>
                        <a:defRPr sz="950">
                          <a:solidFill>
                            <a:srgbClr val="1E293B"/>
                          </a:solidFill>
                        </a:defRPr>
                      </a:pPr>
                      <a:r>
                        <a:t>Kích hoạt tìm kiếm hoặc xóa từ khóa</a:t>
                      </a:r>
                    </a:p>
                  </a:txBody>
                  <a:tcPr>
                    <a:solidFill>
                      <a:srgbClr val="FFFFFF"/>
                    </a:solidFill>
                  </a:tcPr>
                </a:tc>
              </a:tr>
              <a:tr h="329184">
                <a:tc>
                  <a:txBody>
                    <a:bodyPr/>
                    <a:lstStyle/>
                    <a:p>
                      <a:pPr>
                        <a:defRPr sz="950">
                          <a:solidFill>
                            <a:srgbClr val="1E293B"/>
                          </a:solidFill>
                        </a:defRPr>
                      </a:pPr>
                      <a:r>
                        <a:t>cboStatus</a:t>
                      </a:r>
                    </a:p>
                  </a:txBody>
                  <a:tcPr>
                    <a:solidFill>
                      <a:srgbClr val="FFFFFF"/>
                    </a:solidFill>
                  </a:tcPr>
                </a:tc>
                <a:tc>
                  <a:txBody>
                    <a:bodyPr/>
                    <a:lstStyle/>
                    <a:p>
                      <a:pPr>
                        <a:defRPr sz="950">
                          <a:solidFill>
                            <a:srgbClr val="1E293B"/>
                          </a:solidFill>
                        </a:defRPr>
                      </a:pPr>
                      <a:r>
                        <a:t>&lt;select&gt; / Pills</a:t>
                      </a:r>
                    </a:p>
                  </a:txBody>
                  <a:tcPr>
                    <a:solidFill>
                      <a:srgbClr val="FFFFFF"/>
                    </a:solidFill>
                  </a:tcPr>
                </a:tc>
                <a:tc>
                  <a:txBody>
                    <a:bodyPr/>
                    <a:lstStyle/>
                    <a:p>
                      <a:pPr>
                        <a:defRPr sz="950">
                          <a:solidFill>
                            <a:srgbClr val="1E293B"/>
                          </a:solidFill>
                        </a:defRPr>
                      </a:pPr>
                      <a:r>
                        <a:t>Lọc sự kiện Sắp diễn ra / Đã qua</a:t>
                      </a:r>
                    </a:p>
                  </a:txBody>
                  <a:tcPr>
                    <a:solidFill>
                      <a:srgbClr val="FFFFFF"/>
                    </a:solidFill>
                  </a:tcPr>
                </a:tc>
              </a:tr>
              <a:tr h="329184">
                <a:tc>
                  <a:txBody>
                    <a:bodyPr/>
                    <a:lstStyle/>
                    <a:p>
                      <a:pPr>
                        <a:defRPr sz="950">
                          <a:solidFill>
                            <a:srgbClr val="1E293B"/>
                          </a:solidFill>
                        </a:defRPr>
                      </a:pPr>
                      <a:r>
                        <a:t>grdEvents</a:t>
                      </a:r>
                    </a:p>
                  </a:txBody>
                  <a:tcPr>
                    <a:solidFill>
                      <a:srgbClr val="FFFFFF"/>
                    </a:solidFill>
                  </a:tcPr>
                </a:tc>
                <a:tc>
                  <a:txBody>
                    <a:bodyPr/>
                    <a:lstStyle/>
                    <a:p>
                      <a:pPr>
                        <a:defRPr sz="950">
                          <a:solidFill>
                            <a:srgbClr val="1E293B"/>
                          </a:solidFill>
                        </a:defRPr>
                      </a:pPr>
                      <a:r>
                        <a:t>&lt;div className='grid'&gt;</a:t>
                      </a:r>
                    </a:p>
                  </a:txBody>
                  <a:tcPr>
                    <a:solidFill>
                      <a:srgbClr val="FFFFFF"/>
                    </a:solidFill>
                  </a:tcPr>
                </a:tc>
                <a:tc>
                  <a:txBody>
                    <a:bodyPr/>
                    <a:lstStyle/>
                    <a:p>
                      <a:pPr>
                        <a:defRPr sz="950">
                          <a:solidFill>
                            <a:srgbClr val="1E293B"/>
                          </a:solidFill>
                        </a:defRPr>
                      </a:pPr>
                      <a:r>
                        <a:t>Hiển thị danh sách card sự kiện</a:t>
                      </a:r>
                    </a:p>
                  </a:txBody>
                  <a:tcPr>
                    <a:solidFill>
                      <a:srgbClr val="FFFFFF"/>
                    </a:solidFill>
                  </a:tcPr>
                </a:tc>
              </a:tr>
            </a:tbl>
          </a:graphicData>
        </a:graphic>
      </p:graphicFrame>
      <p:sp>
        <p:nvSpPr>
          <p:cNvPr id="12" name="Rectangle 11"/>
          <p:cNvSpPr/>
          <p:nvPr/>
        </p:nvSpPr>
        <p:spPr>
          <a:xfrm>
            <a:off x="6309360" y="3200400"/>
            <a:ext cx="5120640" cy="2926080"/>
          </a:xfrm>
          <a:prstGeom prst="rect">
            <a:avLst/>
          </a:prstGeom>
          <a:solidFill>
            <a:srgbClr val="0F172A"/>
          </a:solidFill>
          <a:ln>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246120"/>
            <a:ext cx="4937760" cy="2834640"/>
          </a:xfrm>
          <a:prstGeom prst="rect">
            <a:avLst/>
          </a:prstGeom>
          <a:noFill/>
        </p:spPr>
        <p:txBody>
          <a:bodyPr wrap="square">
            <a:spAutoFit/>
          </a:bodyPr>
          <a:lstStyle/>
          <a:p>
            <a:pPr>
              <a:defRPr sz="950" b="1">
                <a:solidFill>
                  <a:srgbClr val="22A6A1"/>
                </a:solidFill>
              </a:defRPr>
            </a:pPr>
            <a:r>
              <a:t>// frontend/src/app/events/page.tsx (Mã nguồn thật):</a:t>
            </a:r>
          </a:p>
          <a:p>
            <a:pPr>
              <a:defRPr sz="900">
                <a:solidFill>
                  <a:srgbClr val="E2E8F0"/>
                </a:solidFill>
                <a:latin typeface="Consolas"/>
              </a:defRPr>
            </a:pPr>
            <a:r>
              <a:t>const query = new URLSearchParams();</a:t>
            </a:r>
          </a:p>
          <a:p>
            <a:pPr>
              <a:defRPr sz="900">
                <a:solidFill>
                  <a:srgbClr val="E2E8F0"/>
                </a:solidFill>
                <a:latin typeface="Consolas"/>
              </a:defRPr>
            </a:pPr>
            <a:r>
              <a:t>query.set('pageIndex', '1'); query.set('pageSize', '12');</a:t>
            </a:r>
          </a:p>
          <a:p>
            <a:pPr>
              <a:defRPr sz="900">
                <a:solidFill>
                  <a:srgbClr val="E2E8F0"/>
                </a:solidFill>
                <a:latin typeface="Consolas"/>
              </a:defRPr>
            </a:pPr>
            <a:r>
              <a:t>if (searchQuery.trim()) query.set('search', searchQuery.trim());</a:t>
            </a:r>
          </a:p>
          <a:p>
            <a:pPr>
              <a:defRPr sz="900">
                <a:solidFill>
                  <a:srgbClr val="E2E8F0"/>
                </a:solidFill>
                <a:latin typeface="Consolas"/>
              </a:defRPr>
            </a:pPr>
            <a:r>
              <a:t>const res = await fetch(`/api/events?${query.toString()}`, {</a:t>
            </a:r>
          </a:p>
          <a:p>
            <a:pPr>
              <a:defRPr sz="900">
                <a:solidFill>
                  <a:srgbClr val="E2E8F0"/>
                </a:solidFill>
                <a:latin typeface="Consolas"/>
              </a:defRPr>
            </a:pPr>
            <a:r>
              <a:t>  signal: abortController.signal,</a:t>
            </a:r>
          </a:p>
          <a:p>
            <a:pPr>
              <a:defRPr sz="900">
                <a:solidFill>
                  <a:srgbClr val="E2E8F0"/>
                </a:solidFill>
                <a:latin typeface="Consolas"/>
              </a:defRPr>
            </a:pPr>
            <a:r>
              <a:t>  headers: { 'Content-Type': 'application/json' }</a:t>
            </a:r>
          </a:p>
          <a:p>
            <a:pPr>
              <a:defRPr sz="900">
                <a:solidFill>
                  <a:srgbClr val="E2E8F0"/>
                </a:solidFill>
                <a:latin typeface="Consolas"/>
              </a:defRPr>
            </a:pPr>
            <a:r>
              <a:t>});</a:t>
            </a:r>
          </a:p>
          <a:p>
            <a:pPr>
              <a:defRPr sz="900">
                <a:solidFill>
                  <a:srgbClr val="E2E8F0"/>
                </a:solidFill>
                <a:latin typeface="Consolas"/>
              </a:defRPr>
            </a:pPr>
            <a:r>
              <a:t>const data: ApiResponse&lt;PagedResponse&lt;EventItem&gt;&gt; = await res.json();</a:t>
            </a:r>
          </a:p>
          <a:p>
            <a:pPr>
              <a:defRPr sz="900">
                <a:solidFill>
                  <a:srgbClr val="E2E8F0"/>
                </a:solidFill>
                <a:latin typeface="Consolas"/>
              </a:defRPr>
            </a:pPr>
            <a:r>
              <a:t>if (res.ok &amp;&amp; data.success) setEvents(data.data.items);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04. ỨNG DỤNG KHÁCH (MOBILE)</a:t>
            </a:r>
          </a:p>
          <a:p>
            <a:pPr>
              <a:defRPr sz="1900" b="1">
                <a:solidFill>
                  <a:srgbClr val="0F172A"/>
                </a:solidFill>
                <a:latin typeface="Segoe UI"/>
              </a:defRPr>
            </a:pPr>
            <a:r>
              <a:t>ỨNG DỤNG DI ĐỘNG: ANDROID NATIVE JAVA</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Đào Trí Khang | Slide 5/16</a:t>
            </a:r>
          </a:p>
        </p:txBody>
      </p:sp>
      <p:pic>
        <p:nvPicPr>
          <p:cNvPr id="10" name="Picture 9" descr="11_android_events.png"/>
          <p:cNvPicPr>
            <a:picLocks noChangeAspect="1"/>
          </p:cNvPicPr>
          <p:nvPr/>
        </p:nvPicPr>
        <p:blipFill>
          <a:blip r:embed="rId4"/>
          <a:stretch>
            <a:fillRect/>
          </a:stretch>
        </p:blipFill>
        <p:spPr>
          <a:xfrm>
            <a:off x="1371600" y="1280160"/>
            <a:ext cx="2423160" cy="4846320"/>
          </a:xfrm>
          <a:prstGeom prst="rect">
            <a:avLst/>
          </a:prstGeom>
        </p:spPr>
      </p:pic>
      <p:graphicFrame>
        <p:nvGraphicFramePr>
          <p:cNvPr id="11" name="Table 10"/>
          <p:cNvGraphicFramePr>
            <a:graphicFrameLocks noGrp="1"/>
          </p:cNvGraphicFramePr>
          <p:nvPr/>
        </p:nvGraphicFramePr>
        <p:xfrm>
          <a:off x="4114800" y="1280160"/>
          <a:ext cx="7315200" cy="1645920"/>
        </p:xfrm>
        <a:graphic>
          <a:graphicData uri="http://schemas.openxmlformats.org/drawingml/2006/table">
            <a:tbl>
              <a:tblPr firstRow="1" bandRow="1">
                <a:tableStyleId>{5C22544A-7EE6-4342-B048-85BDC9FD1C3A}</a:tableStyleId>
              </a:tblPr>
              <a:tblGrid>
                <a:gridCol w="1828800"/>
                <a:gridCol w="2194560"/>
                <a:gridCol w="3291840"/>
              </a:tblGrid>
              <a:tr h="329184">
                <a:tc>
                  <a:txBody>
                    <a:bodyPr/>
                    <a:lstStyle/>
                    <a:p>
                      <a:pPr>
                        <a:defRPr sz="1000" b="1">
                          <a:solidFill>
                            <a:srgbClr val="FFFFFF"/>
                          </a:solidFill>
                        </a:defRPr>
                      </a:pPr>
                      <a:r>
                        <a:t>Tên điều khiển</a:t>
                      </a:r>
                    </a:p>
                  </a:txBody>
                  <a:tcPr>
                    <a:solidFill>
                      <a:srgbClr val="0F172A"/>
                    </a:solidFill>
                  </a:tcPr>
                </a:tc>
                <a:tc>
                  <a:txBody>
                    <a:bodyPr/>
                    <a:lstStyle/>
                    <a:p>
                      <a:pPr>
                        <a:defRPr sz="1000" b="1">
                          <a:solidFill>
                            <a:srgbClr val="FFFFFF"/>
                          </a:solidFill>
                        </a:defRPr>
                      </a:pPr>
                      <a:r>
                        <a:t>Loại điều khiển</a:t>
                      </a:r>
                    </a:p>
                  </a:txBody>
                  <a:tcPr>
                    <a:solidFill>
                      <a:srgbClr val="0F172A"/>
                    </a:solidFill>
                  </a:tcPr>
                </a:tc>
                <a:tc>
                  <a:txBody>
                    <a:bodyPr/>
                    <a:lstStyle/>
                    <a:p>
                      <a:pPr>
                        <a:defRPr sz="1000" b="1">
                          <a:solidFill>
                            <a:srgbClr val="FFFFFF"/>
                          </a:solidFill>
                        </a:defRPr>
                      </a:pPr>
                      <a:r>
                        <a:t>Vai trò nghiệp vụ</a:t>
                      </a:r>
                    </a:p>
                  </a:txBody>
                  <a:tcPr>
                    <a:solidFill>
                      <a:srgbClr val="0F172A"/>
                    </a:solidFill>
                  </a:tcPr>
                </a:tc>
              </a:tr>
              <a:tr h="329184">
                <a:tc>
                  <a:txBody>
                    <a:bodyPr/>
                    <a:lstStyle/>
                    <a:p>
                      <a:pPr>
                        <a:defRPr sz="950">
                          <a:solidFill>
                            <a:srgbClr val="1E293B"/>
                          </a:solidFill>
                        </a:defRPr>
                      </a:pPr>
                      <a:r>
                        <a:t>lstEvents</a:t>
                      </a:r>
                    </a:p>
                  </a:txBody>
                  <a:tcPr>
                    <a:solidFill>
                      <a:srgbClr val="FFFFFF"/>
                    </a:solidFill>
                  </a:tcPr>
                </a:tc>
                <a:tc>
                  <a:txBody>
                    <a:bodyPr/>
                    <a:lstStyle/>
                    <a:p>
                      <a:pPr>
                        <a:defRPr sz="950">
                          <a:solidFill>
                            <a:srgbClr val="1E293B"/>
                          </a:solidFill>
                        </a:defRPr>
                      </a:pPr>
                      <a:r>
                        <a:t>RecyclerView</a:t>
                      </a:r>
                    </a:p>
                  </a:txBody>
                  <a:tcPr>
                    <a:solidFill>
                      <a:srgbClr val="FFFFFF"/>
                    </a:solidFill>
                  </a:tcPr>
                </a:tc>
                <a:tc>
                  <a:txBody>
                    <a:bodyPr/>
                    <a:lstStyle/>
                    <a:p>
                      <a:pPr>
                        <a:defRPr sz="950">
                          <a:solidFill>
                            <a:srgbClr val="1E293B"/>
                          </a:solidFill>
                        </a:defRPr>
                      </a:pPr>
                      <a:r>
                        <a:t>Danh sách cuộn các sự kiện CLB</a:t>
                      </a:r>
                    </a:p>
                  </a:txBody>
                  <a:tcPr>
                    <a:solidFill>
                      <a:srgbClr val="FFFFFF"/>
                    </a:solidFill>
                  </a:tcPr>
                </a:tc>
              </a:tr>
              <a:tr h="329184">
                <a:tc>
                  <a:txBody>
                    <a:bodyPr/>
                    <a:lstStyle/>
                    <a:p>
                      <a:pPr>
                        <a:defRPr sz="950">
                          <a:solidFill>
                            <a:srgbClr val="1E293B"/>
                          </a:solidFill>
                        </a:defRPr>
                      </a:pPr>
                      <a:r>
                        <a:t>btnRegister</a:t>
                      </a:r>
                    </a:p>
                  </a:txBody>
                  <a:tcPr>
                    <a:solidFill>
                      <a:srgbClr val="FFFFFF"/>
                    </a:solidFill>
                  </a:tcPr>
                </a:tc>
                <a:tc>
                  <a:txBody>
                    <a:bodyPr/>
                    <a:lstStyle/>
                    <a:p>
                      <a:pPr>
                        <a:defRPr sz="950">
                          <a:solidFill>
                            <a:srgbClr val="1E293B"/>
                          </a:solidFill>
                        </a:defRPr>
                      </a:pPr>
                      <a:r>
                        <a:t>Button</a:t>
                      </a:r>
                    </a:p>
                  </a:txBody>
                  <a:tcPr>
                    <a:solidFill>
                      <a:srgbClr val="FFFFFF"/>
                    </a:solidFill>
                  </a:tcPr>
                </a:tc>
                <a:tc>
                  <a:txBody>
                    <a:bodyPr/>
                    <a:lstStyle/>
                    <a:p>
                      <a:pPr>
                        <a:defRPr sz="950">
                          <a:solidFill>
                            <a:srgbClr val="1E293B"/>
                          </a:solidFill>
                        </a:defRPr>
                      </a:pPr>
                      <a:r>
                        <a:t>Đăng ký tham gia sự kiện trực tiếp</a:t>
                      </a:r>
                    </a:p>
                  </a:txBody>
                  <a:tcPr>
                    <a:solidFill>
                      <a:srgbClr val="FFFFFF"/>
                    </a:solidFill>
                  </a:tcPr>
                </a:tc>
              </a:tr>
              <a:tr h="329184">
                <a:tc>
                  <a:txBody>
                    <a:bodyPr/>
                    <a:lstStyle/>
                    <a:p>
                      <a:pPr>
                        <a:defRPr sz="950">
                          <a:solidFill>
                            <a:srgbClr val="1E293B"/>
                          </a:solidFill>
                        </a:defRPr>
                      </a:pPr>
                      <a:r>
                        <a:t>swpRefresh</a:t>
                      </a:r>
                    </a:p>
                  </a:txBody>
                  <a:tcPr>
                    <a:solidFill>
                      <a:srgbClr val="FFFFFF"/>
                    </a:solidFill>
                  </a:tcPr>
                </a:tc>
                <a:tc>
                  <a:txBody>
                    <a:bodyPr/>
                    <a:lstStyle/>
                    <a:p>
                      <a:pPr>
                        <a:defRPr sz="950">
                          <a:solidFill>
                            <a:srgbClr val="1E293B"/>
                          </a:solidFill>
                        </a:defRPr>
                      </a:pPr>
                      <a:r>
                        <a:t>SwipeRefreshLayout</a:t>
                      </a:r>
                    </a:p>
                  </a:txBody>
                  <a:tcPr>
                    <a:solidFill>
                      <a:srgbClr val="FFFFFF"/>
                    </a:solidFill>
                  </a:tcPr>
                </a:tc>
                <a:tc>
                  <a:txBody>
                    <a:bodyPr/>
                    <a:lstStyle/>
                    <a:p>
                      <a:pPr>
                        <a:defRPr sz="950">
                          <a:solidFill>
                            <a:srgbClr val="1E293B"/>
                          </a:solidFill>
                        </a:defRPr>
                      </a:pPr>
                      <a:r>
                        <a:t>Vuốt xuống để tải lại dữ liệu mới nhất</a:t>
                      </a:r>
                    </a:p>
                  </a:txBody>
                  <a:tcPr>
                    <a:solidFill>
                      <a:srgbClr val="FFFFFF"/>
                    </a:solidFill>
                  </a:tcPr>
                </a:tc>
              </a:tr>
              <a:tr h="329184">
                <a:tc>
                  <a:txBody>
                    <a:bodyPr/>
                    <a:lstStyle/>
                    <a:p>
                      <a:pPr>
                        <a:defRPr sz="950">
                          <a:solidFill>
                            <a:srgbClr val="1E293B"/>
                          </a:solidFill>
                        </a:defRPr>
                      </a:pPr>
                      <a:r>
                        <a:t>txtSearch</a:t>
                      </a:r>
                    </a:p>
                  </a:txBody>
                  <a:tcPr>
                    <a:solidFill>
                      <a:srgbClr val="FFFFFF"/>
                    </a:solidFill>
                  </a:tcPr>
                </a:tc>
                <a:tc>
                  <a:txBody>
                    <a:bodyPr/>
                    <a:lstStyle/>
                    <a:p>
                      <a:pPr>
                        <a:defRPr sz="950">
                          <a:solidFill>
                            <a:srgbClr val="1E293B"/>
                          </a:solidFill>
                        </a:defRPr>
                      </a:pPr>
                      <a:r>
                        <a:t>EditText</a:t>
                      </a:r>
                    </a:p>
                  </a:txBody>
                  <a:tcPr>
                    <a:solidFill>
                      <a:srgbClr val="FFFFFF"/>
                    </a:solidFill>
                  </a:tcPr>
                </a:tc>
                <a:tc>
                  <a:txBody>
                    <a:bodyPr/>
                    <a:lstStyle/>
                    <a:p>
                      <a:pPr>
                        <a:defRPr sz="950">
                          <a:solidFill>
                            <a:srgbClr val="1E293B"/>
                          </a:solidFill>
                        </a:defRPr>
                      </a:pPr>
                      <a:r>
                        <a:t>Ô tìm kiếm sự kiện theo từ khóa</a:t>
                      </a:r>
                    </a:p>
                  </a:txBody>
                  <a:tcPr>
                    <a:solidFill>
                      <a:srgbClr val="FFFFFF"/>
                    </a:solidFill>
                  </a:tcPr>
                </a:tc>
              </a:tr>
            </a:tbl>
          </a:graphicData>
        </a:graphic>
      </p:graphicFrame>
      <p:sp>
        <p:nvSpPr>
          <p:cNvPr id="12" name="Rectangle 11"/>
          <p:cNvSpPr/>
          <p:nvPr/>
        </p:nvSpPr>
        <p:spPr>
          <a:xfrm>
            <a:off x="4114800" y="3108960"/>
            <a:ext cx="7315200" cy="3017520"/>
          </a:xfrm>
          <a:prstGeom prst="rect">
            <a:avLst/>
          </a:prstGeom>
          <a:solidFill>
            <a:srgbClr val="0F172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3154680"/>
            <a:ext cx="7132320" cy="2926080"/>
          </a:xfrm>
          <a:prstGeom prst="rect">
            <a:avLst/>
          </a:prstGeom>
          <a:noFill/>
        </p:spPr>
        <p:txBody>
          <a:bodyPr wrap="square">
            <a:spAutoFit/>
          </a:bodyPr>
          <a:lstStyle/>
          <a:p>
            <a:pPr>
              <a:defRPr sz="950" b="1">
                <a:solidFill>
                  <a:srgbClr val="16A34A"/>
                </a:solidFill>
              </a:defRPr>
            </a:pPr>
            <a:r>
              <a:t>// EventsFragment.java – Gọi API bất đồng bộ qua Retrofit (Mã nguồn thật):</a:t>
            </a:r>
          </a:p>
          <a:p>
            <a:pPr>
              <a:defRPr sz="900">
                <a:solidFill>
                  <a:srgbClr val="E2E8F0"/>
                </a:solidFill>
                <a:latin typeface="Consolas"/>
              </a:defRPr>
            </a:pPr>
            <a:r>
              <a:t>ApiClient.getService(getContext()).getEvents(1, 20)</a:t>
            </a:r>
          </a:p>
          <a:p>
            <a:pPr>
              <a:defRPr sz="900">
                <a:solidFill>
                  <a:srgbClr val="E2E8F0"/>
                </a:solidFill>
                <a:latin typeface="Consolas"/>
              </a:defRPr>
            </a:pPr>
            <a:r>
              <a:t>    .enqueue(new Callback&lt;ApiResponse&lt;PagedResponse&lt;EventItem&gt;&gt;&gt;() {</a:t>
            </a:r>
          </a:p>
          <a:p>
            <a:pPr>
              <a:defRPr sz="900">
                <a:solidFill>
                  <a:srgbClr val="E2E8F0"/>
                </a:solidFill>
                <a:latin typeface="Consolas"/>
              </a:defRPr>
            </a:pPr>
            <a:r>
              <a:t>        @Override</a:t>
            </a:r>
          </a:p>
          <a:p>
            <a:pPr>
              <a:defRPr sz="900">
                <a:solidFill>
                  <a:srgbClr val="E2E8F0"/>
                </a:solidFill>
                <a:latin typeface="Consolas"/>
              </a:defRPr>
            </a:pPr>
            <a:r>
              <a:t>        public void onResponse(@NonNull Call&lt;ApiResponse&lt;PagedResponse&lt;EventItem&gt;&gt;&gt; call,</a:t>
            </a:r>
          </a:p>
          <a:p>
            <a:pPr>
              <a:defRPr sz="900">
                <a:solidFill>
                  <a:srgbClr val="E2E8F0"/>
                </a:solidFill>
                <a:latin typeface="Consolas"/>
              </a:defRPr>
            </a:pPr>
            <a:r>
              <a:t>                               @NonNull Response&lt;ApiResponse&lt;PagedResponse&lt;EventItem&gt;&gt;&gt; res) {</a:t>
            </a:r>
          </a:p>
          <a:p>
            <a:pPr>
              <a:defRPr sz="900">
                <a:solidFill>
                  <a:srgbClr val="E2E8F0"/>
                </a:solidFill>
                <a:latin typeface="Consolas"/>
              </a:defRPr>
            </a:pPr>
            <a:r>
              <a:t>            swipeRefresh.setRefreshing(false);</a:t>
            </a:r>
          </a:p>
          <a:p>
            <a:pPr>
              <a:defRPr sz="900">
                <a:solidFill>
                  <a:srgbClr val="E2E8F0"/>
                </a:solidFill>
                <a:latin typeface="Consolas"/>
              </a:defRPr>
            </a:pPr>
            <a:r>
              <a:t>            if (res.isSuccessful() &amp;&amp; res.body() != null &amp;&amp; res.body().isSuccess()) {</a:t>
            </a:r>
          </a:p>
          <a:p>
            <a:pPr>
              <a:defRPr sz="900">
                <a:solidFill>
                  <a:srgbClr val="E2E8F0"/>
                </a:solidFill>
                <a:latin typeface="Consolas"/>
              </a:defRPr>
            </a:pPr>
            <a:r>
              <a:t>                adapter.setEvents(res.body().getData().getItems());</a:t>
            </a:r>
          </a:p>
          <a:p>
            <a:pPr>
              <a:defRPr sz="900">
                <a:solidFill>
                  <a:srgbClr val="E2E8F0"/>
                </a:solidFill>
                <a:latin typeface="Consolas"/>
              </a:defRPr>
            </a:pPr>
            <a:r>
              <a:t>            }</a:t>
            </a:r>
          </a:p>
          <a:p>
            <a:pPr>
              <a:defRPr sz="900">
                <a:solidFill>
                  <a:srgbClr val="E2E8F0"/>
                </a:solidFill>
                <a:latin typeface="Consolas"/>
              </a:defRPr>
            </a:pPr>
            <a:r>
              <a:t>        }</a:t>
            </a:r>
          </a:p>
          <a:p>
            <a:pPr>
              <a:defRPr sz="900">
                <a:solidFill>
                  <a:srgbClr val="E2E8F0"/>
                </a:solidFill>
                <a:latin typeface="Consolas"/>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05. CƠ CHẾ MẠNG ANDROID</a:t>
            </a:r>
          </a:p>
          <a:p>
            <a:pPr>
              <a:defRPr sz="1900" b="1">
                <a:solidFill>
                  <a:srgbClr val="0F172A"/>
                </a:solidFill>
                <a:latin typeface="Segoe UI"/>
              </a:defRPr>
            </a:pPr>
            <a:r>
              <a:t>ANDROID GỌI API: LUỒNG NỀN &amp; LUỒNG GIAO DIỆN</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Đào Trí Khang | Slide 6/16</a:t>
            </a:r>
          </a:p>
        </p:txBody>
      </p:sp>
      <p:sp>
        <p:nvSpPr>
          <p:cNvPr id="10" name="Rounded Rectangle 9"/>
          <p:cNvSpPr/>
          <p:nvPr/>
        </p:nvSpPr>
        <p:spPr>
          <a:xfrm>
            <a:off x="731520" y="1371600"/>
            <a:ext cx="3291840" cy="4754880"/>
          </a:xfrm>
          <a:prstGeom prst="roundRect">
            <a:avLst/>
          </a:prstGeom>
          <a:solidFill>
            <a:srgbClr val="FFFFFF"/>
          </a:solidFill>
          <a:ln>
            <a:solidFill>
              <a:srgbClr val="2264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2926080" cy="4389120"/>
          </a:xfrm>
          <a:prstGeom prst="rect">
            <a:avLst/>
          </a:prstGeom>
          <a:noFill/>
        </p:spPr>
        <p:txBody>
          <a:bodyPr wrap="square">
            <a:spAutoFit/>
          </a:bodyPr>
          <a:lstStyle/>
          <a:p>
            <a:pPr>
              <a:defRPr sz="1300" b="1">
                <a:solidFill>
                  <a:srgbClr val="2264AC"/>
                </a:solidFill>
              </a:defRPr>
            </a:pPr>
            <a:r>
              <a:t>1. LUỒNG CHÍNH (UI THREAD)</a:t>
            </a:r>
          </a:p>
          <a:p>
            <a:pPr>
              <a:defRPr sz="1050">
                <a:solidFill>
                  <a:srgbClr val="1E293B"/>
                </a:solidFill>
              </a:defRPr>
            </a:pPr>
            <a:r>
              <a:t>• Người dùng tương tác trên màn hình (Bấm Đăng ký / Vuốt làm mới).</a:t>
            </a:r>
          </a:p>
          <a:p>
            <a:pPr>
              <a:defRPr sz="1050">
                <a:solidFill>
                  <a:srgbClr val="1E293B"/>
                </a:solidFill>
              </a:defRPr>
            </a:pPr>
            <a:r>
              <a:t>• KHÔNG ĐƯỢC gọi mạng trực tiếp tại đây! Nếu gọi đồng bộ (execute), Android ném ngoại lệ: NetworkOnMainThreadException và dừng ứng dụng ngay.</a:t>
            </a:r>
          </a:p>
          <a:p>
            <a:pPr>
              <a:defRPr sz="1050">
                <a:solidFill>
                  <a:srgbClr val="1E293B"/>
                </a:solidFill>
              </a:defRPr>
            </a:pPr>
            <a:r>
              <a:t>• Nhiệm vụ: Chỉ gọi enqueue() và hiển thị thanh tiến trình prgLoading.</a:t>
            </a:r>
          </a:p>
        </p:txBody>
      </p:sp>
      <p:sp>
        <p:nvSpPr>
          <p:cNvPr id="12" name="Rounded Rectangle 11"/>
          <p:cNvSpPr/>
          <p:nvPr/>
        </p:nvSpPr>
        <p:spPr>
          <a:xfrm>
            <a:off x="4389120" y="1371600"/>
            <a:ext cx="3291840" cy="4754880"/>
          </a:xfrm>
          <a:prstGeom prst="roundRect">
            <a:avLst/>
          </a:prstGeom>
          <a:solidFill>
            <a:srgbClr val="FFFFFF"/>
          </a:solidFill>
          <a:ln>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54480"/>
            <a:ext cx="2926080" cy="4389120"/>
          </a:xfrm>
          <a:prstGeom prst="rect">
            <a:avLst/>
          </a:prstGeom>
          <a:noFill/>
        </p:spPr>
        <p:txBody>
          <a:bodyPr wrap="square">
            <a:spAutoFit/>
          </a:bodyPr>
          <a:lstStyle/>
          <a:p>
            <a:pPr>
              <a:defRPr sz="1300" b="1">
                <a:solidFill>
                  <a:srgbClr val="22A6A1"/>
                </a:solidFill>
              </a:defRPr>
            </a:pPr>
            <a:r>
              <a:t>2. LUỒNG NỀN (WORKER THREAD)</a:t>
            </a:r>
          </a:p>
          <a:p>
            <a:pPr>
              <a:defRPr sz="1050">
                <a:solidFill>
                  <a:srgbClr val="1E293B"/>
                </a:solidFill>
              </a:defRPr>
            </a:pPr>
            <a:r>
              <a:t>• OkHttp tạo luồng ngầm thực hiện kết nối Socket TCP, bắt tay TLS/HTTPS.</a:t>
            </a:r>
          </a:p>
          <a:p>
            <a:pPr>
              <a:defRPr sz="1050">
                <a:solidFill>
                  <a:srgbClr val="1E293B"/>
                </a:solidFill>
              </a:defRPr>
            </a:pPr>
            <a:r>
              <a:t>• Gửi HTTP Request qua mạng tới API Server (Kestrel 443).</a:t>
            </a:r>
          </a:p>
          <a:p>
            <a:pPr>
              <a:defRPr sz="1050">
                <a:solidFill>
                  <a:srgbClr val="1E293B"/>
                </a:solidFill>
              </a:defRPr>
            </a:pPr>
            <a:r>
              <a:t>• Nhận chuỗi phản hồi JSON UTF-8 từ Server.</a:t>
            </a:r>
          </a:p>
          <a:p>
            <a:pPr>
              <a:defRPr sz="1050">
                <a:solidFill>
                  <a:srgbClr val="1E293B"/>
                </a:solidFill>
              </a:defRPr>
            </a:pPr>
            <a:r>
              <a:t>• Gson Deserialize chuỗi JSON thành Java Object (EventItem).</a:t>
            </a:r>
          </a:p>
          <a:p>
            <a:pPr>
              <a:defRPr sz="1050">
                <a:solidFill>
                  <a:srgbClr val="1E293B"/>
                </a:solidFill>
              </a:defRPr>
            </a:pPr>
            <a:r>
              <a:t>• KHÔNG ĐƯỢC cập nhật View tại đây! Nếu sửa View từ luồng nền, Android sẽ báo lỗi: CalledFromWrongThreadException.</a:t>
            </a:r>
          </a:p>
        </p:txBody>
      </p:sp>
      <p:sp>
        <p:nvSpPr>
          <p:cNvPr id="14" name="Rounded Rectangle 13"/>
          <p:cNvSpPr/>
          <p:nvPr/>
        </p:nvSpPr>
        <p:spPr>
          <a:xfrm>
            <a:off x="8046720" y="1371600"/>
            <a:ext cx="3383280" cy="4754880"/>
          </a:xfrm>
          <a:prstGeom prst="roundRect">
            <a:avLst/>
          </a:prstGeom>
          <a:solidFill>
            <a:srgbClr val="FFFFFF"/>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554480"/>
            <a:ext cx="3017520" cy="4389120"/>
          </a:xfrm>
          <a:prstGeom prst="rect">
            <a:avLst/>
          </a:prstGeom>
          <a:noFill/>
        </p:spPr>
        <p:txBody>
          <a:bodyPr wrap="square">
            <a:spAutoFit/>
          </a:bodyPr>
          <a:lstStyle/>
          <a:p>
            <a:pPr>
              <a:defRPr sz="1300" b="1">
                <a:solidFill>
                  <a:srgbClr val="16A34A"/>
                </a:solidFill>
              </a:defRPr>
            </a:pPr>
            <a:r>
              <a:t>3. ĐẨY VỀ UI THREAD (HANDLER)</a:t>
            </a:r>
          </a:p>
          <a:p>
            <a:pPr>
              <a:defRPr sz="1050">
                <a:solidFill>
                  <a:srgbClr val="1E293B"/>
                </a:solidFill>
              </a:defRPr>
            </a:pPr>
            <a:r>
              <a:t>• Retrofit tự động sử dụng Handler gắn với Looper.getMainLooper().</a:t>
            </a:r>
          </a:p>
          <a:p>
            <a:pPr>
              <a:defRPr sz="1050">
                <a:solidFill>
                  <a:srgbClr val="1E293B"/>
                </a:solidFill>
              </a:defRPr>
            </a:pPr>
            <a:r>
              <a:t>• Đưa hàm callback onResponse() chạy trở lại trên Luồng Chính.</a:t>
            </a:r>
          </a:p>
          <a:p>
            <a:pPr>
              <a:defRPr sz="1050">
                <a:solidFill>
                  <a:srgbClr val="1E293B"/>
                </a:solidFill>
              </a:defRPr>
            </a:pPr>
            <a:r>
              <a:t>• Ẩn thanh tiến trình ProgressBar.</a:t>
            </a:r>
          </a:p>
          <a:p>
            <a:pPr>
              <a:defRPr sz="1050">
                <a:solidFill>
                  <a:srgbClr val="1E293B"/>
                </a:solidFill>
              </a:defRPr>
            </a:pPr>
            <a:r>
              <a:t>• Đổ danh sách dữ liệu vào Adapter và gọi notifyDataSetChanged().</a:t>
            </a:r>
          </a:p>
          <a:p>
            <a:pPr>
              <a:defRPr sz="1050">
                <a:solidFill>
                  <a:srgbClr val="1E293B"/>
                </a:solidFill>
              </a:defRPr>
            </a:pPr>
            <a:r>
              <a:t>• Màn hình điện thoại hiển thị thẻ sự kiện mượt mà, không bị khựng đơ.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06. DEMO NGHIỆP VỤ DI ĐỘNG</a:t>
            </a:r>
          </a:p>
          <a:p>
            <a:pPr>
              <a:defRPr sz="1900" b="1">
                <a:solidFill>
                  <a:srgbClr val="0F172A"/>
                </a:solidFill>
                <a:latin typeface="Segoe UI"/>
              </a:defRPr>
            </a:pPr>
            <a:r>
              <a:t>DEMO TRỰC TIẾP: ANDROID ĐĂNG KÝ THAM GIA SỰ KIỆN</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Đào Trí Khang | Slide 7/16</a:t>
            </a:r>
          </a:p>
        </p:txBody>
      </p:sp>
      <p:pic>
        <p:nvPicPr>
          <p:cNvPr id="10" name="Picture 9" descr="12_android_registration.png"/>
          <p:cNvPicPr>
            <a:picLocks noChangeAspect="1"/>
          </p:cNvPicPr>
          <p:nvPr/>
        </p:nvPicPr>
        <p:blipFill>
          <a:blip r:embed="rId4"/>
          <a:stretch>
            <a:fillRect/>
          </a:stretch>
        </p:blipFill>
        <p:spPr>
          <a:xfrm>
            <a:off x="1371600" y="1280160"/>
            <a:ext cx="2423160" cy="4846320"/>
          </a:xfrm>
          <a:prstGeom prst="rect">
            <a:avLst/>
          </a:prstGeom>
        </p:spPr>
      </p:pic>
      <p:sp>
        <p:nvSpPr>
          <p:cNvPr id="11" name="Rounded Rectangle 10"/>
          <p:cNvSpPr/>
          <p:nvPr/>
        </p:nvSpPr>
        <p:spPr>
          <a:xfrm>
            <a:off x="4114800" y="1280160"/>
            <a:ext cx="731520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554480"/>
            <a:ext cx="6766560" cy="4389120"/>
          </a:xfrm>
          <a:prstGeom prst="rect">
            <a:avLst/>
          </a:prstGeom>
          <a:noFill/>
        </p:spPr>
        <p:txBody>
          <a:bodyPr wrap="square">
            <a:spAutoFit/>
          </a:bodyPr>
          <a:lstStyle/>
          <a:p>
            <a:pPr>
              <a:defRPr sz="1300" b="1">
                <a:solidFill>
                  <a:srgbClr val="0F172A"/>
                </a:solidFill>
              </a:defRPr>
            </a:pPr>
            <a:r>
              <a:t>QUY TRÌNH THAO TÁC DEMO TRÊN THIẾT BỊ THẬT / MÁY ẢO:</a:t>
            </a:r>
          </a:p>
          <a:p>
            <a:pPr>
              <a:defRPr sz="1100" b="1">
                <a:solidFill>
                  <a:srgbClr val="22A6A1"/>
                </a:solidFill>
              </a:defRPr>
            </a:pPr>
            <a:r>
              <a:t>Bước 1: Khởi động &amp; Đăng nhập Sinh viên</a:t>
            </a:r>
          </a:p>
          <a:p>
            <a:pPr>
              <a:defRPr sz="1000">
                <a:solidFill>
                  <a:srgbClr val="1E293B"/>
                </a:solidFill>
              </a:defRPr>
            </a:pPr>
            <a:r>
              <a:t>Mở app Visionary Connect -&gt; Đăng nhập tài khoản sinh viên daotrikhang@visionary.dntu.edu.vn -&gt; Nhận JWT Token lưu vào SharedPreferences.</a:t>
            </a:r>
          </a:p>
          <a:p>
            <a:pPr>
              <a:defRPr sz="1100" b="1">
                <a:solidFill>
                  <a:srgbClr val="22A6A1"/>
                </a:solidFill>
              </a:defRPr>
            </a:pPr>
            <a:r>
              <a:t>Bước 2: Gọi API tải danh sách sự kiện CLB</a:t>
            </a:r>
          </a:p>
          <a:p>
            <a:pPr>
              <a:defRPr sz="1000">
                <a:solidFill>
                  <a:srgbClr val="1E293B"/>
                </a:solidFill>
              </a:defRPr>
            </a:pPr>
            <a:r>
              <a:t>Màn hình tự động gọi GET /api/events?pageIndex=1&amp;pageSize=20. Hiển thị sự kiện 'Workshop: Master Git, GitHub &amp; CI/CD Actions'.</a:t>
            </a:r>
          </a:p>
          <a:p>
            <a:pPr>
              <a:defRPr sz="1100" b="1">
                <a:solidFill>
                  <a:srgbClr val="22A6A1"/>
                </a:solidFill>
              </a:defRPr>
            </a:pPr>
            <a:r>
              <a:t>Bước 3: Thực hiện thao tác Đăng ký tham gia</a:t>
            </a:r>
          </a:p>
          <a:p>
            <a:pPr>
              <a:defRPr sz="1000">
                <a:solidFill>
                  <a:srgbClr val="1E293B"/>
                </a:solidFill>
              </a:defRPr>
            </a:pPr>
            <a:r>
              <a:t>Nhấn nút 'ĐĂNG KÝ NGAY' -&gt; App gửi POST /api/events/{id}/register kèm Header 'Authorization: Bearer &lt;token&gt;'.</a:t>
            </a:r>
          </a:p>
          <a:p>
            <a:pPr>
              <a:defRPr sz="1100" b="1">
                <a:solidFill>
                  <a:srgbClr val="22A6A1"/>
                </a:solidFill>
              </a:defRPr>
            </a:pPr>
            <a:r>
              <a:t>Bước 4: Nhận phản hồi thành công &amp; Mã QR</a:t>
            </a:r>
          </a:p>
          <a:p>
            <a:pPr>
              <a:defRPr sz="1000">
                <a:solidFill>
                  <a:srgbClr val="1E293B"/>
                </a:solidFill>
              </a:defRPr>
            </a:pPr>
            <a:r>
              <a:t>Server lưu đăng ký vào bảng EventRegistrations trong PostgreSQL và cấp mã check-in VIS-QR-E4B2A8C1. Giao diện đổi sang trạng thái 'ĐÃ ĐĂNG KÝ'.</a:t>
            </a:r>
          </a:p>
          <a:p>
            <a:pPr>
              <a:defRPr sz="1100" b="1">
                <a:solidFill>
                  <a:srgbClr val="22A6A1"/>
                </a:solidFill>
              </a:defRPr>
            </a:pPr>
            <a:r>
              <a:t>Bước 5: Chuyển giao dữ liệu sang WinForms</a:t>
            </a:r>
          </a:p>
          <a:p>
            <a:pPr>
              <a:defRPr sz="1000">
                <a:solidFill>
                  <a:srgbClr val="1E293B"/>
                </a:solidFill>
              </a:defRPr>
            </a:pPr>
            <a:r>
              <a:t>Ngay sau khi Android đăng ký, Ban Chủ Nhiệm mở Windows Forms sẽ thấy tên sinh viên xuất hiện tức thì trong danh sách chờ điểm danh.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07. HỢP ĐỒNG API &amp; SWAGGER</a:t>
            </a:r>
          </a:p>
          <a:p>
            <a:pPr>
              <a:defRPr sz="1900" b="1">
                <a:solidFill>
                  <a:srgbClr val="0F172A"/>
                </a:solidFill>
                <a:latin typeface="Segoe UI"/>
              </a:defRPr>
            </a:pPr>
            <a:r>
              <a:t>SWAGGER UI VÀ HỢP ĐỒNG API NHÓM TIÊU THỤ</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Hồ Đoàng Nguyên Khang | Slide 8/16</a:t>
            </a:r>
          </a:p>
        </p:txBody>
      </p:sp>
      <p:pic>
        <p:nvPicPr>
          <p:cNvPr id="10" name="Picture 9" descr="04_swagger_overview.png"/>
          <p:cNvPicPr>
            <a:picLocks noChangeAspect="1"/>
          </p:cNvPicPr>
          <p:nvPr/>
        </p:nvPicPr>
        <p:blipFill>
          <a:blip r:embed="rId4"/>
          <a:stretch>
            <a:fillRect/>
          </a:stretch>
        </p:blipFill>
        <p:spPr>
          <a:xfrm>
            <a:off x="731520" y="1371600"/>
            <a:ext cx="4572000" cy="2857500"/>
          </a:xfrm>
          <a:prstGeom prst="rect">
            <a:avLst/>
          </a:prstGeom>
        </p:spPr>
      </p:pic>
      <p:graphicFrame>
        <p:nvGraphicFramePr>
          <p:cNvPr id="11" name="Table 10"/>
          <p:cNvGraphicFramePr>
            <a:graphicFrameLocks noGrp="1"/>
          </p:cNvGraphicFramePr>
          <p:nvPr/>
        </p:nvGraphicFramePr>
        <p:xfrm>
          <a:off x="5486400" y="1371600"/>
          <a:ext cx="5943600" cy="4754880"/>
        </p:xfrm>
        <a:graphic>
          <a:graphicData uri="http://schemas.openxmlformats.org/drawingml/2006/table">
            <a:tbl>
              <a:tblPr firstRow="1" bandRow="1">
                <a:tableStyleId>{5C22544A-7EE6-4342-B048-85BDC9FD1C3A}</a:tableStyleId>
              </a:tblPr>
              <a:tblGrid>
                <a:gridCol w="1005840"/>
                <a:gridCol w="2011680"/>
                <a:gridCol w="1280160"/>
                <a:gridCol w="1645920"/>
              </a:tblGrid>
              <a:tr h="679268">
                <a:tc>
                  <a:txBody>
                    <a:bodyPr/>
                    <a:lstStyle/>
                    <a:p>
                      <a:pPr>
                        <a:defRPr sz="1000" b="1">
                          <a:solidFill>
                            <a:srgbClr val="FFFFFF"/>
                          </a:solidFill>
                        </a:defRPr>
                      </a:pPr>
                      <a:r>
                        <a:t>Method</a:t>
                      </a:r>
                    </a:p>
                  </a:txBody>
                  <a:tcPr>
                    <a:solidFill>
                      <a:srgbClr val="0F172A"/>
                    </a:solidFill>
                  </a:tcPr>
                </a:tc>
                <a:tc>
                  <a:txBody>
                    <a:bodyPr/>
                    <a:lstStyle/>
                    <a:p>
                      <a:pPr>
                        <a:defRPr sz="1000" b="1">
                          <a:solidFill>
                            <a:srgbClr val="FFFFFF"/>
                          </a:solidFill>
                        </a:defRPr>
                      </a:pPr>
                      <a:r>
                        <a:t>Endpoint Route</a:t>
                      </a:r>
                    </a:p>
                  </a:txBody>
                  <a:tcPr>
                    <a:solidFill>
                      <a:srgbClr val="0F172A"/>
                    </a:solidFill>
                  </a:tcPr>
                </a:tc>
                <a:tc>
                  <a:txBody>
                    <a:bodyPr/>
                    <a:lstStyle/>
                    <a:p>
                      <a:pPr>
                        <a:defRPr sz="1000" b="1">
                          <a:solidFill>
                            <a:srgbClr val="FFFFFF"/>
                          </a:solidFill>
                        </a:defRPr>
                      </a:pPr>
                      <a:r>
                        <a:t>Quyền truy cập</a:t>
                      </a:r>
                    </a:p>
                  </a:txBody>
                  <a:tcPr>
                    <a:solidFill>
                      <a:srgbClr val="0F172A"/>
                    </a:solidFill>
                  </a:tcPr>
                </a:tc>
                <a:tc>
                  <a:txBody>
                    <a:bodyPr/>
                    <a:lstStyle/>
                    <a:p>
                      <a:pPr>
                        <a:defRPr sz="1000" b="1">
                          <a:solidFill>
                            <a:srgbClr val="FFFFFF"/>
                          </a:solidFill>
                        </a:defRPr>
                      </a:pPr>
                      <a:r>
                        <a:t>Khuôn phản hồi JSON</a:t>
                      </a:r>
                    </a:p>
                  </a:txBody>
                  <a:tcPr>
                    <a:solidFill>
                      <a:srgbClr val="0F172A"/>
                    </a:solidFill>
                  </a:tcPr>
                </a:tc>
              </a:tr>
              <a:tr h="679268">
                <a:tc>
                  <a:txBody>
                    <a:bodyPr/>
                    <a:lstStyle/>
                    <a:p>
                      <a:pPr>
                        <a:defRPr sz="950" b="1">
                          <a:solidFill>
                            <a:srgbClr val="2264AC"/>
                          </a:solidFill>
                        </a:defRPr>
                      </a:pPr>
                      <a:r>
                        <a:t>POST</a:t>
                      </a:r>
                    </a:p>
                  </a:txBody>
                  <a:tcPr>
                    <a:solidFill>
                      <a:srgbClr val="FFFFFF"/>
                    </a:solidFill>
                  </a:tcPr>
                </a:tc>
                <a:tc>
                  <a:txBody>
                    <a:bodyPr/>
                    <a:lstStyle/>
                    <a:p>
                      <a:pPr>
                        <a:defRPr sz="950">
                          <a:solidFill>
                            <a:srgbClr val="1E293B"/>
                          </a:solidFill>
                        </a:defRPr>
                      </a:pPr>
                      <a:r>
                        <a:t>/api/auth/login</a:t>
                      </a:r>
                    </a:p>
                  </a:txBody>
                  <a:tcPr>
                    <a:solidFill>
                      <a:srgbClr val="FFFFFF"/>
                    </a:solidFill>
                  </a:tcPr>
                </a:tc>
                <a:tc>
                  <a:txBody>
                    <a:bodyPr/>
                    <a:lstStyle/>
                    <a:p>
                      <a:pPr>
                        <a:defRPr sz="950">
                          <a:solidFill>
                            <a:srgbClr val="16A34A"/>
                          </a:solidFill>
                        </a:defRPr>
                      </a:pPr>
                      <a:r>
                        <a:t>Công khai (Mở)</a:t>
                      </a:r>
                    </a:p>
                  </a:txBody>
                  <a:tcPr>
                    <a:solidFill>
                      <a:srgbClr val="FFFFFF"/>
                    </a:solidFill>
                  </a:tcPr>
                </a:tc>
                <a:tc>
                  <a:txBody>
                    <a:bodyPr/>
                    <a:lstStyle/>
                    <a:p>
                      <a:pPr>
                        <a:defRPr sz="950">
                          <a:solidFill>
                            <a:srgbClr val="1E293B"/>
                          </a:solidFill>
                        </a:defRPr>
                      </a:pPr>
                      <a:r>
                        <a:t>{ token, user }</a:t>
                      </a:r>
                    </a:p>
                  </a:txBody>
                  <a:tcPr>
                    <a:solidFill>
                      <a:srgbClr val="FFFFFF"/>
                    </a:solidFill>
                  </a:tcPr>
                </a:tc>
              </a:tr>
              <a:tr h="679268">
                <a:tc>
                  <a:txBody>
                    <a:bodyPr/>
                    <a:lstStyle/>
                    <a:p>
                      <a:pPr>
                        <a:defRPr sz="950" b="1">
                          <a:solidFill>
                            <a:srgbClr val="22A6A1"/>
                          </a:solidFill>
                        </a:defRPr>
                      </a:pPr>
                      <a:r>
                        <a:t>GET</a:t>
                      </a:r>
                    </a:p>
                  </a:txBody>
                  <a:tcPr>
                    <a:solidFill>
                      <a:srgbClr val="FFFFFF"/>
                    </a:solidFill>
                  </a:tcPr>
                </a:tc>
                <a:tc>
                  <a:txBody>
                    <a:bodyPr/>
                    <a:lstStyle/>
                    <a:p>
                      <a:pPr>
                        <a:defRPr sz="950">
                          <a:solidFill>
                            <a:srgbClr val="1E293B"/>
                          </a:solidFill>
                        </a:defRPr>
                      </a:pPr>
                      <a:r>
                        <a:t>/api/events</a:t>
                      </a:r>
                    </a:p>
                  </a:txBody>
                  <a:tcPr>
                    <a:solidFill>
                      <a:srgbClr val="FFFFFF"/>
                    </a:solidFill>
                  </a:tcPr>
                </a:tc>
                <a:tc>
                  <a:txBody>
                    <a:bodyPr/>
                    <a:lstStyle/>
                    <a:p>
                      <a:pPr>
                        <a:defRPr sz="950">
                          <a:solidFill>
                            <a:srgbClr val="16A34A"/>
                          </a:solidFill>
                        </a:defRPr>
                      </a:pPr>
                      <a:r>
                        <a:t>Công khai (Mở)</a:t>
                      </a:r>
                    </a:p>
                  </a:txBody>
                  <a:tcPr>
                    <a:solidFill>
                      <a:srgbClr val="FFFFFF"/>
                    </a:solidFill>
                  </a:tcPr>
                </a:tc>
                <a:tc>
                  <a:txBody>
                    <a:bodyPr/>
                    <a:lstStyle/>
                    <a:p>
                      <a:pPr>
                        <a:defRPr sz="950">
                          <a:solidFill>
                            <a:srgbClr val="1E293B"/>
                          </a:solidFill>
                        </a:defRPr>
                      </a:pPr>
                      <a:r>
                        <a:t>{ items, totalCount }</a:t>
                      </a:r>
                    </a:p>
                  </a:txBody>
                  <a:tcPr>
                    <a:solidFill>
                      <a:srgbClr val="FFFFFF"/>
                    </a:solidFill>
                  </a:tcPr>
                </a:tc>
              </a:tr>
              <a:tr h="679268">
                <a:tc>
                  <a:txBody>
                    <a:bodyPr/>
                    <a:lstStyle/>
                    <a:p>
                      <a:pPr>
                        <a:defRPr sz="950" b="1">
                          <a:solidFill>
                            <a:srgbClr val="22A6A1"/>
                          </a:solidFill>
                        </a:defRPr>
                      </a:pPr>
                      <a:r>
                        <a:t>GET</a:t>
                      </a:r>
                    </a:p>
                  </a:txBody>
                  <a:tcPr>
                    <a:solidFill>
                      <a:srgbClr val="FFFFFF"/>
                    </a:solidFill>
                  </a:tcPr>
                </a:tc>
                <a:tc>
                  <a:txBody>
                    <a:bodyPr/>
                    <a:lstStyle/>
                    <a:p>
                      <a:pPr>
                        <a:defRPr sz="950">
                          <a:solidFill>
                            <a:srgbClr val="1E293B"/>
                          </a:solidFill>
                        </a:defRPr>
                      </a:pPr>
                      <a:r>
                        <a:t>/api/events/{slug}</a:t>
                      </a:r>
                    </a:p>
                  </a:txBody>
                  <a:tcPr>
                    <a:solidFill>
                      <a:srgbClr val="FFFFFF"/>
                    </a:solidFill>
                  </a:tcPr>
                </a:tc>
                <a:tc>
                  <a:txBody>
                    <a:bodyPr/>
                    <a:lstStyle/>
                    <a:p>
                      <a:pPr>
                        <a:defRPr sz="950">
                          <a:solidFill>
                            <a:srgbClr val="16A34A"/>
                          </a:solidFill>
                        </a:defRPr>
                      </a:pPr>
                      <a:r>
                        <a:t>Công khai (Mở)</a:t>
                      </a:r>
                    </a:p>
                  </a:txBody>
                  <a:tcPr>
                    <a:solidFill>
                      <a:srgbClr val="FFFFFF"/>
                    </a:solidFill>
                  </a:tcPr>
                </a:tc>
                <a:tc>
                  <a:txBody>
                    <a:bodyPr/>
                    <a:lstStyle/>
                    <a:p>
                      <a:pPr>
                        <a:defRPr sz="950">
                          <a:solidFill>
                            <a:srgbClr val="1E293B"/>
                          </a:solidFill>
                        </a:defRPr>
                      </a:pPr>
                      <a:r>
                        <a:t>{ eventDetail }</a:t>
                      </a:r>
                    </a:p>
                  </a:txBody>
                  <a:tcPr>
                    <a:solidFill>
                      <a:srgbClr val="FFFFFF"/>
                    </a:solidFill>
                  </a:tcPr>
                </a:tc>
              </a:tr>
              <a:tr h="679268">
                <a:tc>
                  <a:txBody>
                    <a:bodyPr/>
                    <a:lstStyle/>
                    <a:p>
                      <a:pPr>
                        <a:defRPr sz="950" b="1">
                          <a:solidFill>
                            <a:srgbClr val="2264AC"/>
                          </a:solidFill>
                        </a:defRPr>
                      </a:pPr>
                      <a:r>
                        <a:t>POST</a:t>
                      </a:r>
                    </a:p>
                  </a:txBody>
                  <a:tcPr>
                    <a:solidFill>
                      <a:srgbClr val="FFFFFF"/>
                    </a:solidFill>
                  </a:tcPr>
                </a:tc>
                <a:tc>
                  <a:txBody>
                    <a:bodyPr/>
                    <a:lstStyle/>
                    <a:p>
                      <a:pPr>
                        <a:defRPr sz="950">
                          <a:solidFill>
                            <a:srgbClr val="1E293B"/>
                          </a:solidFill>
                        </a:defRPr>
                      </a:pPr>
                      <a:r>
                        <a:t>/api/events</a:t>
                      </a:r>
                    </a:p>
                  </a:txBody>
                  <a:tcPr>
                    <a:solidFill>
                      <a:srgbClr val="FFFFFF"/>
                    </a:solidFill>
                  </a:tcPr>
                </a:tc>
                <a:tc>
                  <a:txBody>
                    <a:bodyPr/>
                    <a:lstStyle/>
                    <a:p>
                      <a:pPr>
                        <a:defRPr sz="950">
                          <a:solidFill>
                            <a:srgbClr val="DC2626"/>
                          </a:solidFill>
                        </a:defRPr>
                      </a:pPr>
                      <a:r>
                        <a:t>Admin, Committee</a:t>
                      </a:r>
                    </a:p>
                  </a:txBody>
                  <a:tcPr>
                    <a:solidFill>
                      <a:srgbClr val="FFFFFF"/>
                    </a:solidFill>
                  </a:tcPr>
                </a:tc>
                <a:tc>
                  <a:txBody>
                    <a:bodyPr/>
                    <a:lstStyle/>
                    <a:p>
                      <a:pPr>
                        <a:defRPr sz="950">
                          <a:solidFill>
                            <a:srgbClr val="1E293B"/>
                          </a:solidFill>
                        </a:defRPr>
                      </a:pPr>
                      <a:r>
                        <a:t>{ eventCreated }</a:t>
                      </a:r>
                    </a:p>
                  </a:txBody>
                  <a:tcPr>
                    <a:solidFill>
                      <a:srgbClr val="FFFFFF"/>
                    </a:solidFill>
                  </a:tcPr>
                </a:tc>
              </a:tr>
              <a:tr h="679268">
                <a:tc>
                  <a:txBody>
                    <a:bodyPr/>
                    <a:lstStyle/>
                    <a:p>
                      <a:pPr>
                        <a:defRPr sz="950" b="1">
                          <a:solidFill>
                            <a:srgbClr val="2264AC"/>
                          </a:solidFill>
                        </a:defRPr>
                      </a:pPr>
                      <a:r>
                        <a:t>POST</a:t>
                      </a:r>
                    </a:p>
                  </a:txBody>
                  <a:tcPr>
                    <a:solidFill>
                      <a:srgbClr val="FFFFFF"/>
                    </a:solidFill>
                  </a:tcPr>
                </a:tc>
                <a:tc>
                  <a:txBody>
                    <a:bodyPr/>
                    <a:lstStyle/>
                    <a:p>
                      <a:pPr>
                        <a:defRPr sz="950">
                          <a:solidFill>
                            <a:srgbClr val="1E293B"/>
                          </a:solidFill>
                        </a:defRPr>
                      </a:pPr>
                      <a:r>
                        <a:t>/api/events/{id}/register</a:t>
                      </a:r>
                    </a:p>
                  </a:txBody>
                  <a:tcPr>
                    <a:solidFill>
                      <a:srgbClr val="FFFFFF"/>
                    </a:solidFill>
                  </a:tcPr>
                </a:tc>
                <a:tc>
                  <a:txBody>
                    <a:bodyPr/>
                    <a:lstStyle/>
                    <a:p>
                      <a:pPr>
                        <a:defRPr sz="950">
                          <a:solidFill>
                            <a:srgbClr val="16A34A"/>
                          </a:solidFill>
                        </a:defRPr>
                      </a:pPr>
                      <a:r>
                        <a:t>Cần đăng nhập</a:t>
                      </a:r>
                    </a:p>
                  </a:txBody>
                  <a:tcPr>
                    <a:solidFill>
                      <a:srgbClr val="FFFFFF"/>
                    </a:solidFill>
                  </a:tcPr>
                </a:tc>
                <a:tc>
                  <a:txBody>
                    <a:bodyPr/>
                    <a:lstStyle/>
                    <a:p>
                      <a:pPr>
                        <a:defRPr sz="950">
                          <a:solidFill>
                            <a:srgbClr val="1E293B"/>
                          </a:solidFill>
                        </a:defRPr>
                      </a:pPr>
                      <a:r>
                        <a:t>{ success, message }</a:t>
                      </a:r>
                    </a:p>
                  </a:txBody>
                  <a:tcPr>
                    <a:solidFill>
                      <a:srgbClr val="FFFFFF"/>
                    </a:solidFill>
                  </a:tcPr>
                </a:tc>
              </a:tr>
              <a:tr h="679272">
                <a:tc>
                  <a:txBody>
                    <a:bodyPr/>
                    <a:lstStyle/>
                    <a:p>
                      <a:pPr>
                        <a:defRPr sz="950" b="1">
                          <a:solidFill>
                            <a:srgbClr val="2264AC"/>
                          </a:solidFill>
                        </a:defRPr>
                      </a:pPr>
                      <a:r>
                        <a:t>POST</a:t>
                      </a:r>
                    </a:p>
                  </a:txBody>
                  <a:tcPr>
                    <a:solidFill>
                      <a:srgbClr val="FFFFFF"/>
                    </a:solidFill>
                  </a:tcPr>
                </a:tc>
                <a:tc>
                  <a:txBody>
                    <a:bodyPr/>
                    <a:lstStyle/>
                    <a:p>
                      <a:pPr>
                        <a:defRPr sz="950">
                          <a:solidFill>
                            <a:srgbClr val="1E293B"/>
                          </a:solidFill>
                        </a:defRPr>
                      </a:pPr>
                      <a:r>
                        <a:t>/api/events/{id}/attendance</a:t>
                      </a:r>
                    </a:p>
                  </a:txBody>
                  <a:tcPr>
                    <a:solidFill>
                      <a:srgbClr val="FFFFFF"/>
                    </a:solidFill>
                  </a:tcPr>
                </a:tc>
                <a:tc>
                  <a:txBody>
                    <a:bodyPr/>
                    <a:lstStyle/>
                    <a:p>
                      <a:pPr>
                        <a:defRPr sz="950">
                          <a:solidFill>
                            <a:srgbClr val="DC2626"/>
                          </a:solidFill>
                        </a:defRPr>
                      </a:pPr>
                      <a:r>
                        <a:t>Admin, Committee</a:t>
                      </a:r>
                    </a:p>
                  </a:txBody>
                  <a:tcPr>
                    <a:solidFill>
                      <a:srgbClr val="FFFFFF"/>
                    </a:solidFill>
                  </a:tcPr>
                </a:tc>
                <a:tc>
                  <a:txBody>
                    <a:bodyPr/>
                    <a:lstStyle/>
                    <a:p>
                      <a:pPr>
                        <a:defRPr sz="950">
                          <a:solidFill>
                            <a:srgbClr val="1E293B"/>
                          </a:solidFill>
                        </a:defRPr>
                      </a:pPr>
                      <a:r>
                        <a:t>{ checkInSuccess }</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08. LUỒNG DỮ LIỆU XUYÊN SUỐT</a:t>
            </a:r>
          </a:p>
          <a:p>
            <a:pPr>
              <a:defRPr sz="1900" b="1">
                <a:solidFill>
                  <a:srgbClr val="0F172A"/>
                </a:solidFill>
                <a:latin typeface="Segoe UI"/>
              </a:defRPr>
            </a:pPr>
            <a:r>
              <a:t>XUYÊN SUỐT MỘT YÊU CẦU: TỪ CÚ NHẤP CHUỘT TỚI DATABASE</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Hồ Đoàng Nguyên Khang | Slide 9/16</a:t>
            </a:r>
          </a:p>
        </p:txBody>
      </p:sp>
      <p:sp>
        <p:nvSpPr>
          <p:cNvPr id="10" name="Rounded Rectangle 9"/>
          <p:cNvSpPr/>
          <p:nvPr/>
        </p:nvSpPr>
        <p:spPr>
          <a:xfrm>
            <a:off x="731520" y="1325880"/>
            <a:ext cx="10728655" cy="749808"/>
          </a:xfrm>
          <a:prstGeom prst="roundRect">
            <a:avLst/>
          </a:prstGeom>
          <a:solidFill>
            <a:srgbClr val="FFFFFF"/>
          </a:solidFill>
          <a:ln w="19050">
            <a:solidFill>
              <a:srgbClr val="2264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371600"/>
            <a:ext cx="10332720" cy="658368"/>
          </a:xfrm>
          <a:prstGeom prst="rect">
            <a:avLst/>
          </a:prstGeom>
          <a:noFill/>
        </p:spPr>
        <p:txBody>
          <a:bodyPr wrap="square">
            <a:spAutoFit/>
          </a:bodyPr>
          <a:lstStyle/>
          <a:p>
            <a:pPr>
              <a:defRPr sz="1100" b="1">
                <a:solidFill>
                  <a:srgbClr val="2264AC"/>
                </a:solidFill>
                <a:latin typeface="Segoe UI"/>
              </a:defRPr>
            </a:pPr>
            <a:r>
              <a:t>Chặng 1: Thao tác Giao diện (UI Event)</a:t>
            </a:r>
          </a:p>
          <a:p>
            <a:pPr>
              <a:defRPr sz="1000">
                <a:solidFill>
                  <a:srgbClr val="1E293B"/>
                </a:solidFill>
                <a:latin typeface="Segoe UI"/>
              </a:defRPr>
            </a:pPr>
            <a:r>
              <a:t>Người dùng nhấn nút Đăng ký (btnRegister) trên Android hoặc Xem chi tiết trên Web.</a:t>
            </a:r>
          </a:p>
        </p:txBody>
      </p:sp>
      <p:sp>
        <p:nvSpPr>
          <p:cNvPr id="12" name="Rounded Rectangle 11"/>
          <p:cNvSpPr/>
          <p:nvPr/>
        </p:nvSpPr>
        <p:spPr>
          <a:xfrm>
            <a:off x="731520" y="2148840"/>
            <a:ext cx="10728655" cy="749808"/>
          </a:xfrm>
          <a:prstGeom prst="roundRect">
            <a:avLst/>
          </a:prstGeom>
          <a:solidFill>
            <a:srgbClr val="FFFFFF"/>
          </a:solidFill>
          <a:ln w="19050">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194560"/>
            <a:ext cx="10332720" cy="658368"/>
          </a:xfrm>
          <a:prstGeom prst="rect">
            <a:avLst/>
          </a:prstGeom>
          <a:noFill/>
        </p:spPr>
        <p:txBody>
          <a:bodyPr wrap="square">
            <a:spAutoFit/>
          </a:bodyPr>
          <a:lstStyle/>
          <a:p>
            <a:pPr>
              <a:defRPr sz="1100" b="1">
                <a:solidFill>
                  <a:srgbClr val="22A6A1"/>
                </a:solidFill>
                <a:latin typeface="Segoe UI"/>
              </a:defRPr>
            </a:pPr>
            <a:r>
              <a:t>Chặng 2: Client đóng gói Yêu cầu (Network Request)</a:t>
            </a:r>
          </a:p>
          <a:p>
            <a:pPr>
              <a:defRPr sz="1000">
                <a:solidFill>
                  <a:srgbClr val="1E293B"/>
                </a:solidFill>
                <a:latin typeface="Segoe UI"/>
              </a:defRPr>
            </a:pPr>
            <a:r>
              <a:t>Hàm UI gọi lớp ApiClient: Web dùng fetch(), Android dùng Retrofit enqueue(), WinForms dùng HttpClient.SendAsync().</a:t>
            </a:r>
          </a:p>
        </p:txBody>
      </p:sp>
      <p:sp>
        <p:nvSpPr>
          <p:cNvPr id="14" name="Rounded Rectangle 13"/>
          <p:cNvSpPr/>
          <p:nvPr/>
        </p:nvSpPr>
        <p:spPr>
          <a:xfrm>
            <a:off x="731520" y="2971800"/>
            <a:ext cx="10728655" cy="749808"/>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17520"/>
            <a:ext cx="10332720" cy="658368"/>
          </a:xfrm>
          <a:prstGeom prst="rect">
            <a:avLst/>
          </a:prstGeom>
          <a:noFill/>
        </p:spPr>
        <p:txBody>
          <a:bodyPr wrap="square">
            <a:spAutoFit/>
          </a:bodyPr>
          <a:lstStyle/>
          <a:p>
            <a:pPr>
              <a:defRPr sz="1100" b="1">
                <a:solidFill>
                  <a:srgbClr val="0F172A"/>
                </a:solidFill>
                <a:latin typeface="Segoe UI"/>
              </a:defRPr>
            </a:pPr>
            <a:r>
              <a:t>Chặng 3: Truyền tải qua Mạng (Network Transfer)</a:t>
            </a:r>
          </a:p>
          <a:p>
            <a:pPr>
              <a:defRPr sz="1000">
                <a:solidFill>
                  <a:srgbClr val="1E293B"/>
                </a:solidFill>
                <a:latin typeface="Segoe UI"/>
              </a:defRPr>
            </a:pPr>
            <a:r>
              <a:t>Gói tin HTTP đi qua Internet tới máy chủ Kestrel cổng 443 kèm Header 'Authorization: Bearer &lt;token&gt;'.</a:t>
            </a:r>
          </a:p>
        </p:txBody>
      </p:sp>
      <p:sp>
        <p:nvSpPr>
          <p:cNvPr id="16" name="Rounded Rectangle 15"/>
          <p:cNvSpPr/>
          <p:nvPr/>
        </p:nvSpPr>
        <p:spPr>
          <a:xfrm>
            <a:off x="731520" y="3794760"/>
            <a:ext cx="10728655" cy="749808"/>
          </a:xfrm>
          <a:prstGeom prst="roundRect">
            <a:avLst/>
          </a:prstGeom>
          <a:solidFill>
            <a:srgbClr val="FFFFFF"/>
          </a:solidFill>
          <a:ln w="19050">
            <a:solidFill>
              <a:srgbClr val="2264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40480"/>
            <a:ext cx="10332720" cy="658368"/>
          </a:xfrm>
          <a:prstGeom prst="rect">
            <a:avLst/>
          </a:prstGeom>
          <a:noFill/>
        </p:spPr>
        <p:txBody>
          <a:bodyPr wrap="square">
            <a:spAutoFit/>
          </a:bodyPr>
          <a:lstStyle/>
          <a:p>
            <a:pPr>
              <a:defRPr sz="1100" b="1">
                <a:solidFill>
                  <a:srgbClr val="2264AC"/>
                </a:solidFill>
                <a:latin typeface="Segoe UI"/>
              </a:defRPr>
            </a:pPr>
            <a:r>
              <a:t>Chặng 4: Server tiếp nhận &amp; Xử lý (Controller &amp; DB)</a:t>
            </a:r>
          </a:p>
          <a:p>
            <a:pPr>
              <a:defRPr sz="1000">
                <a:solidFill>
                  <a:srgbClr val="1E293B"/>
                </a:solidFill>
                <a:latin typeface="Segoe UI"/>
              </a:defRPr>
            </a:pPr>
            <a:r>
              <a:t>Middleware xác thực JWT, đọc UserId từ Claims -&gt; Controller gọi EF Core truy vấn và lưu bản ghi vào PostgreSQL.</a:t>
            </a:r>
          </a:p>
        </p:txBody>
      </p:sp>
      <p:sp>
        <p:nvSpPr>
          <p:cNvPr id="18" name="Rounded Rectangle 17"/>
          <p:cNvSpPr/>
          <p:nvPr/>
        </p:nvSpPr>
        <p:spPr>
          <a:xfrm>
            <a:off x="731520" y="4617720"/>
            <a:ext cx="10728655" cy="749808"/>
          </a:xfrm>
          <a:prstGeom prst="roundRect">
            <a:avLst/>
          </a:prstGeom>
          <a:solidFill>
            <a:srgbClr val="FFFFFF"/>
          </a:solidFill>
          <a:ln w="19050">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63440"/>
            <a:ext cx="10332720" cy="658368"/>
          </a:xfrm>
          <a:prstGeom prst="rect">
            <a:avLst/>
          </a:prstGeom>
          <a:noFill/>
        </p:spPr>
        <p:txBody>
          <a:bodyPr wrap="square">
            <a:spAutoFit/>
          </a:bodyPr>
          <a:lstStyle/>
          <a:p>
            <a:pPr>
              <a:defRPr sz="1100" b="1">
                <a:solidFill>
                  <a:srgbClr val="22A6A1"/>
                </a:solidFill>
                <a:latin typeface="Segoe UI"/>
              </a:defRPr>
            </a:pPr>
            <a:r>
              <a:t>Chặng 5: Đóng gói Phản hồi JSON (Serialization)</a:t>
            </a:r>
          </a:p>
          <a:p>
            <a:pPr>
              <a:defRPr sz="1000">
                <a:solidFill>
                  <a:srgbClr val="1E293B"/>
                </a:solidFill>
                <a:latin typeface="Segoe UI"/>
              </a:defRPr>
            </a:pPr>
            <a:r>
              <a:t>Server bọc kết quả vào ApiResponse&lt;T&gt;, tuần tự hóa JSON UTF-8 camelCase, trả mã HTTP 200 OK (hoặc 201 Created).</a:t>
            </a:r>
          </a:p>
        </p:txBody>
      </p:sp>
      <p:sp>
        <p:nvSpPr>
          <p:cNvPr id="20" name="Rounded Rectangle 19"/>
          <p:cNvSpPr/>
          <p:nvPr/>
        </p:nvSpPr>
        <p:spPr>
          <a:xfrm>
            <a:off x="731520" y="5440680"/>
            <a:ext cx="10728655" cy="749808"/>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86400"/>
            <a:ext cx="10332720" cy="658368"/>
          </a:xfrm>
          <a:prstGeom prst="rect">
            <a:avLst/>
          </a:prstGeom>
          <a:noFill/>
        </p:spPr>
        <p:txBody>
          <a:bodyPr wrap="square">
            <a:spAutoFit/>
          </a:bodyPr>
          <a:lstStyle/>
          <a:p>
            <a:pPr>
              <a:defRPr sz="1100" b="1">
                <a:solidFill>
                  <a:srgbClr val="16A34A"/>
                </a:solidFill>
                <a:latin typeface="Segoe UI"/>
              </a:defRPr>
            </a:pPr>
            <a:r>
              <a:t>Chặng 6: Nhận kết quả &amp; Hiển thị (UI Rendering)</a:t>
            </a:r>
          </a:p>
          <a:p>
            <a:pPr>
              <a:defRPr sz="1000">
                <a:solidFill>
                  <a:srgbClr val="1E293B"/>
                </a:solidFill>
                <a:latin typeface="Segoe UI"/>
              </a:defRPr>
            </a:pPr>
            <a:r>
              <a:t>Client nhận JSON, deserialize thành Model DTO, chuyển về Luồng Chính để cập nhật điều khiển giao diện.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09. BẢO MẬT &amp; XÁC THỰC</a:t>
            </a:r>
          </a:p>
          <a:p>
            <a:pPr>
              <a:defRPr sz="1900" b="1">
                <a:solidFill>
                  <a:srgbClr val="0F172A"/>
                </a:solidFill>
                <a:latin typeface="Segoe UI"/>
              </a:defRPr>
            </a:pPr>
            <a:r>
              <a:t>XÁC THỰC &amp; PHÂN QUYỀN: VÒNG ĐỜI JWT VÀ BẢO MẬT SERVER</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Hồ Đoàng Nguyên Khang | Slide 10/16</a:t>
            </a:r>
          </a:p>
        </p:txBody>
      </p:sp>
      <p:pic>
        <p:nvPicPr>
          <p:cNvPr id="10" name="Picture 9" descr="13_401_response.png"/>
          <p:cNvPicPr>
            <a:picLocks noChangeAspect="1"/>
          </p:cNvPicPr>
          <p:nvPr/>
        </p:nvPicPr>
        <p:blipFill>
          <a:blip r:embed="rId4"/>
          <a:stretch>
            <a:fillRect/>
          </a:stretch>
        </p:blipFill>
        <p:spPr>
          <a:xfrm>
            <a:off x="731520" y="1371600"/>
            <a:ext cx="5120640" cy="3200400"/>
          </a:xfrm>
          <a:prstGeom prst="rect">
            <a:avLst/>
          </a:prstGeom>
        </p:spPr>
      </p:pic>
      <p:pic>
        <p:nvPicPr>
          <p:cNvPr id="11" name="Picture 10" descr="14_403_response.png"/>
          <p:cNvPicPr>
            <a:picLocks noChangeAspect="1"/>
          </p:cNvPicPr>
          <p:nvPr/>
        </p:nvPicPr>
        <p:blipFill>
          <a:blip r:embed="rId5"/>
          <a:stretch>
            <a:fillRect/>
          </a:stretch>
        </p:blipFill>
        <p:spPr>
          <a:xfrm>
            <a:off x="6217920" y="1371600"/>
            <a:ext cx="5212080" cy="3257550"/>
          </a:xfrm>
          <a:prstGeom prst="rect">
            <a:avLst/>
          </a:prstGeom>
        </p:spPr>
      </p:pic>
      <p:sp>
        <p:nvSpPr>
          <p:cNvPr id="12" name="Rectangle 11"/>
          <p:cNvSpPr/>
          <p:nvPr/>
        </p:nvSpPr>
        <p:spPr>
          <a:xfrm>
            <a:off x="731520" y="4663440"/>
            <a:ext cx="10728655" cy="16002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60"/>
            <a:ext cx="10332720" cy="1508760"/>
          </a:xfrm>
          <a:prstGeom prst="rect">
            <a:avLst/>
          </a:prstGeom>
          <a:noFill/>
        </p:spPr>
        <p:txBody>
          <a:bodyPr wrap="square">
            <a:spAutoFit/>
          </a:bodyPr>
          <a:lstStyle/>
          <a:p>
            <a:pPr>
              <a:defRPr sz="1100" b="1">
                <a:solidFill>
                  <a:srgbClr val="0F172A"/>
                </a:solidFill>
              </a:defRPr>
            </a:pPr>
            <a:r>
              <a:t>CÁC NGUYÊN TẮC BẢO MẬT CỐT LÕI ĐƯỢC CHỨNG MINH THỰC TẾ:</a:t>
            </a:r>
          </a:p>
          <a:p>
            <a:pPr>
              <a:defRPr sz="950">
                <a:solidFill>
                  <a:srgbClr val="1E293B"/>
                </a:solidFill>
              </a:defRPr>
            </a:pPr>
            <a:r>
              <a:t>1. JWT không phải là chuỗi mã hóa: Phần Header và Payload chỉ mã hóa Base64URL, ai cũng đọc được nội dung bên trong.</a:t>
            </a:r>
          </a:p>
          <a:p>
            <a:pPr>
              <a:defRPr sz="950">
                <a:solidFill>
                  <a:srgbClr val="1E293B"/>
                </a:solidFill>
              </a:defRPr>
            </a:pPr>
            <a:r>
              <a:t>2. Toàn vẹn nhờ Chữ ký số (HMAC-SHA256): Chữ ký được sinh từ Secret Key chỉ Server nắm giữ. Người dùng đổi role sẽ làm sai chữ ký và bị từ chối.</a:t>
            </a:r>
          </a:p>
          <a:p>
            <a:pPr>
              <a:defRPr sz="950">
                <a:solidFill>
                  <a:srgbClr val="1E293B"/>
                </a:solidFill>
              </a:defRPr>
            </a:pPr>
            <a:r>
              <a:t>3. Phân biệt 401 vs 403: Mã 401 (Unauthorized) xảy ra khi thiếu token hoặc token hết hạn. Mã 403 (Forbidden) xảy ra khi người dùng hợp lệ nhưng không đủ quyền Admin.</a:t>
            </a:r>
          </a:p>
          <a:p>
            <a:pPr>
              <a:defRPr sz="950">
                <a:solidFill>
                  <a:srgbClr val="1E293B"/>
                </a:solidFill>
              </a:defRPr>
            </a:pPr>
            <a:r>
              <a:t>4. Server không bao giờ tin Client: Khi đăng ký sự kiện, Server tự trích xuất UserId từ Claims (ClaimTypes.NameIdentifier) trong token, client không thể mạo danh.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10. QUẢN LÝ DỮ LIỆU &amp; KIẾN TRÚC</a:t>
            </a:r>
          </a:p>
          <a:p>
            <a:pPr>
              <a:defRPr sz="1900" b="1">
                <a:solidFill>
                  <a:srgbClr val="0F172A"/>
                </a:solidFill>
                <a:latin typeface="Segoe UI"/>
              </a:defRPr>
            </a:pPr>
            <a:r>
              <a:t>JSON, CƠ SỞ DỮ LIỆU &amp; QUYẾT ĐỊNH KỸ THUẬT</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Hồ Đoàng Nguyên Khang | Slide 11/16</a:t>
            </a:r>
          </a:p>
        </p:txBody>
      </p:sp>
      <p:sp>
        <p:nvSpPr>
          <p:cNvPr id="10" name="Rounded Rectangle 9"/>
          <p:cNvSpPr/>
          <p:nvPr/>
        </p:nvSpPr>
        <p:spPr>
          <a:xfrm>
            <a:off x="731520" y="1371600"/>
            <a:ext cx="3383280" cy="4754880"/>
          </a:xfrm>
          <a:prstGeom prst="roundRect">
            <a:avLst/>
          </a:prstGeom>
          <a:solidFill>
            <a:srgbClr val="FFFFFF"/>
          </a:solidFill>
          <a:ln w="19050">
            <a:solidFill>
              <a:srgbClr val="2264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554480"/>
            <a:ext cx="3108960" cy="4389120"/>
          </a:xfrm>
          <a:prstGeom prst="rect">
            <a:avLst/>
          </a:prstGeom>
          <a:noFill/>
        </p:spPr>
        <p:txBody>
          <a:bodyPr wrap="square">
            <a:spAutoFit/>
          </a:bodyPr>
          <a:lstStyle/>
          <a:p>
            <a:pPr>
              <a:defRPr sz="1200" b="1">
                <a:solidFill>
                  <a:srgbClr val="2264AC"/>
                </a:solidFill>
              </a:defRPr>
            </a:pPr>
            <a:r>
              <a:t>VAI TRÒ CỦA DTO TRONG HỆ THỐNG</a:t>
            </a:r>
          </a:p>
          <a:p>
            <a:pPr>
              <a:spcAft>
                <a:spcPts val="800"/>
              </a:spcAft>
              <a:defRPr sz="1000">
                <a:solidFill>
                  <a:srgbClr val="1E293B"/>
                </a:solidFill>
              </a:defRPr>
            </a:pPr>
            <a:r>
              <a:t>• Không bao giờ trả Entity trực tiếp ra ngoài.</a:t>
            </a:r>
          </a:p>
          <a:p>
            <a:pPr>
              <a:spcAft>
                <a:spcPts val="800"/>
              </a:spcAft>
              <a:defRPr sz="1000">
                <a:solidFill>
                  <a:srgbClr val="1E293B"/>
                </a:solidFill>
              </a:defRPr>
            </a:pPr>
            <a:r>
              <a:t>• Che giấu thông tin nhạy cảm: PasswordHash, thông tin nội bộ.</a:t>
            </a:r>
          </a:p>
          <a:p>
            <a:pPr>
              <a:spcAft>
                <a:spcPts val="800"/>
              </a:spcAft>
              <a:defRPr sz="1000">
                <a:solidFill>
                  <a:srgbClr val="1E293B"/>
                </a:solidFill>
              </a:defRPr>
            </a:pPr>
            <a:r>
              <a:t>• Tránh lỗi đệ quy vòng lặp JSON (Cyclic Reference) giữa các bảng có quan hệ 1-N trong Entity Framework.</a:t>
            </a:r>
          </a:p>
          <a:p>
            <a:pPr>
              <a:spcAft>
                <a:spcPts val="800"/>
              </a:spcAft>
              <a:defRPr sz="1000">
                <a:solidFill>
                  <a:srgbClr val="1E293B"/>
                </a:solidFill>
              </a:defRPr>
            </a:pPr>
            <a:r>
              <a:t>• Giảm tải băng thông mạng: Chỉ truyền những trường giao diện thực sự cần.</a:t>
            </a:r>
          </a:p>
        </p:txBody>
      </p:sp>
      <p:sp>
        <p:nvSpPr>
          <p:cNvPr id="12" name="Rounded Rectangle 11"/>
          <p:cNvSpPr/>
          <p:nvPr/>
        </p:nvSpPr>
        <p:spPr>
          <a:xfrm>
            <a:off x="4389120" y="1371600"/>
            <a:ext cx="3383280" cy="4754880"/>
          </a:xfrm>
          <a:prstGeom prst="roundRect">
            <a:avLst/>
          </a:prstGeom>
          <a:solidFill>
            <a:srgbClr val="FFFFFF"/>
          </a:solidFill>
          <a:ln w="19050">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554480"/>
            <a:ext cx="3108960" cy="4389120"/>
          </a:xfrm>
          <a:prstGeom prst="rect">
            <a:avLst/>
          </a:prstGeom>
          <a:noFill/>
        </p:spPr>
        <p:txBody>
          <a:bodyPr wrap="square">
            <a:spAutoFit/>
          </a:bodyPr>
          <a:lstStyle/>
          <a:p>
            <a:pPr>
              <a:defRPr sz="1200" b="1">
                <a:solidFill>
                  <a:srgbClr val="22A6A1"/>
                </a:solidFill>
              </a:defRPr>
            </a:pPr>
            <a:r>
              <a:t>PHÂN TRANG PHÍA SERVER (PAGEDRESPONSE)</a:t>
            </a:r>
          </a:p>
          <a:p>
            <a:pPr>
              <a:spcAft>
                <a:spcPts val="800"/>
              </a:spcAft>
              <a:defRPr sz="1000">
                <a:solidFill>
                  <a:srgbClr val="1E293B"/>
                </a:solidFill>
              </a:defRPr>
            </a:pPr>
            <a:r>
              <a:t>• Không bao giờ tải hàng nghìn bản ghi vào RAM server.</a:t>
            </a:r>
          </a:p>
          <a:p>
            <a:pPr>
              <a:spcAft>
                <a:spcPts val="800"/>
              </a:spcAft>
              <a:defRPr sz="1000">
                <a:solidFill>
                  <a:srgbClr val="1E293B"/>
                </a:solidFill>
              </a:defRPr>
            </a:pPr>
            <a:r>
              <a:t>• Câu lệnh SQL thực thi trực tiếp OFFSET và LIMIT trên PostgreSQL.</a:t>
            </a:r>
          </a:p>
          <a:p>
            <a:pPr>
              <a:spcAft>
                <a:spcPts val="800"/>
              </a:spcAft>
              <a:defRPr sz="1000">
                <a:solidFill>
                  <a:srgbClr val="1E293B"/>
                </a:solidFill>
              </a:defRPr>
            </a:pPr>
            <a:r>
              <a:t>• Trả về vỏ phân trang chuẩn gồm: totalCount, pageIndex, pageSize, totalPages và mảng items.</a:t>
            </a:r>
          </a:p>
          <a:p>
            <a:pPr>
              <a:spcAft>
                <a:spcPts val="800"/>
              </a:spcAft>
              <a:defRPr sz="1000">
                <a:solidFill>
                  <a:srgbClr val="1E293B"/>
                </a:solidFill>
              </a:defRPr>
            </a:pPr>
            <a:r>
              <a:t>• Sắp xếp ổn định (Tie-breaker): OrderBy(Date).ThenBy(Id) chống trùng bản ghi giữa các trang.</a:t>
            </a:r>
          </a:p>
        </p:txBody>
      </p:sp>
      <p:sp>
        <p:nvSpPr>
          <p:cNvPr id="14" name="Rounded Rectangle 13"/>
          <p:cNvSpPr/>
          <p:nvPr/>
        </p:nvSpPr>
        <p:spPr>
          <a:xfrm>
            <a:off x="8046720" y="1371600"/>
            <a:ext cx="3383280" cy="47548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554480"/>
            <a:ext cx="3108960" cy="4389120"/>
          </a:xfrm>
          <a:prstGeom prst="rect">
            <a:avLst/>
          </a:prstGeom>
          <a:noFill/>
        </p:spPr>
        <p:txBody>
          <a:bodyPr wrap="square">
            <a:spAutoFit/>
          </a:bodyPr>
          <a:lstStyle/>
          <a:p>
            <a:pPr>
              <a:defRPr sz="1200" b="1">
                <a:solidFill>
                  <a:srgbClr val="16A34A"/>
                </a:solidFill>
              </a:defRPr>
            </a:pPr>
            <a:r>
              <a:t>CƠ SỞ DỮ LIỆU CLOUD POSTGRESQL</a:t>
            </a:r>
          </a:p>
          <a:p>
            <a:pPr>
              <a:spcAft>
                <a:spcPts val="800"/>
              </a:spcAft>
              <a:defRPr sz="1000">
                <a:solidFill>
                  <a:srgbClr val="1E293B"/>
                </a:solidFill>
              </a:defRPr>
            </a:pPr>
            <a:r>
              <a:t>• Đám mây Supabase PostgreSQL 16.3 tại trung tâm dữ liệu Singapore (ap-southeast-1).</a:t>
            </a:r>
          </a:p>
          <a:p>
            <a:pPr>
              <a:spcAft>
                <a:spcPts val="800"/>
              </a:spcAft>
              <a:defRPr sz="1000">
                <a:solidFill>
                  <a:srgbClr val="1E293B"/>
                </a:solidFill>
              </a:defRPr>
            </a:pPr>
            <a:r>
              <a:t>• Kết nối qua IPv4 Connection Pooler cổng 5432 để Render container kết nối ổn định.</a:t>
            </a:r>
          </a:p>
          <a:p>
            <a:pPr>
              <a:spcAft>
                <a:spcPts val="800"/>
              </a:spcAft>
              <a:defRPr sz="1000">
                <a:solidFill>
                  <a:srgbClr val="1E293B"/>
                </a:solidFill>
              </a:defRPr>
            </a:pPr>
            <a:r>
              <a:t>• Sử dụng AsNoTracking() cho tất cả truy vấn chỉ đọc để tăng tốc độ phản hồi.</a:t>
            </a:r>
          </a:p>
          <a:p>
            <a:pPr>
              <a:spcAft>
                <a:spcPts val="800"/>
              </a:spcAft>
              <a:defRPr sz="1000">
                <a:solidFill>
                  <a:srgbClr val="1E293B"/>
                </a:solidFill>
              </a:defRPr>
            </a:pPr>
            <a:r>
              <a:t>• Toàn bộ dữ liệu 4 danh mục và sự kiện đều là dữ liệu thật, không có mock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11. ỨNG DỤNG KHÁCH (DESKTOP)</a:t>
            </a:r>
          </a:p>
          <a:p>
            <a:pPr>
              <a:defRPr sz="1900" b="1">
                <a:solidFill>
                  <a:srgbClr val="0F172A"/>
                </a:solidFill>
                <a:latin typeface="Segoe UI"/>
              </a:defRPr>
            </a:pPr>
            <a:r>
              <a:t>ỨNG DỤNG DESKTOP: WINDOWS FORMS C# (.NET 8)</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Võ Ngọc Minh Đạt | Slide 12/16</a:t>
            </a:r>
          </a:p>
        </p:txBody>
      </p:sp>
      <p:pic>
        <p:nvPicPr>
          <p:cNvPr id="10" name="Picture 9" descr="08_winforms_dashboard.png"/>
          <p:cNvPicPr>
            <a:picLocks noChangeAspect="1"/>
          </p:cNvPicPr>
          <p:nvPr/>
        </p:nvPicPr>
        <p:blipFill>
          <a:blip r:embed="rId4"/>
          <a:stretch>
            <a:fillRect/>
          </a:stretch>
        </p:blipFill>
        <p:spPr>
          <a:xfrm>
            <a:off x="731520" y="1371600"/>
            <a:ext cx="5303520" cy="3314700"/>
          </a:xfrm>
          <a:prstGeom prst="rect">
            <a:avLst/>
          </a:prstGeom>
        </p:spPr>
      </p:pic>
      <p:graphicFrame>
        <p:nvGraphicFramePr>
          <p:cNvPr id="11" name="Table 10"/>
          <p:cNvGraphicFramePr>
            <a:graphicFrameLocks noGrp="1"/>
          </p:cNvGraphicFramePr>
          <p:nvPr/>
        </p:nvGraphicFramePr>
        <p:xfrm>
          <a:off x="6309360" y="1371600"/>
          <a:ext cx="5120640" cy="1645920"/>
        </p:xfrm>
        <a:graphic>
          <a:graphicData uri="http://schemas.openxmlformats.org/drawingml/2006/table">
            <a:tbl>
              <a:tblPr firstRow="1" bandRow="1">
                <a:tableStyleId>{5C22544A-7EE6-4342-B048-85BDC9FD1C3A}</a:tableStyleId>
              </a:tblPr>
              <a:tblGrid>
                <a:gridCol w="1463040"/>
                <a:gridCol w="1645920"/>
                <a:gridCol w="2011680"/>
              </a:tblGrid>
              <a:tr h="329184">
                <a:tc>
                  <a:txBody>
                    <a:bodyPr/>
                    <a:lstStyle/>
                    <a:p>
                      <a:pPr>
                        <a:defRPr sz="1000" b="1">
                          <a:solidFill>
                            <a:srgbClr val="FFFFFF"/>
                          </a:solidFill>
                        </a:defRPr>
                      </a:pPr>
                      <a:r>
                        <a:t>Tên điều khiển</a:t>
                      </a:r>
                    </a:p>
                  </a:txBody>
                  <a:tcPr>
                    <a:solidFill>
                      <a:srgbClr val="0F172A"/>
                    </a:solidFill>
                  </a:tcPr>
                </a:tc>
                <a:tc>
                  <a:txBody>
                    <a:bodyPr/>
                    <a:lstStyle/>
                    <a:p>
                      <a:pPr>
                        <a:defRPr sz="1000" b="1">
                          <a:solidFill>
                            <a:srgbClr val="FFFFFF"/>
                          </a:solidFill>
                        </a:defRPr>
                      </a:pPr>
                      <a:r>
                        <a:t>Loại điều khiển</a:t>
                      </a:r>
                    </a:p>
                  </a:txBody>
                  <a:tcPr>
                    <a:solidFill>
                      <a:srgbClr val="0F172A"/>
                    </a:solidFill>
                  </a:tcPr>
                </a:tc>
                <a:tc>
                  <a:txBody>
                    <a:bodyPr/>
                    <a:lstStyle/>
                    <a:p>
                      <a:pPr>
                        <a:defRPr sz="1000" b="1">
                          <a:solidFill>
                            <a:srgbClr val="FFFFFF"/>
                          </a:solidFill>
                        </a:defRPr>
                      </a:pPr>
                      <a:r>
                        <a:t>Vai trò nghiệp vụ</a:t>
                      </a:r>
                    </a:p>
                  </a:txBody>
                  <a:tcPr>
                    <a:solidFill>
                      <a:srgbClr val="0F172A"/>
                    </a:solidFill>
                  </a:tcPr>
                </a:tc>
              </a:tr>
              <a:tr h="329184">
                <a:tc>
                  <a:txBody>
                    <a:bodyPr/>
                    <a:lstStyle/>
                    <a:p>
                      <a:pPr>
                        <a:defRPr sz="950">
                          <a:solidFill>
                            <a:srgbClr val="1E293B"/>
                          </a:solidFill>
                        </a:defRPr>
                      </a:pPr>
                      <a:r>
                        <a:t>_dgvEvents</a:t>
                      </a:r>
                    </a:p>
                  </a:txBody>
                  <a:tcPr>
                    <a:solidFill>
                      <a:srgbClr val="FFFFFF"/>
                    </a:solidFill>
                  </a:tcPr>
                </a:tc>
                <a:tc>
                  <a:txBody>
                    <a:bodyPr/>
                    <a:lstStyle/>
                    <a:p>
                      <a:pPr>
                        <a:defRPr sz="950">
                          <a:solidFill>
                            <a:srgbClr val="1E293B"/>
                          </a:solidFill>
                        </a:defRPr>
                      </a:pPr>
                      <a:r>
                        <a:t>DataGridView</a:t>
                      </a:r>
                    </a:p>
                  </a:txBody>
                  <a:tcPr>
                    <a:solidFill>
                      <a:srgbClr val="FFFFFF"/>
                    </a:solidFill>
                  </a:tcPr>
                </a:tc>
                <a:tc>
                  <a:txBody>
                    <a:bodyPr/>
                    <a:lstStyle/>
                    <a:p>
                      <a:pPr>
                        <a:defRPr sz="950">
                          <a:solidFill>
                            <a:srgbClr val="1E293B"/>
                          </a:solidFill>
                        </a:defRPr>
                      </a:pPr>
                      <a:r>
                        <a:t>Hiển thị danh sách sự kiện và số lượng đăng ký</a:t>
                      </a:r>
                    </a:p>
                  </a:txBody>
                  <a:tcPr>
                    <a:solidFill>
                      <a:srgbClr val="FFFFFF"/>
                    </a:solidFill>
                  </a:tcPr>
                </a:tc>
              </a:tr>
              <a:tr h="329184">
                <a:tc>
                  <a:txBody>
                    <a:bodyPr/>
                    <a:lstStyle/>
                    <a:p>
                      <a:pPr>
                        <a:defRPr sz="950">
                          <a:solidFill>
                            <a:srgbClr val="1E293B"/>
                          </a:solidFill>
                        </a:defRPr>
                      </a:pPr>
                      <a:r>
                        <a:t>_dgvRegistrations</a:t>
                      </a:r>
                    </a:p>
                  </a:txBody>
                  <a:tcPr>
                    <a:solidFill>
                      <a:srgbClr val="FFFFFF"/>
                    </a:solidFill>
                  </a:tcPr>
                </a:tc>
                <a:tc>
                  <a:txBody>
                    <a:bodyPr/>
                    <a:lstStyle/>
                    <a:p>
                      <a:pPr>
                        <a:defRPr sz="950">
                          <a:solidFill>
                            <a:srgbClr val="1E293B"/>
                          </a:solidFill>
                        </a:defRPr>
                      </a:pPr>
                      <a:r>
                        <a:t>DataGridView</a:t>
                      </a:r>
                    </a:p>
                  </a:txBody>
                  <a:tcPr>
                    <a:solidFill>
                      <a:srgbClr val="FFFFFF"/>
                    </a:solidFill>
                  </a:tcPr>
                </a:tc>
                <a:tc>
                  <a:txBody>
                    <a:bodyPr/>
                    <a:lstStyle/>
                    <a:p>
                      <a:pPr>
                        <a:defRPr sz="950">
                          <a:solidFill>
                            <a:srgbClr val="1E293B"/>
                          </a:solidFill>
                        </a:defRPr>
                      </a:pPr>
                      <a:r>
                        <a:t>Danh sách sinh viên đăng ký để điểm danh</a:t>
                      </a:r>
                    </a:p>
                  </a:txBody>
                  <a:tcPr>
                    <a:solidFill>
                      <a:srgbClr val="FFFFFF"/>
                    </a:solidFill>
                  </a:tcPr>
                </a:tc>
              </a:tr>
              <a:tr h="329184">
                <a:tc>
                  <a:txBody>
                    <a:bodyPr/>
                    <a:lstStyle/>
                    <a:p>
                      <a:pPr>
                        <a:defRPr sz="950">
                          <a:solidFill>
                            <a:srgbClr val="1E293B"/>
                          </a:solidFill>
                        </a:defRPr>
                      </a:pPr>
                      <a:r>
                        <a:t>btnCheckIn</a:t>
                      </a:r>
                    </a:p>
                  </a:txBody>
                  <a:tcPr>
                    <a:solidFill>
                      <a:srgbClr val="FFFFFF"/>
                    </a:solidFill>
                  </a:tcPr>
                </a:tc>
                <a:tc>
                  <a:txBody>
                    <a:bodyPr/>
                    <a:lstStyle/>
                    <a:p>
                      <a:pPr>
                        <a:defRPr sz="950">
                          <a:solidFill>
                            <a:srgbClr val="1E293B"/>
                          </a:solidFill>
                        </a:defRPr>
                      </a:pPr>
                      <a:r>
                        <a:t>Button</a:t>
                      </a:r>
                    </a:p>
                  </a:txBody>
                  <a:tcPr>
                    <a:solidFill>
                      <a:srgbClr val="FFFFFF"/>
                    </a:solidFill>
                  </a:tcPr>
                </a:tc>
                <a:tc>
                  <a:txBody>
                    <a:bodyPr/>
                    <a:lstStyle/>
                    <a:p>
                      <a:pPr>
                        <a:defRPr sz="950">
                          <a:solidFill>
                            <a:srgbClr val="1E293B"/>
                          </a:solidFill>
                        </a:defRPr>
                      </a:pPr>
                      <a:r>
                        <a:t>Xác nhận điểm danh sinh viên tham gia</a:t>
                      </a:r>
                    </a:p>
                  </a:txBody>
                  <a:tcPr>
                    <a:solidFill>
                      <a:srgbClr val="FFFFFF"/>
                    </a:solidFill>
                  </a:tcPr>
                </a:tc>
              </a:tr>
              <a:tr h="329184">
                <a:tc>
                  <a:txBody>
                    <a:bodyPr/>
                    <a:lstStyle/>
                    <a:p>
                      <a:pPr>
                        <a:defRPr sz="950">
                          <a:solidFill>
                            <a:srgbClr val="1E293B"/>
                          </a:solidFill>
                        </a:defRPr>
                      </a:pPr>
                      <a:r>
                        <a:t>btnRefresh</a:t>
                      </a:r>
                    </a:p>
                  </a:txBody>
                  <a:tcPr>
                    <a:solidFill>
                      <a:srgbClr val="FFFFFF"/>
                    </a:solidFill>
                  </a:tcPr>
                </a:tc>
                <a:tc>
                  <a:txBody>
                    <a:bodyPr/>
                    <a:lstStyle/>
                    <a:p>
                      <a:pPr>
                        <a:defRPr sz="950">
                          <a:solidFill>
                            <a:srgbClr val="1E293B"/>
                          </a:solidFill>
                        </a:defRPr>
                      </a:pPr>
                      <a:r>
                        <a:t>Button</a:t>
                      </a:r>
                    </a:p>
                  </a:txBody>
                  <a:tcPr>
                    <a:solidFill>
                      <a:srgbClr val="FFFFFF"/>
                    </a:solidFill>
                  </a:tcPr>
                </a:tc>
                <a:tc>
                  <a:txBody>
                    <a:bodyPr/>
                    <a:lstStyle/>
                    <a:p>
                      <a:pPr>
                        <a:defRPr sz="950">
                          <a:solidFill>
                            <a:srgbClr val="1E293B"/>
                          </a:solidFill>
                        </a:defRPr>
                      </a:pPr>
                      <a:r>
                        <a:t>Tải lại dữ liệu mới nhất từ Web API</a:t>
                      </a:r>
                    </a:p>
                  </a:txBody>
                  <a:tcPr>
                    <a:solidFill>
                      <a:srgbClr val="FFFFFF"/>
                    </a:solidFill>
                  </a:tcPr>
                </a:tc>
              </a:tr>
            </a:tbl>
          </a:graphicData>
        </a:graphic>
      </p:graphicFrame>
      <p:sp>
        <p:nvSpPr>
          <p:cNvPr id="12" name="Rectangle 11"/>
          <p:cNvSpPr/>
          <p:nvPr/>
        </p:nvSpPr>
        <p:spPr>
          <a:xfrm>
            <a:off x="6309360" y="3200400"/>
            <a:ext cx="5120640" cy="2926080"/>
          </a:xfrm>
          <a:prstGeom prst="rect">
            <a:avLst/>
          </a:prstGeom>
          <a:solidFill>
            <a:srgbClr val="0F172A"/>
          </a:solidFill>
          <a:ln>
            <a:solidFill>
              <a:srgbClr val="22A6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246120"/>
            <a:ext cx="4937760" cy="2834640"/>
          </a:xfrm>
          <a:prstGeom prst="rect">
            <a:avLst/>
          </a:prstGeom>
          <a:noFill/>
        </p:spPr>
        <p:txBody>
          <a:bodyPr wrap="square">
            <a:spAutoFit/>
          </a:bodyPr>
          <a:lstStyle/>
          <a:p>
            <a:pPr>
              <a:defRPr sz="950" b="1">
                <a:solidFill>
                  <a:srgbClr val="22A6A1"/>
                </a:solidFill>
              </a:defRPr>
            </a:pPr>
            <a:r>
              <a:t>// MainForm.cs – Tải danh sách đăng ký bằng async/await (Mã nguồn thật):</a:t>
            </a:r>
          </a:p>
          <a:p>
            <a:pPr>
              <a:defRPr sz="900">
                <a:solidFill>
                  <a:srgbClr val="E2E8F0"/>
                </a:solidFill>
                <a:latin typeface="Consolas"/>
              </a:defRPr>
            </a:pPr>
            <a:r>
              <a:t>private async Task LoadEventRegistrationsAsync(Guid eventId)</a:t>
            </a:r>
          </a:p>
          <a:p>
            <a:pPr>
              <a:defRPr sz="900">
                <a:solidFill>
                  <a:srgbClr val="E2E8F0"/>
                </a:solidFill>
                <a:latin typeface="Consolas"/>
              </a:defRPr>
            </a:pPr>
            <a:r>
              <a:t>{</a:t>
            </a:r>
          </a:p>
          <a:p>
            <a:pPr>
              <a:defRPr sz="900">
                <a:solidFill>
                  <a:srgbClr val="E2E8F0"/>
                </a:solidFill>
                <a:latin typeface="Consolas"/>
              </a:defRPr>
            </a:pPr>
            <a:r>
              <a:t>    var list = await ApiClient.GetEventRegistrationsAsync(eventId);</a:t>
            </a:r>
          </a:p>
          <a:p>
            <a:pPr>
              <a:defRPr sz="900">
                <a:solidFill>
                  <a:srgbClr val="E2E8F0"/>
                </a:solidFill>
                <a:latin typeface="Consolas"/>
              </a:defRPr>
            </a:pPr>
            <a:r>
              <a:t>    _dgvRegistrations.DataSource = null;</a:t>
            </a:r>
          </a:p>
          <a:p>
            <a:pPr>
              <a:defRPr sz="900">
                <a:solidFill>
                  <a:srgbClr val="E2E8F0"/>
                </a:solidFill>
                <a:latin typeface="Consolas"/>
              </a:defRPr>
            </a:pPr>
            <a:r>
              <a:t>    _dgvRegistrations.DataSource = list.Select(r =&gt; new {</a:t>
            </a:r>
          </a:p>
          <a:p>
            <a:pPr>
              <a:defRPr sz="900">
                <a:solidFill>
                  <a:srgbClr val="E2E8F0"/>
                </a:solidFill>
                <a:latin typeface="Consolas"/>
              </a:defRPr>
            </a:pPr>
            <a:r>
              <a:t>        MSSV = r.StudentId ?? 'N/A',</a:t>
            </a:r>
          </a:p>
          <a:p>
            <a:pPr>
              <a:defRPr sz="900">
                <a:solidFill>
                  <a:srgbClr val="E2E8F0"/>
                </a:solidFill>
                <a:latin typeface="Consolas"/>
              </a:defRPr>
            </a:pPr>
            <a:r>
              <a:t>        SinhVien = r.FullName, Email = r.Email,</a:t>
            </a:r>
          </a:p>
          <a:p>
            <a:pPr>
              <a:defRPr sz="900">
                <a:solidFill>
                  <a:srgbClr val="E2E8F0"/>
                </a:solidFill>
                <a:latin typeface="Consolas"/>
              </a:defRPr>
            </a:pPr>
            <a:r>
              <a:t>        TrangThai = r.IsAttended ? 'Đã điểm danh' : 'Chưa điểm danh'</a:t>
            </a:r>
          </a:p>
          <a:p>
            <a:pPr>
              <a:defRPr sz="900">
                <a:solidFill>
                  <a:srgbClr val="E2E8F0"/>
                </a:solidFill>
                <a:latin typeface="Consolas"/>
              </a:defRPr>
            </a:pPr>
            <a:r>
              <a:t>    }).ToList();</a:t>
            </a:r>
          </a:p>
          <a:p>
            <a:pPr>
              <a:defRPr sz="900">
                <a:solidFill>
                  <a:srgbClr val="E2E8F0"/>
                </a:solidFill>
                <a:latin typeface="Consolas"/>
              </a:defRPr>
            </a:pP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12. DEMO NGHIỆP VỤ DESKTOP</a:t>
            </a:r>
          </a:p>
          <a:p>
            <a:pPr>
              <a:defRPr sz="1900" b="1">
                <a:solidFill>
                  <a:srgbClr val="0F172A"/>
                </a:solidFill>
                <a:latin typeface="Segoe UI"/>
              </a:defRPr>
            </a:pPr>
            <a:r>
              <a:t>DEMO TRỰC TIẾP: WINFORMS ĐIỂM DANH SỰ KIỆN</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Võ Ngọc Minh Đạt | Slide 13/16</a:t>
            </a:r>
          </a:p>
        </p:txBody>
      </p:sp>
      <p:pic>
        <p:nvPicPr>
          <p:cNvPr id="10" name="Picture 9" descr="09_winforms_events.png"/>
          <p:cNvPicPr>
            <a:picLocks noChangeAspect="1"/>
          </p:cNvPicPr>
          <p:nvPr/>
        </p:nvPicPr>
        <p:blipFill>
          <a:blip r:embed="rId4"/>
          <a:stretch>
            <a:fillRect/>
          </a:stretch>
        </p:blipFill>
        <p:spPr>
          <a:xfrm>
            <a:off x="731520" y="1371600"/>
            <a:ext cx="6217920" cy="3886200"/>
          </a:xfrm>
          <a:prstGeom prst="rect">
            <a:avLst/>
          </a:prstGeom>
        </p:spPr>
      </p:pic>
      <p:sp>
        <p:nvSpPr>
          <p:cNvPr id="11" name="Rounded Rectangle 10"/>
          <p:cNvSpPr/>
          <p:nvPr/>
        </p:nvSpPr>
        <p:spPr>
          <a:xfrm>
            <a:off x="7223760" y="1371600"/>
            <a:ext cx="420624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1554480"/>
            <a:ext cx="3840480" cy="4389120"/>
          </a:xfrm>
          <a:prstGeom prst="rect">
            <a:avLst/>
          </a:prstGeom>
          <a:noFill/>
        </p:spPr>
        <p:txBody>
          <a:bodyPr wrap="square">
            <a:spAutoFit/>
          </a:bodyPr>
          <a:lstStyle/>
          <a:p>
            <a:pPr>
              <a:defRPr sz="1200" b="1">
                <a:solidFill>
                  <a:srgbClr val="0F172A"/>
                </a:solidFill>
              </a:defRPr>
            </a:pPr>
            <a:r>
              <a:t>KỊCH BẢN ĐIỂM DANH ĐỒNG BỘ 3 NỀN TẢNG:</a:t>
            </a:r>
          </a:p>
          <a:p>
            <a:pPr>
              <a:defRPr sz="1050" b="1">
                <a:solidFill>
                  <a:srgbClr val="22A6A1"/>
                </a:solidFill>
              </a:defRPr>
            </a:pPr>
            <a:r>
              <a:t>1. BCN Đăng nhập hệ thống</a:t>
            </a:r>
          </a:p>
          <a:p>
            <a:pPr>
              <a:defRPr sz="950">
                <a:solidFill>
                  <a:srgbClr val="1E293B"/>
                </a:solidFill>
              </a:defRPr>
            </a:pPr>
            <a:r>
              <a:t>Đăng nhập tài khoản BCN vongocminhdat@visionary.dntu.edu.vn.</a:t>
            </a:r>
          </a:p>
          <a:p>
            <a:pPr>
              <a:defRPr sz="1050" b="1">
                <a:solidFill>
                  <a:srgbClr val="22A6A1"/>
                </a:solidFill>
              </a:defRPr>
            </a:pPr>
            <a:r>
              <a:t>2. Chọn Sự kiện cần kiểm tra</a:t>
            </a:r>
          </a:p>
          <a:p>
            <a:pPr>
              <a:defRPr sz="950">
                <a:solidFill>
                  <a:srgbClr val="1E293B"/>
                </a:solidFill>
              </a:defRPr>
            </a:pPr>
            <a:r>
              <a:t>Bấm chọn workshop 'Master Git, GitHub &amp; CI/CD Actions' trên grid _dgvEvents.</a:t>
            </a:r>
          </a:p>
          <a:p>
            <a:pPr>
              <a:defRPr sz="1050" b="1">
                <a:solidFill>
                  <a:srgbClr val="22A6A1"/>
                </a:solidFill>
              </a:defRPr>
            </a:pPr>
            <a:r>
              <a:t>3. Tải danh sách Sinh viên đăng ký</a:t>
            </a:r>
          </a:p>
          <a:p>
            <a:pPr>
              <a:defRPr sz="950">
                <a:solidFill>
                  <a:srgbClr val="1E293B"/>
                </a:solidFill>
              </a:defRPr>
            </a:pPr>
            <a:r>
              <a:t>Grid _dgvRegistrations hiển thị ngay sinh viên vừa đăng ký từ ứng dụng Android ở Slide 7.</a:t>
            </a:r>
          </a:p>
          <a:p>
            <a:pPr>
              <a:defRPr sz="1050" b="1">
                <a:solidFill>
                  <a:srgbClr val="22A6A1"/>
                </a:solidFill>
              </a:defRPr>
            </a:pPr>
            <a:r>
              <a:t>4. Thực hiện Điểm danh (Check-in)</a:t>
            </a:r>
          </a:p>
          <a:p>
            <a:pPr>
              <a:defRPr sz="950">
                <a:solidFill>
                  <a:srgbClr val="1E293B"/>
                </a:solidFill>
              </a:defRPr>
            </a:pPr>
            <a:r>
              <a:t>Chọn sinh viên và bấm 'Xác nhận Điểm danh'. Ứng dụng gửi POST /api/events/{id}/attendance.</a:t>
            </a:r>
          </a:p>
          <a:p>
            <a:pPr>
              <a:defRPr sz="1050" b="1">
                <a:solidFill>
                  <a:srgbClr val="22A6A1"/>
                </a:solidFill>
              </a:defRPr>
            </a:pPr>
            <a:r>
              <a:t>5. Đồng bộ tức thời lên Web</a:t>
            </a:r>
          </a:p>
          <a:p>
            <a:pPr>
              <a:defRPr sz="950">
                <a:solidFill>
                  <a:srgbClr val="1E293B"/>
                </a:solidFill>
              </a:defRPr>
            </a:pPr>
            <a:r>
              <a:t>Trạng thái đổi thành 'Đã điểm danh'. Khi mở Web hoặc Android xem lại, trạng thái đã được cập nhật đồng bộ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13. SO SÁNH ĐA NỀN TẢNG</a:t>
            </a:r>
          </a:p>
          <a:p>
            <a:pPr>
              <a:defRPr sz="1900" b="1">
                <a:solidFill>
                  <a:srgbClr val="0F172A"/>
                </a:solidFill>
                <a:latin typeface="Segoe UI"/>
              </a:defRPr>
            </a:pPr>
            <a:r>
              <a:t>BA CHỖ BUỘC PHẢI KHÁC NHAU GIỮA BA NỀN TẢNG</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Võ Ngọc Minh Đạt | Slide 14/16</a:t>
            </a:r>
          </a:p>
        </p:txBody>
      </p:sp>
      <p:graphicFrame>
        <p:nvGraphicFramePr>
          <p:cNvPr id="10" name="Table 9"/>
          <p:cNvGraphicFramePr>
            <a:graphicFrameLocks noGrp="1"/>
          </p:cNvGraphicFramePr>
          <p:nvPr/>
        </p:nvGraphicFramePr>
        <p:xfrm>
          <a:off x="731520" y="1371600"/>
          <a:ext cx="10728655" cy="3291840"/>
        </p:xfrm>
        <a:graphic>
          <a:graphicData uri="http://schemas.openxmlformats.org/drawingml/2006/table">
            <a:tbl>
              <a:tblPr firstRow="1" bandRow="1">
                <a:tableStyleId>{5C22544A-7EE6-4342-B048-85BDC9FD1C3A}</a:tableStyleId>
              </a:tblPr>
              <a:tblGrid>
                <a:gridCol w="2499055"/>
                <a:gridCol w="2743200"/>
                <a:gridCol w="2743200"/>
                <a:gridCol w="2743200"/>
              </a:tblGrid>
              <a:tr h="658368">
                <a:tc>
                  <a:txBody>
                    <a:bodyPr/>
                    <a:lstStyle/>
                    <a:p>
                      <a:pPr>
                        <a:defRPr sz="1100" b="1">
                          <a:solidFill>
                            <a:srgbClr val="FFFFFF"/>
                          </a:solidFill>
                        </a:defRPr>
                      </a:pPr>
                      <a:r>
                        <a:t>Tiêu chí Kỹ thuật</a:t>
                      </a:r>
                    </a:p>
                  </a:txBody>
                  <a:tcPr>
                    <a:solidFill>
                      <a:srgbClr val="0F172A"/>
                    </a:solidFill>
                  </a:tcPr>
                </a:tc>
                <a:tc>
                  <a:txBody>
                    <a:bodyPr/>
                    <a:lstStyle/>
                    <a:p>
                      <a:pPr>
                        <a:defRPr sz="1100" b="1">
                          <a:solidFill>
                            <a:srgbClr val="FFFFFF"/>
                          </a:solidFill>
                        </a:defRPr>
                      </a:pPr>
                      <a:r>
                        <a:t>Web (Next.js / TS)</a:t>
                      </a:r>
                    </a:p>
                  </a:txBody>
                  <a:tcPr>
                    <a:solidFill>
                      <a:srgbClr val="0F172A"/>
                    </a:solidFill>
                  </a:tcPr>
                </a:tc>
                <a:tc>
                  <a:txBody>
                    <a:bodyPr/>
                    <a:lstStyle/>
                    <a:p>
                      <a:pPr>
                        <a:defRPr sz="1100" b="1">
                          <a:solidFill>
                            <a:srgbClr val="FFFFFF"/>
                          </a:solidFill>
                        </a:defRPr>
                      </a:pPr>
                      <a:r>
                        <a:t>Windows Forms (C#)</a:t>
                      </a:r>
                    </a:p>
                  </a:txBody>
                  <a:tcPr>
                    <a:solidFill>
                      <a:srgbClr val="0F172A"/>
                    </a:solidFill>
                  </a:tcPr>
                </a:tc>
                <a:tc>
                  <a:txBody>
                    <a:bodyPr/>
                    <a:lstStyle/>
                    <a:p>
                      <a:pPr>
                        <a:defRPr sz="1100" b="1">
                          <a:solidFill>
                            <a:srgbClr val="FFFFFF"/>
                          </a:solidFill>
                        </a:defRPr>
                      </a:pPr>
                      <a:r>
                        <a:t>Android (Java Native)</a:t>
                      </a:r>
                    </a:p>
                  </a:txBody>
                  <a:tcPr>
                    <a:solidFill>
                      <a:srgbClr val="0F172A"/>
                    </a:solidFill>
                  </a:tcPr>
                </a:tc>
              </a:tr>
              <a:tr h="658368">
                <a:tc>
                  <a:txBody>
                    <a:bodyPr/>
                    <a:lstStyle/>
                    <a:p>
                      <a:pPr>
                        <a:defRPr sz="950">
                          <a:solidFill>
                            <a:srgbClr val="1E293B"/>
                          </a:solidFill>
                        </a:defRPr>
                      </a:pPr>
                      <a:r>
                        <a:t>1. Thư viện Mạng &amp; Mô hình Bất đồng bộ</a:t>
                      </a:r>
                    </a:p>
                  </a:txBody>
                  <a:tcPr>
                    <a:solidFill>
                      <a:srgbClr val="FFFFFF"/>
                    </a:solidFill>
                  </a:tcPr>
                </a:tc>
                <a:tc>
                  <a:txBody>
                    <a:bodyPr/>
                    <a:lstStyle/>
                    <a:p>
                      <a:pPr>
                        <a:defRPr sz="950">
                          <a:solidFill>
                            <a:srgbClr val="1E293B"/>
                          </a:solidFill>
                        </a:defRPr>
                      </a:pPr>
                      <a:r>
                        <a:t>fetch() + async/await</a:t>
                      </a:r>
                    </a:p>
                    <a:p>
                      <a:r>
                        <a:t>(Promise-based, Event Loop)</a:t>
                      </a:r>
                    </a:p>
                  </a:txBody>
                  <a:tcPr>
                    <a:solidFill>
                      <a:srgbClr val="FFFFFF"/>
                    </a:solidFill>
                  </a:tcPr>
                </a:tc>
                <a:tc>
                  <a:txBody>
                    <a:bodyPr/>
                    <a:lstStyle/>
                    <a:p>
                      <a:pPr>
                        <a:defRPr sz="950">
                          <a:solidFill>
                            <a:srgbClr val="1E293B"/>
                          </a:solidFill>
                        </a:defRPr>
                      </a:pPr>
                      <a:r>
                        <a:t>HttpClient + async/await</a:t>
                      </a:r>
                    </a:p>
                    <a:p>
                      <a:r>
                        <a:t>(Task&lt;T&gt;, State Machine)</a:t>
                      </a:r>
                    </a:p>
                  </a:txBody>
                  <a:tcPr>
                    <a:solidFill>
                      <a:srgbClr val="FFFFFF"/>
                    </a:solidFill>
                  </a:tcPr>
                </a:tc>
                <a:tc>
                  <a:txBody>
                    <a:bodyPr/>
                    <a:lstStyle/>
                    <a:p>
                      <a:pPr>
                        <a:defRPr sz="950">
                          <a:solidFill>
                            <a:srgbClr val="1E293B"/>
                          </a:solidFill>
                        </a:defRPr>
                      </a:pPr>
                      <a:r>
                        <a:t>Retrofit 2 + OkHttp 3</a:t>
                      </a:r>
                    </a:p>
                    <a:p>
                      <a:r>
                        <a:t>(enqueue() Callback trên Worker Thread)</a:t>
                      </a:r>
                    </a:p>
                  </a:txBody>
                  <a:tcPr>
                    <a:solidFill>
                      <a:srgbClr val="FFFFFF"/>
                    </a:solidFill>
                  </a:tcPr>
                </a:tc>
              </a:tr>
              <a:tr h="658368">
                <a:tc>
                  <a:txBody>
                    <a:bodyPr/>
                    <a:lstStyle/>
                    <a:p>
                      <a:pPr>
                        <a:defRPr sz="950">
                          <a:solidFill>
                            <a:srgbClr val="1E293B"/>
                          </a:solidFill>
                        </a:defRPr>
                      </a:pPr>
                      <a:r>
                        <a:t>2. Cơ chế Điều phối Luồng Giao diện</a:t>
                      </a:r>
                    </a:p>
                  </a:txBody>
                  <a:tcPr>
                    <a:solidFill>
                      <a:srgbClr val="FFFFFF"/>
                    </a:solidFill>
                  </a:tcPr>
                </a:tc>
                <a:tc>
                  <a:txBody>
                    <a:bodyPr/>
                    <a:lstStyle/>
                    <a:p>
                      <a:pPr>
                        <a:defRPr sz="950">
                          <a:solidFill>
                            <a:srgbClr val="1E293B"/>
                          </a:solidFill>
                        </a:defRPr>
                      </a:pPr>
                      <a:r>
                        <a:t>Trình duyệt tự xử lý</a:t>
                      </a:r>
                    </a:p>
                    <a:p>
                      <a:r>
                        <a:t>(Single-threaded Event Loop)</a:t>
                      </a:r>
                    </a:p>
                  </a:txBody>
                  <a:tcPr>
                    <a:solidFill>
                      <a:srgbClr val="FFFFFF"/>
                    </a:solidFill>
                  </a:tcPr>
                </a:tc>
                <a:tc>
                  <a:txBody>
                    <a:bodyPr/>
                    <a:lstStyle/>
                    <a:p>
                      <a:pPr>
                        <a:defRPr sz="950">
                          <a:solidFill>
                            <a:srgbClr val="1E293B"/>
                          </a:solidFill>
                        </a:defRPr>
                      </a:pPr>
                      <a:r>
                        <a:t>SynchronizationContext</a:t>
                      </a:r>
                    </a:p>
                    <a:p>
                      <a:r>
                        <a:t>(Tự quay về UI thread sau await)</a:t>
                      </a:r>
                    </a:p>
                  </a:txBody>
                  <a:tcPr>
                    <a:solidFill>
                      <a:srgbClr val="FFFFFF"/>
                    </a:solidFill>
                  </a:tcPr>
                </a:tc>
                <a:tc>
                  <a:txBody>
                    <a:bodyPr/>
                    <a:lstStyle/>
                    <a:p>
                      <a:pPr>
                        <a:defRPr sz="950">
                          <a:solidFill>
                            <a:srgbClr val="1E293B"/>
                          </a:solidFill>
                        </a:defRPr>
                      </a:pPr>
                      <a:r>
                        <a:t>Handler(Looper.getMainLooper())</a:t>
                      </a:r>
                    </a:p>
                    <a:p>
                      <a:r>
                        <a:t>(Bắt buộc chuyển luồng thủ công)</a:t>
                      </a:r>
                    </a:p>
                  </a:txBody>
                  <a:tcPr>
                    <a:solidFill>
                      <a:srgbClr val="FFFFFF"/>
                    </a:solidFill>
                  </a:tcPr>
                </a:tc>
              </a:tr>
              <a:tr h="658368">
                <a:tc>
                  <a:txBody>
                    <a:bodyPr/>
                    <a:lstStyle/>
                    <a:p>
                      <a:pPr>
                        <a:defRPr sz="950">
                          <a:solidFill>
                            <a:srgbClr val="1E293B"/>
                          </a:solidFill>
                        </a:defRPr>
                      </a:pPr>
                      <a:r>
                        <a:t>3. Lưu trữ Token &amp; Kết nối</a:t>
                      </a:r>
                    </a:p>
                  </a:txBody>
                  <a:tcPr>
                    <a:solidFill>
                      <a:srgbClr val="FFFFFF"/>
                    </a:solidFill>
                  </a:tcPr>
                </a:tc>
                <a:tc>
                  <a:txBody>
                    <a:bodyPr/>
                    <a:lstStyle/>
                    <a:p>
                      <a:pPr>
                        <a:defRPr sz="950">
                          <a:solidFill>
                            <a:srgbClr val="1E293B"/>
                          </a:solidFill>
                        </a:defRPr>
                      </a:pPr>
                      <a:r>
                        <a:t>localStorage / Cookie</a:t>
                      </a:r>
                    </a:p>
                    <a:p>
                      <a:r>
                        <a:t>(Chặn CORS, dùng relative /api)</a:t>
                      </a:r>
                    </a:p>
                  </a:txBody>
                  <a:tcPr>
                    <a:solidFill>
                      <a:srgbClr val="FFFFFF"/>
                    </a:solidFill>
                  </a:tcPr>
                </a:tc>
                <a:tc>
                  <a:txBody>
                    <a:bodyPr/>
                    <a:lstStyle/>
                    <a:p>
                      <a:pPr>
                        <a:defRPr sz="950">
                          <a:solidFill>
                            <a:srgbClr val="1E293B"/>
                          </a:solidFill>
                        </a:defRPr>
                      </a:pPr>
                      <a:r>
                        <a:t>AppState tĩnh trong RAM</a:t>
                      </a:r>
                    </a:p>
                    <a:p>
                      <a:r>
                        <a:t>(Không bị ảnh hưởng bởi CORS)</a:t>
                      </a:r>
                    </a:p>
                  </a:txBody>
                  <a:tcPr>
                    <a:solidFill>
                      <a:srgbClr val="FFFFFF"/>
                    </a:solidFill>
                  </a:tcPr>
                </a:tc>
                <a:tc>
                  <a:txBody>
                    <a:bodyPr/>
                    <a:lstStyle/>
                    <a:p>
                      <a:pPr>
                        <a:defRPr sz="950">
                          <a:solidFill>
                            <a:srgbClr val="1E293B"/>
                          </a:solidFill>
                        </a:defRPr>
                      </a:pPr>
                      <a:r>
                        <a:t>SharedPreferences mã hóa</a:t>
                      </a:r>
                    </a:p>
                    <a:p>
                      <a:r>
                        <a:t>(Dùng 10.0.2.2 máy ảo / Cloud HTTPS)</a:t>
                      </a:r>
                    </a:p>
                  </a:txBody>
                  <a:tcPr>
                    <a:solidFill>
                      <a:srgbClr val="FFFFFF"/>
                    </a:solidFill>
                  </a:tcPr>
                </a:tc>
              </a:tr>
              <a:tr h="658368">
                <a:tc>
                  <a:txBody>
                    <a:bodyPr/>
                    <a:lstStyle/>
                    <a:p>
                      <a:pPr>
                        <a:defRPr sz="1000" b="1">
                          <a:solidFill>
                            <a:srgbClr val="22A6A1"/>
                          </a:solidFill>
                        </a:defRPr>
                      </a:pPr>
                      <a:r>
                        <a:t>ĐIỀU BUỘC PHẢI GIỐNG HỆT NHAU</a:t>
                      </a:r>
                    </a:p>
                  </a:txBody>
                  <a:tcPr>
                    <a:solidFill>
                      <a:srgbClr val="0F172A"/>
                    </a:solidFill>
                  </a:tcPr>
                </a:tc>
                <a:tc>
                  <a:txBody>
                    <a:bodyPr/>
                    <a:lstStyle/>
                    <a:p>
                      <a:pPr>
                        <a:defRPr sz="1000" b="1">
                          <a:solidFill>
                            <a:srgbClr val="1E293B"/>
                          </a:solidFill>
                        </a:defRPr>
                      </a:pPr>
                      <a:r>
                        <a:t>Cùng gọi chung một hợp đồng Web API: Đường dẫn endpoint, Phương thức HTTP (GET, POST, PUT, DELETE), Khuôn JSON DTO và Mã trạng thái HTTP (200, 201, 204, 400, 401, 403, 404, 500).</a:t>
                      </a:r>
                    </a:p>
                  </a:txBody>
                  <a:tcPr>
                    <a:solidFill>
                      <a:srgbClr val="FFFFFF"/>
                    </a:solidFill>
                  </a:tcPr>
                </a:tc>
                <a:tc>
                  <a:txBody>
                    <a:bodyPr/>
                    <a:lstStyle/>
                    <a:p/>
                  </a:txBody>
                  <a:tcPr>
                    <a:solidFill>
                      <a:srgbClr val="FFFFFF"/>
                    </a:solidFill>
                  </a:tcPr>
                </a:tc>
                <a:tc>
                  <a:txBody>
                    <a:bodyPr/>
                    <a:lstStyle/>
                    <a:p/>
                  </a:txBody>
                  <a:tcPr>
                    <a:solidFill>
                      <a:srgbClr val="FFFFFF"/>
                    </a:solidFill>
                  </a:tcPr>
                </a:tc>
              </a:tr>
            </a:tbl>
          </a:graphicData>
        </a:graphic>
      </p:graphicFrame>
      <p:sp>
        <p:nvSpPr>
          <p:cNvPr id="11" name="Rectangle 10"/>
          <p:cNvSpPr/>
          <p:nvPr/>
        </p:nvSpPr>
        <p:spPr>
          <a:xfrm>
            <a:off x="731520" y="4892040"/>
            <a:ext cx="10728655" cy="13716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60"/>
            <a:ext cx="10332720" cy="1280160"/>
          </a:xfrm>
          <a:prstGeom prst="rect">
            <a:avLst/>
          </a:prstGeom>
          <a:noFill/>
        </p:spPr>
        <p:txBody>
          <a:bodyPr wrap="none">
            <a:spAutoFit/>
          </a:bodyPr>
          <a:lstStyle/>
          <a:p>
            <a:pPr>
              <a:defRPr sz="1050" b="1">
                <a:solidFill>
                  <a:srgbClr val="0F172A"/>
                </a:solidFill>
              </a:defRPr>
            </a:pPr>
            <a:r>
              <a:t>KẾT LUẬN QUAN TRỌNG VỀ TÁCH TẦNG WEB API:</a:t>
            </a:r>
          </a:p>
          <a:p>
            <a:pPr>
              <a:defRPr sz="950">
                <a:solidFill>
                  <a:srgbClr val="64748B"/>
                </a:solidFill>
              </a:defRPr>
            </a:pPr>
            <a:r>
              <a:t>Sự khác biệt về cú pháp, tên hàm và thư viện mạng là do đặc thù ngôn ngữ và hệ điều hành bắt buộc. Web API hoàn toàn độc lập và không quan tâm bên kia là trình duyệt, máy tính hay điện thoại. Chỉ cần client tuân thủ đúng hợp đồng API, hệ thống sẽ hoạt động đồng nhất.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14. XỬ LÝ SỰ CỐ KỸ THUẬT</a:t>
            </a:r>
          </a:p>
          <a:p>
            <a:pPr>
              <a:defRPr sz="1900" b="1">
                <a:solidFill>
                  <a:srgbClr val="0F172A"/>
                </a:solidFill>
                <a:latin typeface="Segoe UI"/>
              </a:defRPr>
            </a:pPr>
            <a:r>
              <a:t>SỰ CỐ THẬT VÀ QUY TRÌNH CHẨN ĐOÁN – SỬA LỖI</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Võ Ngọc Minh Đạt | Slide 15/16</a:t>
            </a:r>
          </a:p>
        </p:txBody>
      </p:sp>
      <p:pic>
        <p:nvPicPr>
          <p:cNvPr id="10" name="Picture 9" descr="15_real_error_log.png"/>
          <p:cNvPicPr>
            <a:picLocks noChangeAspect="1"/>
          </p:cNvPicPr>
          <p:nvPr/>
        </p:nvPicPr>
        <p:blipFill>
          <a:blip r:embed="rId4"/>
          <a:stretch>
            <a:fillRect/>
          </a:stretch>
        </p:blipFill>
        <p:spPr>
          <a:xfrm>
            <a:off x="731520" y="1371600"/>
            <a:ext cx="5120640" cy="3200400"/>
          </a:xfrm>
          <a:prstGeom prst="rect">
            <a:avLst/>
          </a:prstGeom>
        </p:spPr>
      </p:pic>
      <p:pic>
        <p:nvPicPr>
          <p:cNvPr id="11" name="Picture 10" descr="16_error_fixed_test.png"/>
          <p:cNvPicPr>
            <a:picLocks noChangeAspect="1"/>
          </p:cNvPicPr>
          <p:nvPr/>
        </p:nvPicPr>
        <p:blipFill>
          <a:blip r:embed="rId5"/>
          <a:stretch>
            <a:fillRect/>
          </a:stretch>
        </p:blipFill>
        <p:spPr>
          <a:xfrm>
            <a:off x="6217920" y="1371600"/>
            <a:ext cx="5212080" cy="3257550"/>
          </a:xfrm>
          <a:prstGeom prst="rect">
            <a:avLst/>
          </a:prstGeom>
        </p:spPr>
      </p:pic>
      <p:sp>
        <p:nvSpPr>
          <p:cNvPr id="12" name="Rectangle 11"/>
          <p:cNvSpPr/>
          <p:nvPr/>
        </p:nvSpPr>
        <p:spPr>
          <a:xfrm>
            <a:off x="731520" y="4663440"/>
            <a:ext cx="10728655" cy="16002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60"/>
            <a:ext cx="10332720" cy="1508760"/>
          </a:xfrm>
          <a:prstGeom prst="rect">
            <a:avLst/>
          </a:prstGeom>
          <a:noFill/>
        </p:spPr>
        <p:txBody>
          <a:bodyPr wrap="none">
            <a:spAutoFit/>
          </a:bodyPr>
          <a:lstStyle/>
          <a:p>
            <a:pPr>
              <a:defRPr sz="1100" b="1">
                <a:solidFill>
                  <a:srgbClr val="0F172A"/>
                </a:solidFill>
              </a:defRPr>
            </a:pPr>
            <a:r>
              <a:t>QUY TRÌNH 4 BƯỚC KHẮC PHỤC SỰ CỐ THEO ĐÚNG CHUẨN KỸ THUẬT:</a:t>
            </a:r>
          </a:p>
          <a:p>
            <a:pPr>
              <a:defRPr sz="950">
                <a:solidFill>
                  <a:srgbClr val="1E293B"/>
                </a:solidFill>
              </a:defRPr>
            </a:pPr>
            <a:r>
              <a:t>1. Đọc thông điệp lỗi nguyên văn: error NETSDK1100: To build a project targeting Windows on this operating system, set the EnableWindowsTargeting property to true.</a:t>
            </a:r>
          </a:p>
          <a:p>
            <a:pPr>
              <a:defRPr sz="950">
                <a:solidFill>
                  <a:srgbClr val="1E293B"/>
                </a:solidFill>
              </a:defRPr>
            </a:pPr>
            <a:r>
              <a:t>2. Xác định nguyên nhân gốc rễ: File solution gốc backend/Visionary.sln bao gồm cả dự án WinForms (.NET 8 Windows Desktop), khi chạy trên GitHub Actions runner Ubuntu Linux thì bị từ chối biên dịch.</a:t>
            </a:r>
          </a:p>
          <a:p>
            <a:pPr>
              <a:defRPr sz="950">
                <a:solidFill>
                  <a:srgbClr val="1E293B"/>
                </a:solidFill>
              </a:defRPr>
            </a:pPr>
            <a:r>
              <a:t>3. Thực hiện sửa đổi kiến trúc: Tách thành backend/Visionary.Backend.sln độc lập chỉ chứa Core, Infrastructure, Api và Tests. Cấu hình pipeline riêng desktop.yml trên máy ảo windows-latest.</a:t>
            </a:r>
          </a:p>
          <a:p>
            <a:pPr>
              <a:defRPr sz="950">
                <a:solidFill>
                  <a:srgbClr val="1E293B"/>
                </a:solidFill>
              </a:defRPr>
            </a:pPr>
            <a:r>
              <a:t>4. Kiểm chứng hồi quy: Chạy lại toàn bộ 15 bài kiểm thử xUnit và CI pipeline -&gt; Kết quả Build Succeeded 0 Warning, 0 Error, Passed 15/15 Tests (Ảnh bên phải).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22A6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8686800" cy="868680"/>
          </a:xfrm>
          <a:prstGeom prst="rect">
            <a:avLst/>
          </a:prstGeom>
          <a:noFill/>
        </p:spPr>
        <p:txBody>
          <a:bodyPr wrap="square" tIns="0" lIns="0" rIns="0" bIns="0">
            <a:spAutoFit/>
          </a:bodyPr>
          <a:lstStyle/>
          <a:p>
            <a:pPr>
              <a:defRPr sz="1000" b="1">
                <a:solidFill>
                  <a:srgbClr val="22A6A1"/>
                </a:solidFill>
                <a:latin typeface="Segoe UI"/>
              </a:defRPr>
            </a:pPr>
            <a:r>
              <a:t>15. ĐÁNH GIÁ &amp; HƯỚNG PHÁT TRIỂN</a:t>
            </a:r>
          </a:p>
          <a:p>
            <a:pPr>
              <a:defRPr sz="1900" b="1">
                <a:solidFill>
                  <a:srgbClr val="0F172A"/>
                </a:solidFill>
                <a:latin typeface="Segoe UI"/>
              </a:defRPr>
            </a:pPr>
            <a:r>
              <a:t>GIỚI HẠN THỰC TẾ, HƯỚNG PHÁT TRIỂN &amp; KẾT LUẬN</a:t>
            </a:r>
          </a:p>
        </p:txBody>
      </p:sp>
      <p:pic>
        <p:nvPicPr>
          <p:cNvPr id="6" name="Picture 5" descr="dntu_logo.png"/>
          <p:cNvPicPr>
            <a:picLocks noChangeAspect="1"/>
          </p:cNvPicPr>
          <p:nvPr/>
        </p:nvPicPr>
        <p:blipFill>
          <a:blip r:embed="rId2"/>
          <a:stretch>
            <a:fillRect/>
          </a:stretch>
        </p:blipFill>
        <p:spPr>
          <a:xfrm>
            <a:off x="10424160" y="137160"/>
            <a:ext cx="548774" cy="777240"/>
          </a:xfrm>
          <a:prstGeom prst="rect">
            <a:avLst/>
          </a:prstGeom>
        </p:spPr>
      </p:pic>
      <p:pic>
        <p:nvPicPr>
          <p:cNvPr id="7" name="Picture 6" descr="cntt_dntu_logo.png"/>
          <p:cNvPicPr>
            <a:picLocks noChangeAspect="1"/>
          </p:cNvPicPr>
          <p:nvPr/>
        </p:nvPicPr>
        <p:blipFill>
          <a:blip r:embed="rId3"/>
          <a:stretch>
            <a:fillRect/>
          </a:stretch>
        </p:blipFill>
        <p:spPr>
          <a:xfrm>
            <a:off x="11064240" y="137160"/>
            <a:ext cx="981373" cy="777240"/>
          </a:xfrm>
          <a:prstGeom prst="rect">
            <a:avLst/>
          </a:prstGeom>
        </p:spPr>
      </p:pic>
      <p:sp>
        <p:nvSpPr>
          <p:cNvPr id="8" name="Rectangle 7"/>
          <p:cNvSpPr/>
          <p:nvPr/>
        </p:nvSpPr>
        <p:spPr>
          <a:xfrm>
            <a:off x="0" y="6446520"/>
            <a:ext cx="12191695" cy="4114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92240"/>
            <a:ext cx="10728655" cy="320040"/>
          </a:xfrm>
          <a:prstGeom prst="rect">
            <a:avLst/>
          </a:prstGeom>
          <a:noFill/>
        </p:spPr>
        <p:txBody>
          <a:bodyPr wrap="none" tIns="0" lIns="0" rIns="0" bIns="0">
            <a:spAutoFit/>
          </a:bodyPr>
          <a:lstStyle/>
          <a:p>
            <a:pPr>
              <a:defRPr sz="1000">
                <a:solidFill>
                  <a:srgbClr val="64748B"/>
                </a:solidFill>
                <a:latin typeface="Segoe UI"/>
              </a:defRPr>
            </a:pPr>
            <a:r>
              <a:t>VISIONARY API – TH71108 Web API (DNTU) | Người trình bày: Võ Ngọc Minh Đạt | Slide 16/16</a:t>
            </a:r>
          </a:p>
        </p:txBody>
      </p:sp>
      <p:sp>
        <p:nvSpPr>
          <p:cNvPr id="10" name="Rounded Rectangle 9"/>
          <p:cNvSpPr/>
          <p:nvPr/>
        </p:nvSpPr>
        <p:spPr>
          <a:xfrm>
            <a:off x="731520" y="1371600"/>
            <a:ext cx="512064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54480"/>
            <a:ext cx="4754880" cy="3474720"/>
          </a:xfrm>
          <a:prstGeom prst="rect">
            <a:avLst/>
          </a:prstGeom>
          <a:noFill/>
        </p:spPr>
        <p:txBody>
          <a:bodyPr wrap="none">
            <a:spAutoFit/>
          </a:bodyPr>
          <a:lstStyle/>
          <a:p>
            <a:pPr>
              <a:defRPr sz="1300" b="1">
                <a:solidFill>
                  <a:srgbClr val="DC2626"/>
                </a:solidFill>
              </a:defRPr>
            </a:pPr>
            <a:r>
              <a:t>BA GIỚI HẠN THỰC TẾ CỦA HỆ THỐNG HIỆN TẠI</a:t>
            </a:r>
          </a:p>
          <a:p>
            <a:pPr>
              <a:defRPr sz="1050">
                <a:solidFill>
                  <a:srgbClr val="1E293B"/>
                </a:solidFill>
              </a:defRPr>
            </a:pPr>
            <a:r>
              <a:t>1. Chưa có thông báo đẩy thời gian thực (Push Notification):</a:t>
            </a:r>
          </a:p>
          <a:p>
            <a:pPr>
              <a:defRPr sz="1050">
                <a:solidFill>
                  <a:srgbClr val="1E293B"/>
                </a:solidFill>
              </a:defRPr>
            </a:pPr>
            <a:r>
              <a:t>   Khi BCN điểm danh hoặc có sự kiện mới, sinh viên chưa nhận được thông báo qua Firebase Cloud Messaging (FCM) hoặc SignalR.</a:t>
            </a:r>
          </a:p>
          <a:p>
            <a:pPr>
              <a:defRPr sz="1050">
                <a:solidFill>
                  <a:srgbClr val="1E293B"/>
                </a:solidFill>
              </a:defRPr>
            </a:pPr>
            <a:r>
              <a:t>2. Chưa hỗ trợ Offline Caching hoàn chỉnh trên Android:</a:t>
            </a:r>
          </a:p>
          <a:p>
            <a:pPr>
              <a:defRPr sz="1050">
                <a:solidFill>
                  <a:srgbClr val="1E293B"/>
                </a:solidFill>
              </a:defRPr>
            </a:pPr>
            <a:r>
              <a:t>   Khi mất kết nối Internet, ứng dụng Android chưa lưu đệm danh sách sự kiện vào SQLite cục bộ (Room Database).</a:t>
            </a:r>
          </a:p>
          <a:p>
            <a:pPr>
              <a:defRPr sz="1050">
                <a:solidFill>
                  <a:srgbClr val="1E293B"/>
                </a:solidFill>
              </a:defRPr>
            </a:pPr>
            <a:r>
              <a:t>3. Một chỗ mã nguồn chưa tối ưu:</a:t>
            </a:r>
          </a:p>
          <a:p>
            <a:pPr>
              <a:defRPr sz="1050">
                <a:solidFill>
                  <a:srgbClr val="1E293B"/>
                </a:solidFill>
              </a:defRPr>
            </a:pPr>
            <a:r>
              <a:t>   Cơ chế Refresh Token tự động khi JWT 4 giờ hết hạn chưa được triển khai hoàn chỉnh, người dùng vẫn phải đăng nhập lại.</a:t>
            </a:r>
          </a:p>
        </p:txBody>
      </p:sp>
      <p:sp>
        <p:nvSpPr>
          <p:cNvPr id="12" name="Rounded Rectangle 11"/>
          <p:cNvSpPr/>
          <p:nvPr/>
        </p:nvSpPr>
        <p:spPr>
          <a:xfrm>
            <a:off x="6217920" y="1371600"/>
            <a:ext cx="521208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54480"/>
            <a:ext cx="4846320" cy="3474720"/>
          </a:xfrm>
          <a:prstGeom prst="rect">
            <a:avLst/>
          </a:prstGeom>
          <a:noFill/>
        </p:spPr>
        <p:txBody>
          <a:bodyPr wrap="none">
            <a:spAutoFit/>
          </a:bodyPr>
          <a:lstStyle/>
          <a:p>
            <a:pPr>
              <a:defRPr sz="1300" b="1">
                <a:solidFill>
                  <a:srgbClr val="22A6A1"/>
                </a:solidFill>
              </a:defRPr>
            </a:pPr>
            <a:r>
              <a:t>KẾ HOẠCH NẾU CÓ THÊM 2 TUẦN NỮA</a:t>
            </a:r>
          </a:p>
          <a:p>
            <a:pPr>
              <a:defRPr sz="1050">
                <a:solidFill>
                  <a:srgbClr val="1E293B"/>
                </a:solidFill>
              </a:defRPr>
            </a:pPr>
            <a:r>
              <a:t>1. Tích hợp SignalR Hub vào ASP.NET Core:</a:t>
            </a:r>
          </a:p>
          <a:p>
            <a:pPr>
              <a:defRPr sz="1050">
                <a:solidFill>
                  <a:srgbClr val="1E293B"/>
                </a:solidFill>
              </a:defRPr>
            </a:pPr>
            <a:r>
              <a:t>   Cập nhật danh sách điểm danh thời gian thực giữa Windows Forms và Android mà không cần người dùng bấm làm mới.</a:t>
            </a:r>
          </a:p>
          <a:p>
            <a:pPr>
              <a:defRPr sz="1050">
                <a:solidFill>
                  <a:srgbClr val="1E293B"/>
                </a:solidFill>
              </a:defRPr>
            </a:pPr>
            <a:r>
              <a:t>2. Triển khai Room Database trên Android:</a:t>
            </a:r>
          </a:p>
          <a:p>
            <a:pPr>
              <a:defRPr sz="1050">
                <a:solidFill>
                  <a:srgbClr val="1E293B"/>
                </a:solidFill>
              </a:defRPr>
            </a:pPr>
            <a:r>
              <a:t>   Lưu trữ ngoại tuyến danh sách tài liệu English for IT và sự kiện đã tải để sinh viên xem lại khi không có mạng.</a:t>
            </a:r>
          </a:p>
          <a:p>
            <a:pPr>
              <a:defRPr sz="1050">
                <a:solidFill>
                  <a:srgbClr val="1E293B"/>
                </a:solidFill>
              </a:defRPr>
            </a:pPr>
            <a:r>
              <a:t>3. Hoàn thiện quy trình Refresh Token với HttpOnly Cookie:</a:t>
            </a:r>
          </a:p>
          <a:p>
            <a:pPr>
              <a:defRPr sz="1050">
                <a:solidFill>
                  <a:srgbClr val="1E293B"/>
                </a:solidFill>
              </a:defRPr>
            </a:pPr>
            <a:r>
              <a:t>   Tự động cấp lại token mới khi token cũ hết hạn, nâng cao trải nghiệm người dùng.</a:t>
            </a:r>
          </a:p>
        </p:txBody>
      </p:sp>
      <p:sp>
        <p:nvSpPr>
          <p:cNvPr id="14" name="Rectangle 13"/>
          <p:cNvSpPr/>
          <p:nvPr/>
        </p:nvSpPr>
        <p:spPr>
          <a:xfrm>
            <a:off x="731520" y="5349240"/>
            <a:ext cx="10728655" cy="96012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440680"/>
            <a:ext cx="10332720" cy="777240"/>
          </a:xfrm>
          <a:prstGeom prst="rect">
            <a:avLst/>
          </a:prstGeom>
          <a:noFill/>
        </p:spPr>
        <p:txBody>
          <a:bodyPr wrap="none">
            <a:spAutoFit/>
          </a:bodyPr>
          <a:lstStyle/>
          <a:p>
            <a:pPr algn="ctr">
              <a:defRPr sz="1300" b="1">
                <a:solidFill>
                  <a:srgbClr val="22A6A1"/>
                </a:solidFill>
                <a:latin typeface="Segoe UI"/>
              </a:defRPr>
            </a:pPr>
            <a:r>
              <a:t>CHÂN THÀNH CẢM ƠN THẦY VÀ CÁC BẠN ĐÃ LẮNG NGHE BÀI BÁO CÁO CỦA NHÓM VISIONARY API!</a:t>
            </a:r>
          </a:p>
          <a:p>
            <a:pPr algn="ctr">
              <a:defRPr sz="1000">
                <a:solidFill>
                  <a:srgbClr val="FFFFFF"/>
                </a:solidFill>
                <a:latin typeface="Segoe UI"/>
              </a:defRPr>
            </a:pPr>
            <a:r>
              <a:t>Nhóm chúng em rất mong nhận được những câu hỏi phản biện và đóng góp quý báu từ Thầy để hoàn thiện sản phẩm.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